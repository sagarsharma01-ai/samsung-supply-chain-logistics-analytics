
<file path=[Content_Types].xml><?xml version="1.0" encoding="utf-8"?>
<Types xmlns="http://schemas.openxmlformats.org/package/2006/content-types">
  <Default Extension="fntdata" ContentType="application/x-fontdata"/>
  <Default Extension="jpg" ContentType="image/jp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5" r:id="rId12"/>
  </p:sldIdLst>
  <p:sldSz cx="12192000" cy="6858000"/>
  <p:notesSz cx="6858000" cy="12192000"/>
  <p:embeddedFontLst>
    <p:embeddedFont>
      <p:font typeface="Hedvig Letters Sans" panose="020B0604020202020204" charset="0"/>
      <p:regular r:id="rId14"/>
    </p:embeddedFont>
    <p:embeddedFont>
      <p:font typeface="Liter" panose="020B0604020202020204" charset="0"/>
      <p:regular r:id="rId15"/>
    </p:embeddedFont>
    <p:embeddedFont>
      <p:font typeface="Quattrocento Sans" panose="020B0502050000020003" pitchFamily="34" charset="0"/>
      <p:regular r:id="rId16"/>
      <p:bold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582301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DB3977-9799-F4D9-C56E-44A8EB2799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61552B0-33F5-2B58-EC47-682C0D7141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657074C-A641-D3A0-E3DA-C75E5530D9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058F9E-BA89-2C77-D1DE-FFA7F4320B2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13141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youtube.com/SamsungMobileIndia" TargetMode="External"/><Relationship Id="rId13" Type="http://schemas.openxmlformats.org/officeDocument/2006/relationships/image" Target="../media/image6.png"/><Relationship Id="rId3" Type="http://schemas.openxmlformats.org/officeDocument/2006/relationships/image" Target="../media/image1.jpg"/><Relationship Id="rId7" Type="http://schemas.openxmlformats.org/officeDocument/2006/relationships/image" Target="../media/image3.png"/><Relationship Id="rId12" Type="http://schemas.openxmlformats.org/officeDocument/2006/relationships/hyperlink" Target="https://www.facebook.com/SamsungIndia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bit.ly/31QN4lI" TargetMode="External"/><Relationship Id="rId11" Type="http://schemas.openxmlformats.org/officeDocument/2006/relationships/image" Target="../media/image5.png"/><Relationship Id="rId5" Type="http://schemas.openxmlformats.org/officeDocument/2006/relationships/image" Target="../media/image2.png"/><Relationship Id="rId10" Type="http://schemas.openxmlformats.org/officeDocument/2006/relationships/hyperlink" Target="https://www.linkedin.com/company/samsung-india" TargetMode="External"/><Relationship Id="rId4" Type="http://schemas.openxmlformats.org/officeDocument/2006/relationships/hyperlink" Target="https://www.instagram.com/samsungindia/" TargetMode="External"/><Relationship Id="rId9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7.jpg"/><Relationship Id="rId7" Type="http://schemas.openxmlformats.org/officeDocument/2006/relationships/image" Target="../media/image11.png"/><Relationship Id="rId12" Type="http://schemas.openxmlformats.org/officeDocument/2006/relationships/hyperlink" Target="https://shopwice.com/product/samsung-galaxy-s24-ultra-mobile-phones-in-ghana-128gb-8gb-ram-256gb-8gb-ram-256gb-12gb-ram-512gb-8gb-ra/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sv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0" Type="http://schemas.openxmlformats.org/officeDocument/2006/relationships/image" Target="../media/image14.sv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tecnoneo.com/2020/11/el-diseno-del-samsung-galaxy-z-fold-3.html" TargetMode="External"/><Relationship Id="rId5" Type="http://schemas.microsoft.com/office/2007/relationships/hdphoto" Target="../media/hdphoto1.wdp"/><Relationship Id="rId4" Type="http://schemas.openxmlformats.org/officeDocument/2006/relationships/image" Target="../media/image1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linkedin.com/in/sagar-sharma-712ba4324/" TargetMode="External"/><Relationship Id="rId3" Type="http://schemas.openxmlformats.org/officeDocument/2006/relationships/image" Target="../media/image21.jp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github.com/SagarSharma01-ai/Samsung_Dashboard" TargetMode="External"/><Relationship Id="rId5" Type="http://schemas.openxmlformats.org/officeDocument/2006/relationships/hyperlink" Target="https://pc-tablet.com/samsung-galaxy-s26-series-design-and-colour-options-surface-ahead-of-february-25-launch/189031/" TargetMode="External"/><Relationship Id="rId4" Type="http://schemas.openxmlformats.org/officeDocument/2006/relationships/image" Target="../media/image22.png"/><Relationship Id="rId9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thumbs.dreamstime.com/f61e2cb9a0cb23ad776910f1a9276047fb516674.jpg"/>
          <p:cNvPicPr>
            <a:picLocks noChangeAspect="1"/>
          </p:cNvPicPr>
          <p:nvPr/>
        </p:nvPicPr>
        <p:blipFill>
          <a:blip r:embed="rId3">
            <a:alphaModFix amt="30000"/>
          </a:blip>
          <a:srcRect t="21875" b="21875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0D1117">
                  <a:alpha val="90000"/>
                </a:srgbClr>
              </a:gs>
              <a:gs pos="50000">
                <a:srgbClr val="0D1117">
                  <a:alpha val="7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81000" y="3810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14300" y="0"/>
                </a:moveTo>
                <a:lnTo>
                  <a:pt x="495300" y="0"/>
                </a:lnTo>
                <a:cubicBezTo>
                  <a:pt x="558384" y="0"/>
                  <a:pt x="609600" y="51216"/>
                  <a:pt x="609600" y="114300"/>
                </a:cubicBezTo>
                <a:lnTo>
                  <a:pt x="609600" y="495300"/>
                </a:lnTo>
                <a:cubicBezTo>
                  <a:pt x="609600" y="558384"/>
                  <a:pt x="558384" y="609600"/>
                  <a:pt x="495300" y="609600"/>
                </a:cubicBezTo>
                <a:lnTo>
                  <a:pt x="114300" y="609600"/>
                </a:lnTo>
                <a:cubicBezTo>
                  <a:pt x="51216" y="609600"/>
                  <a:pt x="0" y="558384"/>
                  <a:pt x="0" y="495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gradFill flip="none" rotWithShape="1">
            <a:gsLst>
              <a:gs pos="0">
                <a:srgbClr val="58A6FF"/>
              </a:gs>
              <a:gs pos="100000">
                <a:srgbClr val="00D9FF"/>
              </a:gs>
            </a:gsLst>
            <a:lin ang="2700000" scaled="1"/>
          </a:gradFill>
          <a:ln/>
          <a:effectLst>
            <a:outerShdw blurRad="101600" dist="50800" dir="2700000" algn="bl" rotWithShape="0">
              <a:srgbClr val="FFFFFF">
                <a:alpha val="75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545306" y="542925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98227" y="13395"/>
                </a:moveTo>
                <a:cubicBezTo>
                  <a:pt x="98227" y="5972"/>
                  <a:pt x="92255" y="0"/>
                  <a:pt x="84832" y="0"/>
                </a:cubicBezTo>
                <a:cubicBezTo>
                  <a:pt x="77409" y="0"/>
                  <a:pt x="71438" y="5972"/>
                  <a:pt x="71438" y="13395"/>
                </a:cubicBezTo>
                <a:lnTo>
                  <a:pt x="71438" y="35719"/>
                </a:lnTo>
                <a:cubicBezTo>
                  <a:pt x="51736" y="35719"/>
                  <a:pt x="35719" y="51736"/>
                  <a:pt x="35719" y="71438"/>
                </a:cubicBezTo>
                <a:lnTo>
                  <a:pt x="13395" y="71438"/>
                </a:lnTo>
                <a:cubicBezTo>
                  <a:pt x="5972" y="71438"/>
                  <a:pt x="0" y="77409"/>
                  <a:pt x="0" y="84832"/>
                </a:cubicBezTo>
                <a:cubicBezTo>
                  <a:pt x="0" y="92255"/>
                  <a:pt x="5972" y="98227"/>
                  <a:pt x="13395" y="98227"/>
                </a:cubicBezTo>
                <a:lnTo>
                  <a:pt x="35719" y="98227"/>
                </a:lnTo>
                <a:lnTo>
                  <a:pt x="35719" y="129480"/>
                </a:lnTo>
                <a:lnTo>
                  <a:pt x="13395" y="129480"/>
                </a:lnTo>
                <a:cubicBezTo>
                  <a:pt x="5972" y="129480"/>
                  <a:pt x="0" y="135452"/>
                  <a:pt x="0" y="142875"/>
                </a:cubicBezTo>
                <a:cubicBezTo>
                  <a:pt x="0" y="150298"/>
                  <a:pt x="5972" y="156270"/>
                  <a:pt x="13395" y="156270"/>
                </a:cubicBezTo>
                <a:lnTo>
                  <a:pt x="35719" y="156270"/>
                </a:lnTo>
                <a:lnTo>
                  <a:pt x="35719" y="187523"/>
                </a:lnTo>
                <a:lnTo>
                  <a:pt x="13395" y="187523"/>
                </a:lnTo>
                <a:cubicBezTo>
                  <a:pt x="5972" y="187523"/>
                  <a:pt x="0" y="193495"/>
                  <a:pt x="0" y="200918"/>
                </a:cubicBezTo>
                <a:cubicBezTo>
                  <a:pt x="0" y="208341"/>
                  <a:pt x="5972" y="214313"/>
                  <a:pt x="13395" y="214313"/>
                </a:cubicBezTo>
                <a:lnTo>
                  <a:pt x="35719" y="214313"/>
                </a:lnTo>
                <a:cubicBezTo>
                  <a:pt x="35719" y="234014"/>
                  <a:pt x="51736" y="250031"/>
                  <a:pt x="71438" y="250031"/>
                </a:cubicBezTo>
                <a:lnTo>
                  <a:pt x="71438" y="272355"/>
                </a:lnTo>
                <a:cubicBezTo>
                  <a:pt x="71438" y="279778"/>
                  <a:pt x="77409" y="285750"/>
                  <a:pt x="84832" y="285750"/>
                </a:cubicBezTo>
                <a:cubicBezTo>
                  <a:pt x="92255" y="285750"/>
                  <a:pt x="98227" y="279778"/>
                  <a:pt x="98227" y="272355"/>
                </a:cubicBezTo>
                <a:lnTo>
                  <a:pt x="98227" y="250031"/>
                </a:lnTo>
                <a:lnTo>
                  <a:pt x="129480" y="250031"/>
                </a:lnTo>
                <a:lnTo>
                  <a:pt x="129480" y="272355"/>
                </a:lnTo>
                <a:cubicBezTo>
                  <a:pt x="129480" y="279778"/>
                  <a:pt x="135452" y="285750"/>
                  <a:pt x="142875" y="285750"/>
                </a:cubicBezTo>
                <a:cubicBezTo>
                  <a:pt x="150298" y="285750"/>
                  <a:pt x="156270" y="279778"/>
                  <a:pt x="156270" y="272355"/>
                </a:cubicBezTo>
                <a:lnTo>
                  <a:pt x="156270" y="250031"/>
                </a:lnTo>
                <a:lnTo>
                  <a:pt x="187523" y="250031"/>
                </a:lnTo>
                <a:lnTo>
                  <a:pt x="187523" y="272355"/>
                </a:lnTo>
                <a:cubicBezTo>
                  <a:pt x="187523" y="279778"/>
                  <a:pt x="193495" y="285750"/>
                  <a:pt x="200918" y="285750"/>
                </a:cubicBezTo>
                <a:cubicBezTo>
                  <a:pt x="208341" y="285750"/>
                  <a:pt x="214313" y="279778"/>
                  <a:pt x="214313" y="272355"/>
                </a:cubicBezTo>
                <a:lnTo>
                  <a:pt x="214313" y="250031"/>
                </a:lnTo>
                <a:cubicBezTo>
                  <a:pt x="234014" y="250031"/>
                  <a:pt x="250031" y="234014"/>
                  <a:pt x="250031" y="214313"/>
                </a:cubicBezTo>
                <a:lnTo>
                  <a:pt x="272355" y="214313"/>
                </a:lnTo>
                <a:cubicBezTo>
                  <a:pt x="279778" y="214313"/>
                  <a:pt x="285750" y="208341"/>
                  <a:pt x="285750" y="200918"/>
                </a:cubicBezTo>
                <a:cubicBezTo>
                  <a:pt x="285750" y="193495"/>
                  <a:pt x="279778" y="187523"/>
                  <a:pt x="272355" y="187523"/>
                </a:cubicBezTo>
                <a:lnTo>
                  <a:pt x="250031" y="187523"/>
                </a:lnTo>
                <a:lnTo>
                  <a:pt x="250031" y="156270"/>
                </a:lnTo>
                <a:lnTo>
                  <a:pt x="272355" y="156270"/>
                </a:lnTo>
                <a:cubicBezTo>
                  <a:pt x="279778" y="156270"/>
                  <a:pt x="285750" y="150298"/>
                  <a:pt x="285750" y="142875"/>
                </a:cubicBezTo>
                <a:cubicBezTo>
                  <a:pt x="285750" y="135452"/>
                  <a:pt x="279778" y="129480"/>
                  <a:pt x="272355" y="129480"/>
                </a:cubicBezTo>
                <a:lnTo>
                  <a:pt x="250031" y="129480"/>
                </a:lnTo>
                <a:lnTo>
                  <a:pt x="250031" y="98227"/>
                </a:lnTo>
                <a:lnTo>
                  <a:pt x="272355" y="98227"/>
                </a:lnTo>
                <a:cubicBezTo>
                  <a:pt x="279778" y="98227"/>
                  <a:pt x="285750" y="92255"/>
                  <a:pt x="285750" y="84832"/>
                </a:cubicBezTo>
                <a:cubicBezTo>
                  <a:pt x="285750" y="77409"/>
                  <a:pt x="279778" y="71438"/>
                  <a:pt x="272355" y="71438"/>
                </a:cubicBezTo>
                <a:lnTo>
                  <a:pt x="250031" y="71438"/>
                </a:lnTo>
                <a:cubicBezTo>
                  <a:pt x="250031" y="51736"/>
                  <a:pt x="234014" y="35719"/>
                  <a:pt x="214313" y="35719"/>
                </a:cubicBezTo>
                <a:lnTo>
                  <a:pt x="214313" y="13395"/>
                </a:lnTo>
                <a:cubicBezTo>
                  <a:pt x="214313" y="5972"/>
                  <a:pt x="208341" y="0"/>
                  <a:pt x="200918" y="0"/>
                </a:cubicBezTo>
                <a:cubicBezTo>
                  <a:pt x="193495" y="0"/>
                  <a:pt x="187523" y="5972"/>
                  <a:pt x="187523" y="13395"/>
                </a:cubicBezTo>
                <a:lnTo>
                  <a:pt x="187523" y="35719"/>
                </a:lnTo>
                <a:lnTo>
                  <a:pt x="156270" y="35719"/>
                </a:lnTo>
                <a:lnTo>
                  <a:pt x="156270" y="13395"/>
                </a:lnTo>
                <a:cubicBezTo>
                  <a:pt x="156270" y="5972"/>
                  <a:pt x="150298" y="0"/>
                  <a:pt x="142875" y="0"/>
                </a:cubicBezTo>
                <a:cubicBezTo>
                  <a:pt x="135452" y="0"/>
                  <a:pt x="129480" y="5972"/>
                  <a:pt x="129480" y="13395"/>
                </a:cubicBezTo>
                <a:lnTo>
                  <a:pt x="129480" y="35719"/>
                </a:lnTo>
                <a:lnTo>
                  <a:pt x="98227" y="35719"/>
                </a:lnTo>
                <a:lnTo>
                  <a:pt x="98227" y="13395"/>
                </a:lnTo>
                <a:close/>
                <a:moveTo>
                  <a:pt x="89297" y="71438"/>
                </a:moveTo>
                <a:lnTo>
                  <a:pt x="196453" y="71438"/>
                </a:lnTo>
                <a:cubicBezTo>
                  <a:pt x="206332" y="71438"/>
                  <a:pt x="214313" y="79418"/>
                  <a:pt x="214313" y="89297"/>
                </a:cubicBezTo>
                <a:lnTo>
                  <a:pt x="214313" y="196453"/>
                </a:lnTo>
                <a:cubicBezTo>
                  <a:pt x="214313" y="206332"/>
                  <a:pt x="206332" y="214313"/>
                  <a:pt x="196453" y="214313"/>
                </a:cubicBezTo>
                <a:lnTo>
                  <a:pt x="89297" y="214313"/>
                </a:lnTo>
                <a:cubicBezTo>
                  <a:pt x="79418" y="214313"/>
                  <a:pt x="71438" y="206332"/>
                  <a:pt x="71438" y="196453"/>
                </a:cubicBezTo>
                <a:lnTo>
                  <a:pt x="71438" y="89297"/>
                </a:lnTo>
                <a:cubicBezTo>
                  <a:pt x="71438" y="79418"/>
                  <a:pt x="79418" y="71438"/>
                  <a:pt x="89297" y="71438"/>
                </a:cubicBezTo>
                <a:close/>
                <a:moveTo>
                  <a:pt x="98227" y="98227"/>
                </a:moveTo>
                <a:lnTo>
                  <a:pt x="98227" y="187523"/>
                </a:lnTo>
                <a:lnTo>
                  <a:pt x="187523" y="187523"/>
                </a:lnTo>
                <a:lnTo>
                  <a:pt x="187523" y="98227"/>
                </a:lnTo>
                <a:lnTo>
                  <a:pt x="98227" y="98227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6" name="Text 3"/>
          <p:cNvSpPr/>
          <p:nvPr/>
        </p:nvSpPr>
        <p:spPr>
          <a:xfrm>
            <a:off x="1143000" y="457200"/>
            <a:ext cx="30861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kern="0" spc="405" dirty="0">
                <a:solidFill>
                  <a:srgbClr val="58A6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Samsung Electronics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143000" y="723900"/>
            <a:ext cx="30670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B94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Global Operations Division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381000" y="1909762"/>
            <a:ext cx="117729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E6EDF3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Samsung Supply Chain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FFFFFF">
                    <a:alpha val="0"/>
                  </a:srgbClr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2026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381000" y="3776662"/>
            <a:ext cx="1219200" cy="38100"/>
          </a:xfrm>
          <a:custGeom>
            <a:avLst/>
            <a:gdLst/>
            <a:ahLst/>
            <a:cxnLst/>
            <a:rect l="l" t="t" r="r" b="b"/>
            <a:pathLst>
              <a:path w="1219200" h="38100">
                <a:moveTo>
                  <a:pt x="19050" y="0"/>
                </a:moveTo>
                <a:lnTo>
                  <a:pt x="1200150" y="0"/>
                </a:lnTo>
                <a:cubicBezTo>
                  <a:pt x="1210664" y="0"/>
                  <a:pt x="1219200" y="8536"/>
                  <a:pt x="1219200" y="19050"/>
                </a:cubicBezTo>
                <a:lnTo>
                  <a:pt x="1219200" y="19050"/>
                </a:lnTo>
                <a:cubicBezTo>
                  <a:pt x="1219200" y="29564"/>
                  <a:pt x="1210664" y="38100"/>
                  <a:pt x="1200150" y="38100"/>
                </a:cubicBezTo>
                <a:lnTo>
                  <a:pt x="19050" y="38100"/>
                </a:lnTo>
                <a:cubicBezTo>
                  <a:pt x="8536" y="38100"/>
                  <a:pt x="0" y="29564"/>
                  <a:pt x="0" y="19050"/>
                </a:cubicBezTo>
                <a:lnTo>
                  <a:pt x="0" y="19050"/>
                </a:lnTo>
                <a:cubicBezTo>
                  <a:pt x="0" y="8536"/>
                  <a:pt x="8536" y="0"/>
                  <a:pt x="19050" y="0"/>
                </a:cubicBezTo>
                <a:close/>
              </a:path>
            </a:pathLst>
          </a:custGeom>
          <a:gradFill flip="none" rotWithShape="1">
            <a:gsLst>
              <a:gs pos="0">
                <a:srgbClr val="58A6FF"/>
              </a:gs>
              <a:gs pos="100000">
                <a:srgbClr val="00D9FF"/>
              </a:gs>
            </a:gsLst>
            <a:lin ang="0" scaled="1"/>
          </a:gradFill>
          <a:ln/>
        </p:spPr>
      </p:sp>
      <p:sp>
        <p:nvSpPr>
          <p:cNvPr id="10" name="Text 7"/>
          <p:cNvSpPr/>
          <p:nvPr/>
        </p:nvSpPr>
        <p:spPr>
          <a:xfrm>
            <a:off x="381000" y="4043363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Operational Intelligence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381000" y="4576763"/>
            <a:ext cx="742950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8B94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Revolutionizing Logistics through Data-Driven Insights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409575" y="5669280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38100" y="0"/>
                </a:moveTo>
                <a:cubicBezTo>
                  <a:pt x="43369" y="0"/>
                  <a:pt x="47625" y="4256"/>
                  <a:pt x="47625" y="9525"/>
                </a:cubicBezTo>
                <a:lnTo>
                  <a:pt x="47625" y="19050"/>
                </a:lnTo>
                <a:lnTo>
                  <a:pt x="85725" y="19050"/>
                </a:lnTo>
                <a:lnTo>
                  <a:pt x="85725" y="9525"/>
                </a:lnTo>
                <a:cubicBezTo>
                  <a:pt x="85725" y="4256"/>
                  <a:pt x="89981" y="0"/>
                  <a:pt x="95250" y="0"/>
                </a:cubicBezTo>
                <a:cubicBezTo>
                  <a:pt x="100519" y="0"/>
                  <a:pt x="104775" y="4256"/>
                  <a:pt x="104775" y="9525"/>
                </a:cubicBezTo>
                <a:lnTo>
                  <a:pt x="104775" y="19050"/>
                </a:lnTo>
                <a:lnTo>
                  <a:pt x="114300" y="19050"/>
                </a:lnTo>
                <a:cubicBezTo>
                  <a:pt x="124807" y="19050"/>
                  <a:pt x="133350" y="27593"/>
                  <a:pt x="133350" y="38100"/>
                </a:cubicBezTo>
                <a:lnTo>
                  <a:pt x="133350" y="123825"/>
                </a:lnTo>
                <a:cubicBezTo>
                  <a:pt x="133350" y="134332"/>
                  <a:pt x="124807" y="142875"/>
                  <a:pt x="114300" y="142875"/>
                </a:cubicBezTo>
                <a:lnTo>
                  <a:pt x="19050" y="142875"/>
                </a:lnTo>
                <a:cubicBezTo>
                  <a:pt x="8543" y="142875"/>
                  <a:pt x="0" y="134332"/>
                  <a:pt x="0" y="123825"/>
                </a:cubicBezTo>
                <a:lnTo>
                  <a:pt x="0" y="38100"/>
                </a:lnTo>
                <a:cubicBezTo>
                  <a:pt x="0" y="27593"/>
                  <a:pt x="8543" y="19050"/>
                  <a:pt x="19050" y="19050"/>
                </a:cubicBezTo>
                <a:lnTo>
                  <a:pt x="28575" y="19050"/>
                </a:lnTo>
                <a:lnTo>
                  <a:pt x="28575" y="9525"/>
                </a:lnTo>
                <a:cubicBezTo>
                  <a:pt x="28575" y="4256"/>
                  <a:pt x="32831" y="0"/>
                  <a:pt x="38100" y="0"/>
                </a:cubicBezTo>
                <a:close/>
                <a:moveTo>
                  <a:pt x="19050" y="71438"/>
                </a:moveTo>
                <a:lnTo>
                  <a:pt x="19050" y="80962"/>
                </a:lnTo>
                <a:cubicBezTo>
                  <a:pt x="19050" y="83582"/>
                  <a:pt x="21193" y="85725"/>
                  <a:pt x="23813" y="85725"/>
                </a:cubicBezTo>
                <a:lnTo>
                  <a:pt x="33338" y="85725"/>
                </a:lnTo>
                <a:cubicBezTo>
                  <a:pt x="35957" y="85725"/>
                  <a:pt x="38100" y="83582"/>
                  <a:pt x="38100" y="80962"/>
                </a:cubicBezTo>
                <a:lnTo>
                  <a:pt x="38100" y="71438"/>
                </a:lnTo>
                <a:cubicBezTo>
                  <a:pt x="38100" y="68818"/>
                  <a:pt x="35957" y="66675"/>
                  <a:pt x="33338" y="66675"/>
                </a:cubicBezTo>
                <a:lnTo>
                  <a:pt x="23813" y="66675"/>
                </a:lnTo>
                <a:cubicBezTo>
                  <a:pt x="21193" y="66675"/>
                  <a:pt x="19050" y="68818"/>
                  <a:pt x="19050" y="71438"/>
                </a:cubicBezTo>
                <a:close/>
                <a:moveTo>
                  <a:pt x="57150" y="71438"/>
                </a:moveTo>
                <a:lnTo>
                  <a:pt x="57150" y="80962"/>
                </a:lnTo>
                <a:cubicBezTo>
                  <a:pt x="57150" y="83582"/>
                  <a:pt x="59293" y="85725"/>
                  <a:pt x="61912" y="85725"/>
                </a:cubicBezTo>
                <a:lnTo>
                  <a:pt x="71438" y="85725"/>
                </a:lnTo>
                <a:cubicBezTo>
                  <a:pt x="74057" y="85725"/>
                  <a:pt x="76200" y="83582"/>
                  <a:pt x="76200" y="80962"/>
                </a:cubicBezTo>
                <a:lnTo>
                  <a:pt x="76200" y="71438"/>
                </a:lnTo>
                <a:cubicBezTo>
                  <a:pt x="76200" y="68818"/>
                  <a:pt x="74057" y="66675"/>
                  <a:pt x="71438" y="66675"/>
                </a:cubicBezTo>
                <a:lnTo>
                  <a:pt x="61912" y="66675"/>
                </a:lnTo>
                <a:cubicBezTo>
                  <a:pt x="59293" y="66675"/>
                  <a:pt x="57150" y="68818"/>
                  <a:pt x="57150" y="71438"/>
                </a:cubicBezTo>
                <a:close/>
                <a:moveTo>
                  <a:pt x="100013" y="66675"/>
                </a:moveTo>
                <a:cubicBezTo>
                  <a:pt x="97393" y="66675"/>
                  <a:pt x="95250" y="68818"/>
                  <a:pt x="95250" y="71438"/>
                </a:cubicBezTo>
                <a:lnTo>
                  <a:pt x="95250" y="80962"/>
                </a:lnTo>
                <a:cubicBezTo>
                  <a:pt x="95250" y="83582"/>
                  <a:pt x="97393" y="85725"/>
                  <a:pt x="100013" y="85725"/>
                </a:cubicBezTo>
                <a:lnTo>
                  <a:pt x="109537" y="85725"/>
                </a:lnTo>
                <a:cubicBezTo>
                  <a:pt x="112157" y="85725"/>
                  <a:pt x="114300" y="83582"/>
                  <a:pt x="114300" y="80962"/>
                </a:cubicBezTo>
                <a:lnTo>
                  <a:pt x="114300" y="71438"/>
                </a:lnTo>
                <a:cubicBezTo>
                  <a:pt x="114300" y="68818"/>
                  <a:pt x="112157" y="66675"/>
                  <a:pt x="109537" y="66675"/>
                </a:cubicBezTo>
                <a:lnTo>
                  <a:pt x="100013" y="66675"/>
                </a:lnTo>
                <a:close/>
                <a:moveTo>
                  <a:pt x="19050" y="109537"/>
                </a:moveTo>
                <a:lnTo>
                  <a:pt x="19050" y="119062"/>
                </a:lnTo>
                <a:cubicBezTo>
                  <a:pt x="19050" y="121682"/>
                  <a:pt x="21193" y="123825"/>
                  <a:pt x="23813" y="123825"/>
                </a:cubicBezTo>
                <a:lnTo>
                  <a:pt x="33338" y="123825"/>
                </a:lnTo>
                <a:cubicBezTo>
                  <a:pt x="35957" y="123825"/>
                  <a:pt x="38100" y="121682"/>
                  <a:pt x="38100" y="119062"/>
                </a:cubicBezTo>
                <a:lnTo>
                  <a:pt x="38100" y="109537"/>
                </a:lnTo>
                <a:cubicBezTo>
                  <a:pt x="38100" y="106918"/>
                  <a:pt x="35957" y="104775"/>
                  <a:pt x="33338" y="104775"/>
                </a:cubicBezTo>
                <a:lnTo>
                  <a:pt x="23813" y="104775"/>
                </a:lnTo>
                <a:cubicBezTo>
                  <a:pt x="21193" y="104775"/>
                  <a:pt x="19050" y="106918"/>
                  <a:pt x="19050" y="109537"/>
                </a:cubicBezTo>
                <a:close/>
                <a:moveTo>
                  <a:pt x="61912" y="104775"/>
                </a:moveTo>
                <a:cubicBezTo>
                  <a:pt x="59293" y="104775"/>
                  <a:pt x="57150" y="106918"/>
                  <a:pt x="57150" y="109537"/>
                </a:cubicBezTo>
                <a:lnTo>
                  <a:pt x="57150" y="119062"/>
                </a:lnTo>
                <a:cubicBezTo>
                  <a:pt x="57150" y="121682"/>
                  <a:pt x="59293" y="123825"/>
                  <a:pt x="61912" y="123825"/>
                </a:cubicBezTo>
                <a:lnTo>
                  <a:pt x="71438" y="123825"/>
                </a:lnTo>
                <a:cubicBezTo>
                  <a:pt x="74057" y="123825"/>
                  <a:pt x="76200" y="121682"/>
                  <a:pt x="76200" y="119062"/>
                </a:cubicBezTo>
                <a:lnTo>
                  <a:pt x="76200" y="109537"/>
                </a:lnTo>
                <a:cubicBezTo>
                  <a:pt x="76200" y="106918"/>
                  <a:pt x="74057" y="104775"/>
                  <a:pt x="71438" y="104775"/>
                </a:cubicBezTo>
                <a:lnTo>
                  <a:pt x="61912" y="104775"/>
                </a:lnTo>
                <a:close/>
                <a:moveTo>
                  <a:pt x="95250" y="109537"/>
                </a:moveTo>
                <a:lnTo>
                  <a:pt x="95250" y="119062"/>
                </a:lnTo>
                <a:cubicBezTo>
                  <a:pt x="95250" y="121682"/>
                  <a:pt x="97393" y="123825"/>
                  <a:pt x="100013" y="123825"/>
                </a:cubicBezTo>
                <a:lnTo>
                  <a:pt x="109537" y="123825"/>
                </a:lnTo>
                <a:cubicBezTo>
                  <a:pt x="112157" y="123825"/>
                  <a:pt x="114300" y="121682"/>
                  <a:pt x="114300" y="119062"/>
                </a:cubicBezTo>
                <a:lnTo>
                  <a:pt x="114300" y="109537"/>
                </a:lnTo>
                <a:cubicBezTo>
                  <a:pt x="114300" y="106918"/>
                  <a:pt x="112157" y="104775"/>
                  <a:pt x="109537" y="104775"/>
                </a:cubicBezTo>
                <a:lnTo>
                  <a:pt x="100013" y="104775"/>
                </a:lnTo>
                <a:cubicBezTo>
                  <a:pt x="97393" y="104775"/>
                  <a:pt x="95250" y="106918"/>
                  <a:pt x="95250" y="109537"/>
                </a:cubicBezTo>
                <a:close/>
              </a:path>
            </a:pathLst>
          </a:custGeom>
          <a:solidFill>
            <a:srgbClr val="58A6FF"/>
          </a:solidFill>
          <a:ln/>
        </p:spPr>
      </p:sp>
      <p:sp>
        <p:nvSpPr>
          <p:cNvPr id="13" name="Text 10"/>
          <p:cNvSpPr/>
          <p:nvPr/>
        </p:nvSpPr>
        <p:spPr>
          <a:xfrm>
            <a:off x="647700" y="5650230"/>
            <a:ext cx="904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B94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February 2026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1736824" y="566928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9050" y="19050"/>
                </a:moveTo>
                <a:cubicBezTo>
                  <a:pt x="19050" y="13781"/>
                  <a:pt x="14794" y="9525"/>
                  <a:pt x="9525" y="9525"/>
                </a:cubicBezTo>
                <a:cubicBezTo>
                  <a:pt x="4256" y="9525"/>
                  <a:pt x="0" y="13781"/>
                  <a:pt x="0" y="19050"/>
                </a:cubicBezTo>
                <a:lnTo>
                  <a:pt x="0" y="119062"/>
                </a:lnTo>
                <a:cubicBezTo>
                  <a:pt x="0" y="132219"/>
                  <a:pt x="10656" y="142875"/>
                  <a:pt x="23813" y="142875"/>
                </a:cubicBezTo>
                <a:lnTo>
                  <a:pt x="142875" y="142875"/>
                </a:lnTo>
                <a:cubicBezTo>
                  <a:pt x="148144" y="142875"/>
                  <a:pt x="152400" y="138619"/>
                  <a:pt x="152400" y="133350"/>
                </a:cubicBezTo>
                <a:cubicBezTo>
                  <a:pt x="152400" y="128081"/>
                  <a:pt x="148144" y="123825"/>
                  <a:pt x="142875" y="123825"/>
                </a:cubicBezTo>
                <a:lnTo>
                  <a:pt x="23813" y="123825"/>
                </a:lnTo>
                <a:cubicBezTo>
                  <a:pt x="21193" y="123825"/>
                  <a:pt x="19050" y="121682"/>
                  <a:pt x="19050" y="119062"/>
                </a:cubicBezTo>
                <a:lnTo>
                  <a:pt x="19050" y="19050"/>
                </a:lnTo>
                <a:close/>
                <a:moveTo>
                  <a:pt x="140077" y="44827"/>
                </a:moveTo>
                <a:cubicBezTo>
                  <a:pt x="143798" y="41106"/>
                  <a:pt x="143798" y="35064"/>
                  <a:pt x="140077" y="31343"/>
                </a:cubicBezTo>
                <a:cubicBezTo>
                  <a:pt x="136356" y="27622"/>
                  <a:pt x="130314" y="27622"/>
                  <a:pt x="126593" y="31343"/>
                </a:cubicBezTo>
                <a:lnTo>
                  <a:pt x="95250" y="62716"/>
                </a:lnTo>
                <a:lnTo>
                  <a:pt x="78165" y="45660"/>
                </a:lnTo>
                <a:cubicBezTo>
                  <a:pt x="74444" y="41940"/>
                  <a:pt x="68401" y="41940"/>
                  <a:pt x="64681" y="45660"/>
                </a:cubicBezTo>
                <a:lnTo>
                  <a:pt x="36106" y="74235"/>
                </a:lnTo>
                <a:cubicBezTo>
                  <a:pt x="32385" y="77956"/>
                  <a:pt x="32385" y="83999"/>
                  <a:pt x="36106" y="87719"/>
                </a:cubicBezTo>
                <a:cubicBezTo>
                  <a:pt x="39826" y="91440"/>
                  <a:pt x="45869" y="91440"/>
                  <a:pt x="49590" y="87719"/>
                </a:cubicBezTo>
                <a:lnTo>
                  <a:pt x="71438" y="65871"/>
                </a:lnTo>
                <a:lnTo>
                  <a:pt x="88523" y="82957"/>
                </a:lnTo>
                <a:cubicBezTo>
                  <a:pt x="92244" y="86678"/>
                  <a:pt x="98286" y="86678"/>
                  <a:pt x="102007" y="82957"/>
                </a:cubicBezTo>
                <a:lnTo>
                  <a:pt x="140107" y="44857"/>
                </a:lnTo>
                <a:close/>
              </a:path>
            </a:pathLst>
          </a:custGeom>
          <a:solidFill>
            <a:srgbClr val="58A6FF"/>
          </a:solidFill>
          <a:ln/>
        </p:spPr>
      </p:sp>
      <p:sp>
        <p:nvSpPr>
          <p:cNvPr id="15" name="Text 12"/>
          <p:cNvSpPr/>
          <p:nvPr/>
        </p:nvSpPr>
        <p:spPr>
          <a:xfrm>
            <a:off x="1984474" y="5650230"/>
            <a:ext cx="10287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B94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Strategic Review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10699750" y="6172200"/>
            <a:ext cx="11144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10000"/>
              </a:lnSpc>
            </a:pPr>
            <a:r>
              <a:rPr lang="en-US" sz="900" dirty="0">
                <a:solidFill>
                  <a:srgbClr val="8B94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CONFIDENTIAL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10699750" y="6324600"/>
            <a:ext cx="11144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10000"/>
              </a:lnSpc>
            </a:pPr>
            <a:r>
              <a:rPr lang="en-US" sz="900" dirty="0">
                <a:solidFill>
                  <a:srgbClr val="58A6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INTERNAL USE ONLY</a:t>
            </a:r>
            <a:endParaRPr lang="en-US" sz="1600" dirty="0"/>
          </a:p>
        </p:txBody>
      </p:sp>
      <p:sp>
        <p:nvSpPr>
          <p:cNvPr id="18" name="Text 3">
            <a:extLst>
              <a:ext uri="{FF2B5EF4-FFF2-40B4-BE49-F238E27FC236}">
                <a16:creationId xmlns:a16="http://schemas.microsoft.com/office/drawing/2014/main" id="{B491EE91-4EBB-9E58-112E-64E9CA27AF97}"/>
              </a:ext>
            </a:extLst>
          </p:cNvPr>
          <p:cNvSpPr/>
          <p:nvPr/>
        </p:nvSpPr>
        <p:spPr>
          <a:xfrm>
            <a:off x="8728075" y="3300412"/>
            <a:ext cx="30861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kern="0" spc="405" dirty="0">
                <a:solidFill>
                  <a:schemeClr val="accent2">
                    <a:lumMod val="60000"/>
                    <a:lumOff val="40000"/>
                  </a:scheme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Credit by: Sagar Sharma</a:t>
            </a:r>
            <a:endParaRPr lang="en-US" sz="1600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48" name="Picture 47">
            <a:hlinkClick r:id="rId4"/>
            <a:extLst>
              <a:ext uri="{FF2B5EF4-FFF2-40B4-BE49-F238E27FC236}">
                <a16:creationId xmlns:a16="http://schemas.microsoft.com/office/drawing/2014/main" id="{86C02560-2AF8-9955-74CA-960EE39091C1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0926486" y="173126"/>
            <a:ext cx="310109" cy="31010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40" name="Picture 39">
            <a:hlinkClick r:id="rId6"/>
            <a:extLst>
              <a:ext uri="{FF2B5EF4-FFF2-40B4-BE49-F238E27FC236}">
                <a16:creationId xmlns:a16="http://schemas.microsoft.com/office/drawing/2014/main" id="{9E7DA06B-FC57-B710-39D0-A8234EFE6864}"/>
              </a:ext>
            </a:extLst>
          </p:cNvPr>
          <p:cNvPicPr>
            <a:picLocks noChangeAspect="1"/>
          </p:cNvPicPr>
          <p:nvPr/>
        </p:nvPicPr>
        <p:blipFill>
          <a:blip r:embed="rId7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 rot="5400000" flipH="1">
            <a:off x="10080212" y="179090"/>
            <a:ext cx="310896" cy="31089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44" name="Picture 43">
            <a:hlinkClick r:id="rId8"/>
            <a:extLst>
              <a:ext uri="{FF2B5EF4-FFF2-40B4-BE49-F238E27FC236}">
                <a16:creationId xmlns:a16="http://schemas.microsoft.com/office/drawing/2014/main" id="{25B5D46C-940D-E003-6F1C-1101A1A2CE54}"/>
              </a:ext>
            </a:extLst>
          </p:cNvPr>
          <p:cNvPicPr>
            <a:picLocks noChangeAspect="1"/>
          </p:cNvPicPr>
          <p:nvPr/>
        </p:nvPicPr>
        <p:blipFill>
          <a:blip r:embed="rId9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0497360" y="179090"/>
            <a:ext cx="333034" cy="31089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42" name="Picture 41">
            <a:hlinkClick r:id="rId10"/>
            <a:extLst>
              <a:ext uri="{FF2B5EF4-FFF2-40B4-BE49-F238E27FC236}">
                <a16:creationId xmlns:a16="http://schemas.microsoft.com/office/drawing/2014/main" id="{08CECD5F-36F1-EC8E-036B-4DA4A47273D3}"/>
              </a:ext>
            </a:extLst>
          </p:cNvPr>
          <p:cNvPicPr>
            <a:picLocks noChangeAspect="1"/>
          </p:cNvPicPr>
          <p:nvPr/>
        </p:nvPicPr>
        <p:blipFill>
          <a:blip r:embed="rId11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1331569" y="162449"/>
            <a:ext cx="366191" cy="31089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46" name="Picture 45">
            <a:hlinkClick r:id="rId12"/>
            <a:extLst>
              <a:ext uri="{FF2B5EF4-FFF2-40B4-BE49-F238E27FC236}">
                <a16:creationId xmlns:a16="http://schemas.microsoft.com/office/drawing/2014/main" id="{289351E1-408B-D22E-DF28-BBC25C4A01FC}"/>
              </a:ext>
            </a:extLst>
          </p:cNvPr>
          <p:cNvPicPr>
            <a:picLocks noChangeAspect="1"/>
          </p:cNvPicPr>
          <p:nvPr/>
        </p:nvPicPr>
        <p:blipFill>
          <a:blip r:embed="rId13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1785799" y="161814"/>
            <a:ext cx="310896" cy="31089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0" name="Shape 27">
            <a:extLst>
              <a:ext uri="{FF2B5EF4-FFF2-40B4-BE49-F238E27FC236}">
                <a16:creationId xmlns:a16="http://schemas.microsoft.com/office/drawing/2014/main" id="{E5303873-432C-013F-8218-C850C571DCD8}"/>
              </a:ext>
            </a:extLst>
          </p:cNvPr>
          <p:cNvSpPr/>
          <p:nvPr/>
        </p:nvSpPr>
        <p:spPr>
          <a:xfrm>
            <a:off x="377825" y="6389007"/>
            <a:ext cx="420461" cy="435429"/>
          </a:xfrm>
          <a:custGeom>
            <a:avLst/>
            <a:gdLst/>
            <a:ahLst/>
            <a:cxnLst/>
            <a:rect l="l" t="t" r="r" b="b"/>
            <a:pathLst>
              <a:path w="435429" h="435429">
                <a:moveTo>
                  <a:pt x="108857" y="0"/>
                </a:moveTo>
                <a:lnTo>
                  <a:pt x="326571" y="0"/>
                </a:lnTo>
                <a:cubicBezTo>
                  <a:pt x="386692" y="0"/>
                  <a:pt x="435429" y="48737"/>
                  <a:pt x="435429" y="108857"/>
                </a:cubicBezTo>
                <a:lnTo>
                  <a:pt x="435429" y="326571"/>
                </a:lnTo>
                <a:cubicBezTo>
                  <a:pt x="435429" y="386692"/>
                  <a:pt x="386692" y="435429"/>
                  <a:pt x="326571" y="435429"/>
                </a:cubicBezTo>
                <a:lnTo>
                  <a:pt x="108857" y="435429"/>
                </a:lnTo>
                <a:cubicBezTo>
                  <a:pt x="48737" y="435429"/>
                  <a:pt x="0" y="386692"/>
                  <a:pt x="0" y="326571"/>
                </a:cubicBezTo>
                <a:lnTo>
                  <a:pt x="0" y="108857"/>
                </a:lnTo>
                <a:cubicBezTo>
                  <a:pt x="0" y="48777"/>
                  <a:pt x="48777" y="0"/>
                  <a:pt x="108857" y="0"/>
                </a:cubicBezTo>
                <a:close/>
              </a:path>
            </a:pathLst>
          </a:custGeom>
          <a:solidFill>
            <a:srgbClr val="58A6FF">
              <a:alpha val="20000"/>
            </a:srgbClr>
          </a:solidFill>
          <a:ln/>
        </p:spPr>
      </p:sp>
      <p:sp>
        <p:nvSpPr>
          <p:cNvPr id="22" name="Shape 28">
            <a:extLst>
              <a:ext uri="{FF2B5EF4-FFF2-40B4-BE49-F238E27FC236}">
                <a16:creationId xmlns:a16="http://schemas.microsoft.com/office/drawing/2014/main" id="{3025DBEF-8AB3-3FC4-359E-BDB1EBC8875D}"/>
              </a:ext>
            </a:extLst>
          </p:cNvPr>
          <p:cNvSpPr/>
          <p:nvPr/>
        </p:nvSpPr>
        <p:spPr>
          <a:xfrm>
            <a:off x="489857" y="6536327"/>
            <a:ext cx="181429" cy="181429"/>
          </a:xfrm>
          <a:custGeom>
            <a:avLst/>
            <a:gdLst/>
            <a:ahLst/>
            <a:cxnLst/>
            <a:rect l="l" t="t" r="r" b="b"/>
            <a:pathLst>
              <a:path w="181429" h="181429">
                <a:moveTo>
                  <a:pt x="17009" y="22679"/>
                </a:moveTo>
                <a:cubicBezTo>
                  <a:pt x="7619" y="22679"/>
                  <a:pt x="0" y="30297"/>
                  <a:pt x="0" y="39688"/>
                </a:cubicBezTo>
                <a:cubicBezTo>
                  <a:pt x="0" y="45038"/>
                  <a:pt x="2516" y="50070"/>
                  <a:pt x="6804" y="53295"/>
                </a:cubicBezTo>
                <a:lnTo>
                  <a:pt x="80509" y="108574"/>
                </a:lnTo>
                <a:cubicBezTo>
                  <a:pt x="86568" y="113109"/>
                  <a:pt x="94860" y="113109"/>
                  <a:pt x="100920" y="108574"/>
                </a:cubicBezTo>
                <a:lnTo>
                  <a:pt x="174625" y="53295"/>
                </a:lnTo>
                <a:cubicBezTo>
                  <a:pt x="178913" y="50070"/>
                  <a:pt x="181429" y="45038"/>
                  <a:pt x="181429" y="39687"/>
                </a:cubicBezTo>
                <a:cubicBezTo>
                  <a:pt x="181429" y="30297"/>
                  <a:pt x="173810" y="22679"/>
                  <a:pt x="164420" y="22679"/>
                </a:cubicBezTo>
                <a:lnTo>
                  <a:pt x="17009" y="22679"/>
                </a:lnTo>
                <a:close/>
                <a:moveTo>
                  <a:pt x="0" y="69453"/>
                </a:moveTo>
                <a:lnTo>
                  <a:pt x="0" y="136071"/>
                </a:lnTo>
                <a:cubicBezTo>
                  <a:pt x="0" y="148580"/>
                  <a:pt x="10170" y="158750"/>
                  <a:pt x="22679" y="158750"/>
                </a:cubicBezTo>
                <a:lnTo>
                  <a:pt x="158750" y="158750"/>
                </a:lnTo>
                <a:cubicBezTo>
                  <a:pt x="171259" y="158750"/>
                  <a:pt x="181429" y="148580"/>
                  <a:pt x="181429" y="136071"/>
                </a:cubicBezTo>
                <a:lnTo>
                  <a:pt x="181429" y="69453"/>
                </a:lnTo>
                <a:lnTo>
                  <a:pt x="111125" y="122181"/>
                </a:lnTo>
                <a:cubicBezTo>
                  <a:pt x="99042" y="131252"/>
                  <a:pt x="82387" y="131252"/>
                  <a:pt x="70304" y="122181"/>
                </a:cubicBezTo>
                <a:lnTo>
                  <a:pt x="0" y="69453"/>
                </a:lnTo>
                <a:close/>
              </a:path>
            </a:pathLst>
          </a:custGeom>
          <a:solidFill>
            <a:srgbClr val="58A6FF"/>
          </a:solidFill>
          <a:ln/>
        </p:spPr>
      </p:sp>
      <p:sp>
        <p:nvSpPr>
          <p:cNvPr id="24" name="Text 29">
            <a:extLst>
              <a:ext uri="{FF2B5EF4-FFF2-40B4-BE49-F238E27FC236}">
                <a16:creationId xmlns:a16="http://schemas.microsoft.com/office/drawing/2014/main" id="{375F8F0F-D91B-574A-0269-0D713641DFC2}"/>
              </a:ext>
            </a:extLst>
          </p:cNvPr>
          <p:cNvSpPr/>
          <p:nvPr/>
        </p:nvSpPr>
        <p:spPr>
          <a:xfrm>
            <a:off x="943429" y="6427470"/>
            <a:ext cx="1823357" cy="181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0" dirty="0">
                <a:solidFill>
                  <a:srgbClr val="8B94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Questions?</a:t>
            </a:r>
            <a:endParaRPr lang="en-US" sz="1600" dirty="0"/>
          </a:p>
        </p:txBody>
      </p:sp>
      <p:sp>
        <p:nvSpPr>
          <p:cNvPr id="25" name="Text 30">
            <a:extLst>
              <a:ext uri="{FF2B5EF4-FFF2-40B4-BE49-F238E27FC236}">
                <a16:creationId xmlns:a16="http://schemas.microsoft.com/office/drawing/2014/main" id="{46B829A2-6DEF-7B17-6258-434137097303}"/>
              </a:ext>
            </a:extLst>
          </p:cNvPr>
          <p:cNvSpPr/>
          <p:nvPr/>
        </p:nvSpPr>
        <p:spPr>
          <a:xfrm>
            <a:off x="943429" y="6608899"/>
            <a:ext cx="1832429" cy="217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43" b="1" dirty="0">
                <a:solidFill>
                  <a:srgbClr val="E6EDF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supply.chain@samsung.com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8100" cy="304800"/>
          </a:xfrm>
          <a:custGeom>
            <a:avLst/>
            <a:gdLst/>
            <a:ahLst/>
            <a:cxnLst/>
            <a:rect l="l" t="t" r="r" b="b"/>
            <a:pathLst>
              <a:path w="38100" h="304800">
                <a:moveTo>
                  <a:pt x="19050" y="0"/>
                </a:moveTo>
                <a:lnTo>
                  <a:pt x="19050" y="0"/>
                </a:lnTo>
                <a:cubicBezTo>
                  <a:pt x="29564" y="0"/>
                  <a:pt x="38100" y="8536"/>
                  <a:pt x="38100" y="19050"/>
                </a:cubicBezTo>
                <a:lnTo>
                  <a:pt x="38100" y="285750"/>
                </a:lnTo>
                <a:cubicBezTo>
                  <a:pt x="38100" y="296264"/>
                  <a:pt x="29564" y="304800"/>
                  <a:pt x="19050" y="304800"/>
                </a:cubicBezTo>
                <a:lnTo>
                  <a:pt x="19050" y="304800"/>
                </a:lnTo>
                <a:cubicBezTo>
                  <a:pt x="8536" y="304800"/>
                  <a:pt x="0" y="296264"/>
                  <a:pt x="0" y="285750"/>
                </a:cubicBezTo>
                <a:lnTo>
                  <a:pt x="0" y="19050"/>
                </a:lnTo>
                <a:cubicBezTo>
                  <a:pt x="0" y="8536"/>
                  <a:pt x="8536" y="0"/>
                  <a:pt x="19050" y="0"/>
                </a:cubicBezTo>
                <a:close/>
              </a:path>
            </a:pathLst>
          </a:custGeom>
          <a:gradFill flip="none" rotWithShape="1">
            <a:gsLst>
              <a:gs pos="0">
                <a:srgbClr val="58A6FF"/>
              </a:gs>
              <a:gs pos="0">
                <a:srgbClr val="FFFFFF"/>
              </a:gs>
              <a:gs pos="100000">
                <a:srgbClr val="00D9FF"/>
              </a:gs>
            </a:gsLst>
            <a:lin ang="5400000" scaled="1"/>
          </a:gradFill>
          <a:ln/>
        </p:spPr>
      </p:sp>
      <p:sp>
        <p:nvSpPr>
          <p:cNvPr id="3" name="Text 1"/>
          <p:cNvSpPr/>
          <p:nvPr/>
        </p:nvSpPr>
        <p:spPr>
          <a:xfrm>
            <a:off x="533400" y="438150"/>
            <a:ext cx="1971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kern="0" spc="210" dirty="0">
                <a:solidFill>
                  <a:srgbClr val="58A6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Executive Overview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7620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E6EDF3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The Global Snapshot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81000" y="1295400"/>
            <a:ext cx="11515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8B94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Real-time operational metrics across the entire supply chain ecosystem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84175" y="1793875"/>
            <a:ext cx="3654425" cy="1492250"/>
          </a:xfrm>
          <a:custGeom>
            <a:avLst/>
            <a:gdLst/>
            <a:ahLst/>
            <a:cxnLst/>
            <a:rect l="l" t="t" r="r" b="b"/>
            <a:pathLst>
              <a:path w="3654425" h="1492250">
                <a:moveTo>
                  <a:pt x="152403" y="0"/>
                </a:moveTo>
                <a:lnTo>
                  <a:pt x="3502022" y="0"/>
                </a:lnTo>
                <a:cubicBezTo>
                  <a:pt x="3586192" y="0"/>
                  <a:pt x="3654425" y="68233"/>
                  <a:pt x="3654425" y="152403"/>
                </a:cubicBezTo>
                <a:lnTo>
                  <a:pt x="3654425" y="1339847"/>
                </a:lnTo>
                <a:cubicBezTo>
                  <a:pt x="3654425" y="1424017"/>
                  <a:pt x="3586192" y="1492250"/>
                  <a:pt x="3502022" y="1492250"/>
                </a:cubicBezTo>
                <a:lnTo>
                  <a:pt x="152403" y="1492250"/>
                </a:lnTo>
                <a:cubicBezTo>
                  <a:pt x="68290" y="1492250"/>
                  <a:pt x="0" y="1423960"/>
                  <a:pt x="0" y="1339847"/>
                </a:cubicBezTo>
                <a:lnTo>
                  <a:pt x="0" y="152403"/>
                </a:lnTo>
                <a:cubicBezTo>
                  <a:pt x="0" y="68290"/>
                  <a:pt x="68290" y="0"/>
                  <a:pt x="152403" y="0"/>
                </a:cubicBezTo>
                <a:close/>
              </a:path>
            </a:pathLst>
          </a:custGeom>
          <a:gradFill flip="none" rotWithShape="1">
            <a:gsLst>
              <a:gs pos="0">
                <a:srgbClr val="161B22"/>
              </a:gs>
              <a:gs pos="100000">
                <a:srgbClr val="0D1117"/>
              </a:gs>
            </a:gsLst>
            <a:lin ang="2700000" scaled="1"/>
          </a:gradFill>
          <a:ln w="8467">
            <a:solidFill>
              <a:srgbClr val="30363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036570" y="2172970"/>
            <a:ext cx="914400" cy="914400"/>
          </a:xfrm>
          <a:custGeom>
            <a:avLst/>
            <a:gdLst/>
            <a:ahLst/>
            <a:cxnLst/>
            <a:rect l="l" t="t" r="r" b="b"/>
            <a:pathLst>
              <a:path w="914400" h="914400">
                <a:moveTo>
                  <a:pt x="457200" y="0"/>
                </a:moveTo>
                <a:lnTo>
                  <a:pt x="457200" y="0"/>
                </a:lnTo>
                <a:cubicBezTo>
                  <a:pt x="709536" y="0"/>
                  <a:pt x="914400" y="204864"/>
                  <a:pt x="914400" y="457200"/>
                </a:cubicBezTo>
                <a:lnTo>
                  <a:pt x="914400" y="457200"/>
                </a:lnTo>
                <a:cubicBezTo>
                  <a:pt x="914400" y="709536"/>
                  <a:pt x="709536" y="914400"/>
                  <a:pt x="457200" y="914400"/>
                </a:cubicBezTo>
                <a:lnTo>
                  <a:pt x="457200" y="914400"/>
                </a:lnTo>
                <a:cubicBezTo>
                  <a:pt x="204864" y="914400"/>
                  <a:pt x="0" y="709536"/>
                  <a:pt x="0" y="457200"/>
                </a:cubicBezTo>
                <a:lnTo>
                  <a:pt x="0" y="457200"/>
                </a:lnTo>
                <a:cubicBezTo>
                  <a:pt x="0" y="204864"/>
                  <a:pt x="204864" y="0"/>
                  <a:pt x="457200" y="0"/>
                </a:cubicBezTo>
                <a:close/>
              </a:path>
            </a:pathLst>
          </a:custGeom>
          <a:solidFill>
            <a:srgbClr val="58A6FF">
              <a:alpha val="10196"/>
            </a:srgbClr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577850" y="198755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58A6FF">
              <a:alpha val="2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717153" y="2092325"/>
            <a:ext cx="107156" cy="171450"/>
          </a:xfrm>
          <a:custGeom>
            <a:avLst/>
            <a:gdLst/>
            <a:ahLst/>
            <a:cxnLst/>
            <a:rect l="l" t="t" r="r" b="b"/>
            <a:pathLst>
              <a:path w="107156" h="171450">
                <a:moveTo>
                  <a:pt x="45541" y="8037"/>
                </a:moveTo>
                <a:cubicBezTo>
                  <a:pt x="45541" y="3583"/>
                  <a:pt x="49124" y="0"/>
                  <a:pt x="53578" y="0"/>
                </a:cubicBezTo>
                <a:cubicBezTo>
                  <a:pt x="58032" y="0"/>
                  <a:pt x="61615" y="3583"/>
                  <a:pt x="61615" y="8037"/>
                </a:cubicBezTo>
                <a:lnTo>
                  <a:pt x="61615" y="21431"/>
                </a:lnTo>
                <a:lnTo>
                  <a:pt x="80367" y="21431"/>
                </a:lnTo>
                <a:cubicBezTo>
                  <a:pt x="86294" y="21431"/>
                  <a:pt x="91083" y="26220"/>
                  <a:pt x="91083" y="32147"/>
                </a:cubicBezTo>
                <a:cubicBezTo>
                  <a:pt x="91083" y="38074"/>
                  <a:pt x="86294" y="42863"/>
                  <a:pt x="80367" y="42863"/>
                </a:cubicBezTo>
                <a:lnTo>
                  <a:pt x="41891" y="42863"/>
                </a:lnTo>
                <a:cubicBezTo>
                  <a:pt x="33553" y="42863"/>
                  <a:pt x="26789" y="49627"/>
                  <a:pt x="26789" y="57965"/>
                </a:cubicBezTo>
                <a:cubicBezTo>
                  <a:pt x="26789" y="65499"/>
                  <a:pt x="32314" y="71862"/>
                  <a:pt x="39748" y="72933"/>
                </a:cubicBezTo>
                <a:lnTo>
                  <a:pt x="70422" y="77320"/>
                </a:lnTo>
                <a:cubicBezTo>
                  <a:pt x="88437" y="79898"/>
                  <a:pt x="101798" y="95302"/>
                  <a:pt x="101798" y="113485"/>
                </a:cubicBezTo>
                <a:cubicBezTo>
                  <a:pt x="101798" y="133677"/>
                  <a:pt x="85424" y="150019"/>
                  <a:pt x="65265" y="150019"/>
                </a:cubicBezTo>
                <a:lnTo>
                  <a:pt x="61615" y="150019"/>
                </a:lnTo>
                <a:lnTo>
                  <a:pt x="61615" y="163413"/>
                </a:lnTo>
                <a:cubicBezTo>
                  <a:pt x="61615" y="167867"/>
                  <a:pt x="58032" y="171450"/>
                  <a:pt x="53578" y="171450"/>
                </a:cubicBezTo>
                <a:cubicBezTo>
                  <a:pt x="49124" y="171450"/>
                  <a:pt x="45541" y="167867"/>
                  <a:pt x="45541" y="163413"/>
                </a:cubicBezTo>
                <a:lnTo>
                  <a:pt x="45541" y="150019"/>
                </a:lnTo>
                <a:lnTo>
                  <a:pt x="21431" y="150019"/>
                </a:lnTo>
                <a:cubicBezTo>
                  <a:pt x="15504" y="150019"/>
                  <a:pt x="10716" y="145230"/>
                  <a:pt x="10716" y="139303"/>
                </a:cubicBezTo>
                <a:cubicBezTo>
                  <a:pt x="10716" y="133376"/>
                  <a:pt x="15504" y="128588"/>
                  <a:pt x="21431" y="128588"/>
                </a:cubicBezTo>
                <a:lnTo>
                  <a:pt x="65265" y="128588"/>
                </a:lnTo>
                <a:cubicBezTo>
                  <a:pt x="73603" y="128588"/>
                  <a:pt x="80367" y="121823"/>
                  <a:pt x="80367" y="113485"/>
                </a:cubicBezTo>
                <a:cubicBezTo>
                  <a:pt x="80367" y="105951"/>
                  <a:pt x="74842" y="99588"/>
                  <a:pt x="67408" y="98517"/>
                </a:cubicBezTo>
                <a:lnTo>
                  <a:pt x="36735" y="94130"/>
                </a:lnTo>
                <a:cubicBezTo>
                  <a:pt x="18719" y="91585"/>
                  <a:pt x="5358" y="76148"/>
                  <a:pt x="5358" y="57965"/>
                </a:cubicBezTo>
                <a:cubicBezTo>
                  <a:pt x="5358" y="37806"/>
                  <a:pt x="21733" y="21431"/>
                  <a:pt x="41891" y="21431"/>
                </a:cubicBezTo>
                <a:lnTo>
                  <a:pt x="45541" y="21431"/>
                </a:lnTo>
                <a:lnTo>
                  <a:pt x="45541" y="8037"/>
                </a:lnTo>
                <a:close/>
              </a:path>
            </a:pathLst>
          </a:custGeom>
          <a:solidFill>
            <a:srgbClr val="58A6FF"/>
          </a:solidFill>
          <a:ln/>
        </p:spPr>
      </p:sp>
      <p:sp>
        <p:nvSpPr>
          <p:cNvPr id="10" name="Text 8"/>
          <p:cNvSpPr/>
          <p:nvPr/>
        </p:nvSpPr>
        <p:spPr>
          <a:xfrm>
            <a:off x="1073150" y="2082800"/>
            <a:ext cx="8858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B94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Total Revenue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77850" y="2482851"/>
            <a:ext cx="34385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$186.86M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13569" y="2930526"/>
            <a:ext cx="100013" cy="133350"/>
          </a:xfrm>
          <a:custGeom>
            <a:avLst/>
            <a:gdLst/>
            <a:ahLst/>
            <a:cxnLst/>
            <a:rect l="l" t="t" r="r" b="b"/>
            <a:pathLst>
              <a:path w="100013" h="133350">
                <a:moveTo>
                  <a:pt x="55892" y="4532"/>
                </a:moveTo>
                <a:cubicBezTo>
                  <a:pt x="52637" y="1276"/>
                  <a:pt x="47350" y="1276"/>
                  <a:pt x="44094" y="4532"/>
                </a:cubicBezTo>
                <a:lnTo>
                  <a:pt x="2422" y="46204"/>
                </a:lnTo>
                <a:cubicBezTo>
                  <a:pt x="-833" y="49459"/>
                  <a:pt x="-833" y="54746"/>
                  <a:pt x="2422" y="58002"/>
                </a:cubicBezTo>
                <a:cubicBezTo>
                  <a:pt x="5678" y="61258"/>
                  <a:pt x="10965" y="61258"/>
                  <a:pt x="14221" y="58002"/>
                </a:cubicBezTo>
                <a:lnTo>
                  <a:pt x="41672" y="30551"/>
                </a:lnTo>
                <a:lnTo>
                  <a:pt x="41672" y="127099"/>
                </a:lnTo>
                <a:cubicBezTo>
                  <a:pt x="41672" y="131709"/>
                  <a:pt x="45396" y="135434"/>
                  <a:pt x="50006" y="135434"/>
                </a:cubicBezTo>
                <a:cubicBezTo>
                  <a:pt x="54616" y="135434"/>
                  <a:pt x="58341" y="131709"/>
                  <a:pt x="58341" y="127099"/>
                </a:cubicBezTo>
                <a:lnTo>
                  <a:pt x="58341" y="30551"/>
                </a:lnTo>
                <a:lnTo>
                  <a:pt x="85792" y="58002"/>
                </a:lnTo>
                <a:cubicBezTo>
                  <a:pt x="89048" y="61258"/>
                  <a:pt x="94335" y="61258"/>
                  <a:pt x="97590" y="58002"/>
                </a:cubicBezTo>
                <a:cubicBezTo>
                  <a:pt x="100846" y="54746"/>
                  <a:pt x="100846" y="49459"/>
                  <a:pt x="97590" y="46204"/>
                </a:cubicBezTo>
                <a:lnTo>
                  <a:pt x="55918" y="4532"/>
                </a:lnTo>
                <a:close/>
              </a:path>
            </a:pathLst>
          </a:custGeom>
          <a:solidFill>
            <a:srgbClr val="00D9FF"/>
          </a:solidFill>
          <a:ln/>
        </p:spPr>
      </p:sp>
      <p:sp>
        <p:nvSpPr>
          <p:cNvPr id="13" name="Text 11"/>
          <p:cNvSpPr/>
          <p:nvPr/>
        </p:nvSpPr>
        <p:spPr>
          <a:xfrm>
            <a:off x="820738" y="2901951"/>
            <a:ext cx="714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00D9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+12.4% YoY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84175" y="3444875"/>
            <a:ext cx="3654425" cy="1492250"/>
          </a:xfrm>
          <a:custGeom>
            <a:avLst/>
            <a:gdLst/>
            <a:ahLst/>
            <a:cxnLst/>
            <a:rect l="l" t="t" r="r" b="b"/>
            <a:pathLst>
              <a:path w="3654425" h="1492250">
                <a:moveTo>
                  <a:pt x="152403" y="0"/>
                </a:moveTo>
                <a:lnTo>
                  <a:pt x="3502022" y="0"/>
                </a:lnTo>
                <a:cubicBezTo>
                  <a:pt x="3586192" y="0"/>
                  <a:pt x="3654425" y="68233"/>
                  <a:pt x="3654425" y="152403"/>
                </a:cubicBezTo>
                <a:lnTo>
                  <a:pt x="3654425" y="1339847"/>
                </a:lnTo>
                <a:cubicBezTo>
                  <a:pt x="3654425" y="1424017"/>
                  <a:pt x="3586192" y="1492250"/>
                  <a:pt x="3502022" y="1492250"/>
                </a:cubicBezTo>
                <a:lnTo>
                  <a:pt x="152403" y="1492250"/>
                </a:lnTo>
                <a:cubicBezTo>
                  <a:pt x="68290" y="1492250"/>
                  <a:pt x="0" y="1423960"/>
                  <a:pt x="0" y="1339847"/>
                </a:cubicBezTo>
                <a:lnTo>
                  <a:pt x="0" y="152403"/>
                </a:lnTo>
                <a:cubicBezTo>
                  <a:pt x="0" y="68290"/>
                  <a:pt x="68290" y="0"/>
                  <a:pt x="152403" y="0"/>
                </a:cubicBezTo>
                <a:close/>
              </a:path>
            </a:pathLst>
          </a:custGeom>
          <a:gradFill flip="none" rotWithShape="1">
            <a:gsLst>
              <a:gs pos="0">
                <a:srgbClr val="161B22"/>
              </a:gs>
              <a:gs pos="100000">
                <a:srgbClr val="0D1117"/>
              </a:gs>
            </a:gsLst>
            <a:lin ang="2700000" scaled="1"/>
          </a:gradFill>
          <a:ln w="8467">
            <a:solidFill>
              <a:srgbClr val="30363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036570" y="3823970"/>
            <a:ext cx="914400" cy="914400"/>
          </a:xfrm>
          <a:custGeom>
            <a:avLst/>
            <a:gdLst/>
            <a:ahLst/>
            <a:cxnLst/>
            <a:rect l="l" t="t" r="r" b="b"/>
            <a:pathLst>
              <a:path w="914400" h="914400">
                <a:moveTo>
                  <a:pt x="457200" y="0"/>
                </a:moveTo>
                <a:lnTo>
                  <a:pt x="457200" y="0"/>
                </a:lnTo>
                <a:cubicBezTo>
                  <a:pt x="709536" y="0"/>
                  <a:pt x="914400" y="204864"/>
                  <a:pt x="914400" y="457200"/>
                </a:cubicBezTo>
                <a:lnTo>
                  <a:pt x="914400" y="457200"/>
                </a:lnTo>
                <a:cubicBezTo>
                  <a:pt x="914400" y="709536"/>
                  <a:pt x="709536" y="914400"/>
                  <a:pt x="457200" y="914400"/>
                </a:cubicBezTo>
                <a:lnTo>
                  <a:pt x="457200" y="914400"/>
                </a:lnTo>
                <a:cubicBezTo>
                  <a:pt x="204864" y="914400"/>
                  <a:pt x="0" y="709536"/>
                  <a:pt x="0" y="457200"/>
                </a:cubicBezTo>
                <a:lnTo>
                  <a:pt x="0" y="457200"/>
                </a:lnTo>
                <a:cubicBezTo>
                  <a:pt x="0" y="204864"/>
                  <a:pt x="204864" y="0"/>
                  <a:pt x="457200" y="0"/>
                </a:cubicBezTo>
                <a:close/>
              </a:path>
            </a:pathLst>
          </a:custGeom>
          <a:solidFill>
            <a:srgbClr val="00D9FF">
              <a:alpha val="10196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577850" y="363855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00D9FF">
              <a:alpha val="2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695722" y="3743325"/>
            <a:ext cx="150019" cy="171450"/>
          </a:xfrm>
          <a:custGeom>
            <a:avLst/>
            <a:gdLst/>
            <a:ahLst/>
            <a:cxnLst/>
            <a:rect l="l" t="t" r="r" b="b"/>
            <a:pathLst>
              <a:path w="150019" h="171450">
                <a:moveTo>
                  <a:pt x="64294" y="42863"/>
                </a:moveTo>
                <a:cubicBezTo>
                  <a:pt x="64294" y="25120"/>
                  <a:pt x="49889" y="10716"/>
                  <a:pt x="32147" y="10716"/>
                </a:cubicBezTo>
                <a:cubicBezTo>
                  <a:pt x="14405" y="10716"/>
                  <a:pt x="0" y="25120"/>
                  <a:pt x="0" y="42863"/>
                </a:cubicBezTo>
                <a:cubicBezTo>
                  <a:pt x="0" y="60605"/>
                  <a:pt x="14405" y="75009"/>
                  <a:pt x="32147" y="75009"/>
                </a:cubicBezTo>
                <a:cubicBezTo>
                  <a:pt x="49889" y="75009"/>
                  <a:pt x="64294" y="60605"/>
                  <a:pt x="64294" y="42863"/>
                </a:cubicBezTo>
                <a:close/>
                <a:moveTo>
                  <a:pt x="150019" y="128588"/>
                </a:moveTo>
                <a:cubicBezTo>
                  <a:pt x="150019" y="110845"/>
                  <a:pt x="135614" y="96441"/>
                  <a:pt x="117872" y="96441"/>
                </a:cubicBezTo>
                <a:cubicBezTo>
                  <a:pt x="100130" y="96441"/>
                  <a:pt x="85725" y="110845"/>
                  <a:pt x="85725" y="128588"/>
                </a:cubicBezTo>
                <a:cubicBezTo>
                  <a:pt x="85725" y="146330"/>
                  <a:pt x="100130" y="160734"/>
                  <a:pt x="117872" y="160734"/>
                </a:cubicBezTo>
                <a:cubicBezTo>
                  <a:pt x="135614" y="160734"/>
                  <a:pt x="150019" y="146330"/>
                  <a:pt x="150019" y="128588"/>
                </a:cubicBezTo>
                <a:close/>
                <a:moveTo>
                  <a:pt x="146871" y="28999"/>
                </a:moveTo>
                <a:cubicBezTo>
                  <a:pt x="151057" y="24813"/>
                  <a:pt x="151057" y="18016"/>
                  <a:pt x="146871" y="13830"/>
                </a:cubicBezTo>
                <a:cubicBezTo>
                  <a:pt x="142685" y="9644"/>
                  <a:pt x="135888" y="9644"/>
                  <a:pt x="131702" y="13830"/>
                </a:cubicBezTo>
                <a:lnTo>
                  <a:pt x="3114" y="142417"/>
                </a:lnTo>
                <a:cubicBezTo>
                  <a:pt x="-1072" y="146603"/>
                  <a:pt x="-1072" y="153401"/>
                  <a:pt x="3114" y="157587"/>
                </a:cubicBezTo>
                <a:cubicBezTo>
                  <a:pt x="7300" y="161772"/>
                  <a:pt x="14098" y="161772"/>
                  <a:pt x="18284" y="157587"/>
                </a:cubicBezTo>
                <a:lnTo>
                  <a:pt x="146871" y="28999"/>
                </a:lnTo>
                <a:close/>
              </a:path>
            </a:pathLst>
          </a:custGeom>
          <a:solidFill>
            <a:srgbClr val="00D9FF"/>
          </a:solidFill>
          <a:ln/>
        </p:spPr>
      </p:sp>
      <p:sp>
        <p:nvSpPr>
          <p:cNvPr id="18" name="Text 16"/>
          <p:cNvSpPr/>
          <p:nvPr/>
        </p:nvSpPr>
        <p:spPr>
          <a:xfrm>
            <a:off x="1073150" y="3733800"/>
            <a:ext cx="800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B94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Profit Margin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77850" y="4133850"/>
            <a:ext cx="34385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27.44%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13569" y="4581525"/>
            <a:ext cx="100013" cy="133350"/>
          </a:xfrm>
          <a:custGeom>
            <a:avLst/>
            <a:gdLst/>
            <a:ahLst/>
            <a:cxnLst/>
            <a:rect l="l" t="t" r="r" b="b"/>
            <a:pathLst>
              <a:path w="100013" h="133350">
                <a:moveTo>
                  <a:pt x="55892" y="4532"/>
                </a:moveTo>
                <a:cubicBezTo>
                  <a:pt x="52637" y="1276"/>
                  <a:pt x="47350" y="1276"/>
                  <a:pt x="44094" y="4532"/>
                </a:cubicBezTo>
                <a:lnTo>
                  <a:pt x="2422" y="46204"/>
                </a:lnTo>
                <a:cubicBezTo>
                  <a:pt x="-833" y="49459"/>
                  <a:pt x="-833" y="54746"/>
                  <a:pt x="2422" y="58002"/>
                </a:cubicBezTo>
                <a:cubicBezTo>
                  <a:pt x="5678" y="61258"/>
                  <a:pt x="10965" y="61258"/>
                  <a:pt x="14221" y="58002"/>
                </a:cubicBezTo>
                <a:lnTo>
                  <a:pt x="41672" y="30551"/>
                </a:lnTo>
                <a:lnTo>
                  <a:pt x="41672" y="127099"/>
                </a:lnTo>
                <a:cubicBezTo>
                  <a:pt x="41672" y="131709"/>
                  <a:pt x="45396" y="135434"/>
                  <a:pt x="50006" y="135434"/>
                </a:cubicBezTo>
                <a:cubicBezTo>
                  <a:pt x="54616" y="135434"/>
                  <a:pt x="58341" y="131709"/>
                  <a:pt x="58341" y="127099"/>
                </a:cubicBezTo>
                <a:lnTo>
                  <a:pt x="58341" y="30551"/>
                </a:lnTo>
                <a:lnTo>
                  <a:pt x="85792" y="58002"/>
                </a:lnTo>
                <a:cubicBezTo>
                  <a:pt x="89048" y="61258"/>
                  <a:pt x="94335" y="61258"/>
                  <a:pt x="97590" y="58002"/>
                </a:cubicBezTo>
                <a:cubicBezTo>
                  <a:pt x="100846" y="54746"/>
                  <a:pt x="100846" y="49459"/>
                  <a:pt x="97590" y="46204"/>
                </a:cubicBezTo>
                <a:lnTo>
                  <a:pt x="55918" y="4532"/>
                </a:lnTo>
                <a:close/>
              </a:path>
            </a:pathLst>
          </a:custGeom>
          <a:solidFill>
            <a:srgbClr val="00D9FF"/>
          </a:solidFill>
          <a:ln/>
        </p:spPr>
      </p:sp>
      <p:sp>
        <p:nvSpPr>
          <p:cNvPr id="21" name="Text 19"/>
          <p:cNvSpPr/>
          <p:nvPr/>
        </p:nvSpPr>
        <p:spPr>
          <a:xfrm>
            <a:off x="820738" y="4552950"/>
            <a:ext cx="9715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00D9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+3.2% vs Target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384175" y="5095876"/>
            <a:ext cx="3654425" cy="1492250"/>
          </a:xfrm>
          <a:custGeom>
            <a:avLst/>
            <a:gdLst/>
            <a:ahLst/>
            <a:cxnLst/>
            <a:rect l="l" t="t" r="r" b="b"/>
            <a:pathLst>
              <a:path w="3654425" h="1492250">
                <a:moveTo>
                  <a:pt x="152403" y="0"/>
                </a:moveTo>
                <a:lnTo>
                  <a:pt x="3502022" y="0"/>
                </a:lnTo>
                <a:cubicBezTo>
                  <a:pt x="3586192" y="0"/>
                  <a:pt x="3654425" y="68233"/>
                  <a:pt x="3654425" y="152403"/>
                </a:cubicBezTo>
                <a:lnTo>
                  <a:pt x="3654425" y="1339847"/>
                </a:lnTo>
                <a:cubicBezTo>
                  <a:pt x="3654425" y="1424017"/>
                  <a:pt x="3586192" y="1492250"/>
                  <a:pt x="3502022" y="1492250"/>
                </a:cubicBezTo>
                <a:lnTo>
                  <a:pt x="152403" y="1492250"/>
                </a:lnTo>
                <a:cubicBezTo>
                  <a:pt x="68290" y="1492250"/>
                  <a:pt x="0" y="1423960"/>
                  <a:pt x="0" y="1339847"/>
                </a:cubicBezTo>
                <a:lnTo>
                  <a:pt x="0" y="152403"/>
                </a:lnTo>
                <a:cubicBezTo>
                  <a:pt x="0" y="68290"/>
                  <a:pt x="68290" y="0"/>
                  <a:pt x="152403" y="0"/>
                </a:cubicBezTo>
                <a:close/>
              </a:path>
            </a:pathLst>
          </a:custGeom>
          <a:gradFill flip="none" rotWithShape="1">
            <a:gsLst>
              <a:gs pos="0">
                <a:srgbClr val="161B22"/>
              </a:gs>
              <a:gs pos="100000">
                <a:srgbClr val="0D1117"/>
              </a:gs>
            </a:gsLst>
            <a:lin ang="2700000" scaled="1"/>
          </a:gradFill>
          <a:ln w="8467">
            <a:solidFill>
              <a:srgbClr val="30363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036570" y="5474970"/>
            <a:ext cx="914400" cy="914400"/>
          </a:xfrm>
          <a:custGeom>
            <a:avLst/>
            <a:gdLst/>
            <a:ahLst/>
            <a:cxnLst/>
            <a:rect l="l" t="t" r="r" b="b"/>
            <a:pathLst>
              <a:path w="914400" h="914400">
                <a:moveTo>
                  <a:pt x="457200" y="0"/>
                </a:moveTo>
                <a:lnTo>
                  <a:pt x="457200" y="0"/>
                </a:lnTo>
                <a:cubicBezTo>
                  <a:pt x="709536" y="0"/>
                  <a:pt x="914400" y="204864"/>
                  <a:pt x="914400" y="457200"/>
                </a:cubicBezTo>
                <a:lnTo>
                  <a:pt x="914400" y="457200"/>
                </a:lnTo>
                <a:cubicBezTo>
                  <a:pt x="914400" y="709536"/>
                  <a:pt x="709536" y="914400"/>
                  <a:pt x="457200" y="914400"/>
                </a:cubicBezTo>
                <a:lnTo>
                  <a:pt x="457200" y="914400"/>
                </a:lnTo>
                <a:cubicBezTo>
                  <a:pt x="204864" y="914400"/>
                  <a:pt x="0" y="709536"/>
                  <a:pt x="0" y="457200"/>
                </a:cubicBezTo>
                <a:lnTo>
                  <a:pt x="0" y="457200"/>
                </a:lnTo>
                <a:cubicBezTo>
                  <a:pt x="0" y="204864"/>
                  <a:pt x="204864" y="0"/>
                  <a:pt x="457200" y="0"/>
                </a:cubicBezTo>
                <a:close/>
              </a:path>
            </a:pathLst>
          </a:custGeom>
          <a:solidFill>
            <a:srgbClr val="58A6FF">
              <a:alpha val="10196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577850" y="528955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58A6FF">
              <a:alpha val="20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685006" y="539432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5725" y="171450"/>
                </a:moveTo>
                <a:cubicBezTo>
                  <a:pt x="133038" y="171450"/>
                  <a:pt x="171450" y="133038"/>
                  <a:pt x="171450" y="85725"/>
                </a:cubicBezTo>
                <a:cubicBezTo>
                  <a:pt x="171450" y="38412"/>
                  <a:pt x="133038" y="0"/>
                  <a:pt x="85725" y="0"/>
                </a:cubicBezTo>
                <a:cubicBezTo>
                  <a:pt x="38412" y="0"/>
                  <a:pt x="0" y="38412"/>
                  <a:pt x="0" y="85725"/>
                </a:cubicBezTo>
                <a:cubicBezTo>
                  <a:pt x="0" y="133038"/>
                  <a:pt x="38412" y="171450"/>
                  <a:pt x="85725" y="171450"/>
                </a:cubicBezTo>
                <a:close/>
                <a:moveTo>
                  <a:pt x="113987" y="71225"/>
                </a:moveTo>
                <a:lnTo>
                  <a:pt x="87198" y="114088"/>
                </a:lnTo>
                <a:cubicBezTo>
                  <a:pt x="85792" y="116332"/>
                  <a:pt x="83381" y="117738"/>
                  <a:pt x="80736" y="117872"/>
                </a:cubicBezTo>
                <a:cubicBezTo>
                  <a:pt x="78090" y="118006"/>
                  <a:pt x="75545" y="116800"/>
                  <a:pt x="73971" y="114657"/>
                </a:cubicBezTo>
                <a:lnTo>
                  <a:pt x="57898" y="93226"/>
                </a:lnTo>
                <a:cubicBezTo>
                  <a:pt x="55219" y="89676"/>
                  <a:pt x="55956" y="84653"/>
                  <a:pt x="59505" y="81975"/>
                </a:cubicBezTo>
                <a:cubicBezTo>
                  <a:pt x="63055" y="79296"/>
                  <a:pt x="68078" y="80032"/>
                  <a:pt x="70757" y="83582"/>
                </a:cubicBezTo>
                <a:lnTo>
                  <a:pt x="79798" y="95637"/>
                </a:lnTo>
                <a:lnTo>
                  <a:pt x="100359" y="62720"/>
                </a:lnTo>
                <a:cubicBezTo>
                  <a:pt x="102703" y="58969"/>
                  <a:pt x="107659" y="57797"/>
                  <a:pt x="111443" y="60175"/>
                </a:cubicBezTo>
                <a:cubicBezTo>
                  <a:pt x="115226" y="62552"/>
                  <a:pt x="116365" y="67475"/>
                  <a:pt x="113987" y="71259"/>
                </a:cubicBezTo>
                <a:close/>
              </a:path>
            </a:pathLst>
          </a:custGeom>
          <a:solidFill>
            <a:srgbClr val="58A6FF"/>
          </a:solidFill>
          <a:ln/>
        </p:spPr>
      </p:sp>
      <p:sp>
        <p:nvSpPr>
          <p:cNvPr id="26" name="Text 24"/>
          <p:cNvSpPr/>
          <p:nvPr/>
        </p:nvSpPr>
        <p:spPr>
          <a:xfrm>
            <a:off x="1073150" y="5384800"/>
            <a:ext cx="11334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B94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Perfect Order Rate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77850" y="5784850"/>
            <a:ext cx="34385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75%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96900" y="6232525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58341" y="41672"/>
                </a:moveTo>
                <a:cubicBezTo>
                  <a:pt x="58341" y="37072"/>
                  <a:pt x="62075" y="33337"/>
                  <a:pt x="66675" y="33337"/>
                </a:cubicBezTo>
                <a:cubicBezTo>
                  <a:pt x="71275" y="33337"/>
                  <a:pt x="75009" y="37072"/>
                  <a:pt x="75009" y="41672"/>
                </a:cubicBezTo>
                <a:cubicBezTo>
                  <a:pt x="75009" y="46272"/>
                  <a:pt x="71275" y="50006"/>
                  <a:pt x="66675" y="50006"/>
                </a:cubicBezTo>
                <a:cubicBezTo>
                  <a:pt x="62075" y="50006"/>
                  <a:pt x="58341" y="46272"/>
                  <a:pt x="58341" y="41672"/>
                </a:cubicBezTo>
                <a:close/>
                <a:moveTo>
                  <a:pt x="56257" y="58341"/>
                </a:moveTo>
                <a:lnTo>
                  <a:pt x="68759" y="58341"/>
                </a:lnTo>
                <a:cubicBezTo>
                  <a:pt x="72223" y="58341"/>
                  <a:pt x="75009" y="61127"/>
                  <a:pt x="75009" y="64591"/>
                </a:cubicBezTo>
                <a:lnTo>
                  <a:pt x="75009" y="87511"/>
                </a:lnTo>
                <a:lnTo>
                  <a:pt x="77093" y="87511"/>
                </a:lnTo>
                <a:cubicBezTo>
                  <a:pt x="80557" y="87511"/>
                  <a:pt x="83344" y="90298"/>
                  <a:pt x="83344" y="93762"/>
                </a:cubicBezTo>
                <a:cubicBezTo>
                  <a:pt x="83344" y="97226"/>
                  <a:pt x="80557" y="100013"/>
                  <a:pt x="77093" y="100013"/>
                </a:cubicBezTo>
                <a:lnTo>
                  <a:pt x="56257" y="100013"/>
                </a:lnTo>
                <a:cubicBezTo>
                  <a:pt x="52793" y="100013"/>
                  <a:pt x="50006" y="97226"/>
                  <a:pt x="50006" y="93762"/>
                </a:cubicBezTo>
                <a:cubicBezTo>
                  <a:pt x="50006" y="90298"/>
                  <a:pt x="52793" y="87511"/>
                  <a:pt x="56257" y="87511"/>
                </a:cubicBezTo>
                <a:lnTo>
                  <a:pt x="62508" y="87511"/>
                </a:lnTo>
                <a:lnTo>
                  <a:pt x="62508" y="70842"/>
                </a:lnTo>
                <a:lnTo>
                  <a:pt x="56257" y="70842"/>
                </a:lnTo>
                <a:cubicBezTo>
                  <a:pt x="52793" y="70842"/>
                  <a:pt x="50006" y="68055"/>
                  <a:pt x="50006" y="64591"/>
                </a:cubicBezTo>
                <a:cubicBezTo>
                  <a:pt x="50006" y="61127"/>
                  <a:pt x="52793" y="58341"/>
                  <a:pt x="56257" y="58341"/>
                </a:cubicBezTo>
                <a:close/>
              </a:path>
            </a:pathLst>
          </a:custGeom>
          <a:solidFill>
            <a:srgbClr val="8B949E"/>
          </a:solidFill>
          <a:ln/>
        </p:spPr>
      </p:sp>
      <p:sp>
        <p:nvSpPr>
          <p:cNvPr id="29" name="Text 27"/>
          <p:cNvSpPr/>
          <p:nvPr/>
        </p:nvSpPr>
        <p:spPr>
          <a:xfrm>
            <a:off x="820738" y="6203950"/>
            <a:ext cx="9429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B94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Baseline Metric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4270375" y="1793875"/>
            <a:ext cx="7540625" cy="4797425"/>
          </a:xfrm>
          <a:custGeom>
            <a:avLst/>
            <a:gdLst/>
            <a:ahLst/>
            <a:cxnLst/>
            <a:rect l="l" t="t" r="r" b="b"/>
            <a:pathLst>
              <a:path w="7540625" h="4797425">
                <a:moveTo>
                  <a:pt x="152414" y="0"/>
                </a:moveTo>
                <a:lnTo>
                  <a:pt x="7388211" y="0"/>
                </a:lnTo>
                <a:cubicBezTo>
                  <a:pt x="7472387" y="0"/>
                  <a:pt x="7540625" y="68238"/>
                  <a:pt x="7540625" y="152414"/>
                </a:cubicBezTo>
                <a:lnTo>
                  <a:pt x="7540625" y="4645011"/>
                </a:lnTo>
                <a:cubicBezTo>
                  <a:pt x="7540625" y="4729187"/>
                  <a:pt x="7472387" y="4797425"/>
                  <a:pt x="7388211" y="4797425"/>
                </a:cubicBezTo>
                <a:lnTo>
                  <a:pt x="152414" y="4797425"/>
                </a:lnTo>
                <a:cubicBezTo>
                  <a:pt x="68238" y="4797425"/>
                  <a:pt x="0" y="4729187"/>
                  <a:pt x="0" y="4645011"/>
                </a:cubicBezTo>
                <a:lnTo>
                  <a:pt x="0" y="152414"/>
                </a:lnTo>
                <a:cubicBezTo>
                  <a:pt x="0" y="68295"/>
                  <a:pt x="68295" y="0"/>
                  <a:pt x="152414" y="0"/>
                </a:cubicBezTo>
                <a:close/>
              </a:path>
            </a:pathLst>
          </a:custGeom>
          <a:gradFill flip="none" rotWithShape="1">
            <a:gsLst>
              <a:gs pos="0">
                <a:srgbClr val="161B22"/>
              </a:gs>
              <a:gs pos="100000">
                <a:srgbClr val="0D1117"/>
              </a:gs>
            </a:gsLst>
            <a:lin ang="2700000" scaled="1"/>
          </a:gradFill>
          <a:ln w="8467">
            <a:solidFill>
              <a:srgbClr val="30363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02150" y="2025650"/>
            <a:ext cx="22955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Main Dashboard Overview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4502150" y="2292351"/>
            <a:ext cx="22669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B94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Live operational intelligence feed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11203584" y="2216151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38100"/>
                </a:lnTo>
                <a:cubicBezTo>
                  <a:pt x="76200" y="59128"/>
                  <a:pt x="59128" y="76200"/>
                  <a:pt x="381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0D9FF"/>
          </a:solidFill>
          <a:ln/>
        </p:spPr>
      </p:sp>
      <p:sp>
        <p:nvSpPr>
          <p:cNvPr id="34" name="Text 32"/>
          <p:cNvSpPr/>
          <p:nvPr/>
        </p:nvSpPr>
        <p:spPr>
          <a:xfrm>
            <a:off x="11355984" y="2178050"/>
            <a:ext cx="2762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00D9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LIVE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4505325" y="2638426"/>
            <a:ext cx="7064375" cy="3044825"/>
          </a:xfrm>
          <a:custGeom>
            <a:avLst/>
            <a:gdLst/>
            <a:ahLst/>
            <a:cxnLst/>
            <a:rect l="l" t="t" r="r" b="b"/>
            <a:pathLst>
              <a:path w="7064375" h="3044825">
                <a:moveTo>
                  <a:pt x="114303" y="0"/>
                </a:moveTo>
                <a:lnTo>
                  <a:pt x="6950072" y="0"/>
                </a:lnTo>
                <a:cubicBezTo>
                  <a:pt x="7013200" y="0"/>
                  <a:pt x="7064375" y="51175"/>
                  <a:pt x="7064375" y="114303"/>
                </a:cubicBezTo>
                <a:lnTo>
                  <a:pt x="7064375" y="2930522"/>
                </a:lnTo>
                <a:cubicBezTo>
                  <a:pt x="7064375" y="2993650"/>
                  <a:pt x="7013200" y="3044825"/>
                  <a:pt x="6950072" y="3044825"/>
                </a:cubicBezTo>
                <a:lnTo>
                  <a:pt x="114303" y="3044825"/>
                </a:lnTo>
                <a:cubicBezTo>
                  <a:pt x="51175" y="3044825"/>
                  <a:pt x="0" y="2993650"/>
                  <a:pt x="0" y="2930522"/>
                </a:cubicBezTo>
                <a:lnTo>
                  <a:pt x="0" y="114303"/>
                </a:lnTo>
                <a:cubicBezTo>
                  <a:pt x="0" y="51175"/>
                  <a:pt x="51175" y="0"/>
                  <a:pt x="114303" y="0"/>
                </a:cubicBezTo>
                <a:close/>
              </a:path>
            </a:pathLst>
          </a:custGeom>
          <a:solidFill>
            <a:srgbClr val="0D1117">
              <a:alpha val="50196"/>
            </a:srgbClr>
          </a:solidFill>
          <a:ln w="8467">
            <a:solidFill>
              <a:srgbClr val="30363D"/>
            </a:solidFill>
            <a:prstDash val="solid"/>
          </a:ln>
        </p:spPr>
      </p:sp>
      <p:pic>
        <p:nvPicPr>
          <p:cNvPr id="36" name="Image 0" descr="https://kimi-web-img.moonshot.cn/img/thumbs.dreamstime.com/59945a552e2fdf67a8bb2dfceaa790f4369ad80a.jpg"/>
          <p:cNvPicPr>
            <a:picLocks noChangeAspect="1"/>
          </p:cNvPicPr>
          <p:nvPr/>
        </p:nvPicPr>
        <p:blipFill>
          <a:blip r:embed="rId3">
            <a:alphaModFix amt="60000"/>
          </a:blip>
          <a:srcRect t="10595" b="10595"/>
          <a:stretch/>
        </p:blipFill>
        <p:spPr>
          <a:xfrm>
            <a:off x="4508500" y="2641600"/>
            <a:ext cx="7058025" cy="3038475"/>
          </a:xfrm>
          <a:prstGeom prst="roundRect">
            <a:avLst>
              <a:gd name="adj" fmla="val 3762"/>
            </a:avLst>
          </a:prstGeom>
        </p:spPr>
      </p:pic>
      <p:sp>
        <p:nvSpPr>
          <p:cNvPr id="37" name="Shape 34"/>
          <p:cNvSpPr/>
          <p:nvPr/>
        </p:nvSpPr>
        <p:spPr>
          <a:xfrm>
            <a:off x="4508500" y="2641600"/>
            <a:ext cx="7058025" cy="3038475"/>
          </a:xfrm>
          <a:custGeom>
            <a:avLst/>
            <a:gdLst/>
            <a:ahLst/>
            <a:cxnLst/>
            <a:rect l="l" t="t" r="r" b="b"/>
            <a:pathLst>
              <a:path w="7058025" h="3038475">
                <a:moveTo>
                  <a:pt x="0" y="0"/>
                </a:moveTo>
                <a:lnTo>
                  <a:pt x="7058025" y="0"/>
                </a:lnTo>
                <a:lnTo>
                  <a:pt x="7058025" y="3038475"/>
                </a:lnTo>
                <a:lnTo>
                  <a:pt x="0" y="3038475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0D1117"/>
              </a:gs>
              <a:gs pos="50000">
                <a:srgbClr val="000000">
                  <a:alpha val="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</a:gradFill>
          <a:ln/>
        </p:spPr>
      </p:sp>
      <p:sp>
        <p:nvSpPr>
          <p:cNvPr id="38" name="Shape 35"/>
          <p:cNvSpPr/>
          <p:nvPr/>
        </p:nvSpPr>
        <p:spPr>
          <a:xfrm>
            <a:off x="7753251" y="3530601"/>
            <a:ext cx="571500" cy="571500"/>
          </a:xfrm>
          <a:custGeom>
            <a:avLst/>
            <a:gdLst/>
            <a:ahLst/>
            <a:cxnLst/>
            <a:rect l="l" t="t" r="r" b="b"/>
            <a:pathLst>
              <a:path w="571500" h="571500">
                <a:moveTo>
                  <a:pt x="35719" y="35719"/>
                </a:moveTo>
                <a:cubicBezTo>
                  <a:pt x="55476" y="35719"/>
                  <a:pt x="71438" y="51681"/>
                  <a:pt x="71438" y="71438"/>
                </a:cubicBezTo>
                <a:lnTo>
                  <a:pt x="71438" y="446484"/>
                </a:lnTo>
                <a:cubicBezTo>
                  <a:pt x="71438" y="456307"/>
                  <a:pt x="79474" y="464344"/>
                  <a:pt x="89297" y="464344"/>
                </a:cubicBezTo>
                <a:lnTo>
                  <a:pt x="535781" y="464344"/>
                </a:lnTo>
                <a:cubicBezTo>
                  <a:pt x="555538" y="464344"/>
                  <a:pt x="571500" y="480306"/>
                  <a:pt x="571500" y="500063"/>
                </a:cubicBezTo>
                <a:cubicBezTo>
                  <a:pt x="571500" y="519819"/>
                  <a:pt x="555538" y="535781"/>
                  <a:pt x="535781" y="535781"/>
                </a:cubicBezTo>
                <a:lnTo>
                  <a:pt x="89297" y="535781"/>
                </a:lnTo>
                <a:cubicBezTo>
                  <a:pt x="39960" y="535781"/>
                  <a:pt x="0" y="495821"/>
                  <a:pt x="0" y="446484"/>
                </a:cubicBezTo>
                <a:lnTo>
                  <a:pt x="0" y="71438"/>
                </a:lnTo>
                <a:cubicBezTo>
                  <a:pt x="0" y="51681"/>
                  <a:pt x="15962" y="35719"/>
                  <a:pt x="35719" y="35719"/>
                </a:cubicBezTo>
                <a:close/>
                <a:moveTo>
                  <a:pt x="267891" y="107156"/>
                </a:moveTo>
                <a:cubicBezTo>
                  <a:pt x="275369" y="107156"/>
                  <a:pt x="282513" y="110282"/>
                  <a:pt x="287648" y="115863"/>
                </a:cubicBezTo>
                <a:lnTo>
                  <a:pt x="367010" y="202369"/>
                </a:lnTo>
                <a:lnTo>
                  <a:pt x="418579" y="150688"/>
                </a:lnTo>
                <a:cubicBezTo>
                  <a:pt x="429071" y="140196"/>
                  <a:pt x="446038" y="140196"/>
                  <a:pt x="456419" y="150688"/>
                </a:cubicBezTo>
                <a:lnTo>
                  <a:pt x="527856" y="222126"/>
                </a:lnTo>
                <a:cubicBezTo>
                  <a:pt x="532879" y="227149"/>
                  <a:pt x="535670" y="233958"/>
                  <a:pt x="535670" y="241102"/>
                </a:cubicBezTo>
                <a:lnTo>
                  <a:pt x="535670" y="366117"/>
                </a:lnTo>
                <a:cubicBezTo>
                  <a:pt x="535670" y="380963"/>
                  <a:pt x="523726" y="392906"/>
                  <a:pt x="508881" y="392906"/>
                </a:cubicBezTo>
                <a:lnTo>
                  <a:pt x="169552" y="392906"/>
                </a:lnTo>
                <a:cubicBezTo>
                  <a:pt x="154707" y="392906"/>
                  <a:pt x="142763" y="380963"/>
                  <a:pt x="142763" y="366117"/>
                </a:cubicBezTo>
                <a:lnTo>
                  <a:pt x="142763" y="241102"/>
                </a:lnTo>
                <a:cubicBezTo>
                  <a:pt x="142763" y="234404"/>
                  <a:pt x="145331" y="227930"/>
                  <a:pt x="149796" y="223019"/>
                </a:cubicBezTo>
                <a:lnTo>
                  <a:pt x="248022" y="115863"/>
                </a:lnTo>
                <a:cubicBezTo>
                  <a:pt x="253045" y="110282"/>
                  <a:pt x="260300" y="107156"/>
                  <a:pt x="267779" y="107156"/>
                </a:cubicBezTo>
                <a:close/>
              </a:path>
            </a:pathLst>
          </a:custGeom>
          <a:solidFill>
            <a:srgbClr val="58A6FF">
              <a:alpha val="50196"/>
            </a:srgbClr>
          </a:solidFill>
          <a:ln/>
        </p:spPr>
      </p:sp>
      <p:sp>
        <p:nvSpPr>
          <p:cNvPr id="39" name="Text 36"/>
          <p:cNvSpPr/>
          <p:nvPr/>
        </p:nvSpPr>
        <p:spPr>
          <a:xfrm>
            <a:off x="6696075" y="4254501"/>
            <a:ext cx="26860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dirty="0">
                <a:solidFill>
                  <a:srgbClr val="8B94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Dashboard Screenshot Placeholder</a:t>
            </a:r>
            <a:endParaRPr lang="en-US" sz="1600" dirty="0"/>
          </a:p>
        </p:txBody>
      </p:sp>
      <p:sp>
        <p:nvSpPr>
          <p:cNvPr id="40" name="Text 37"/>
          <p:cNvSpPr/>
          <p:nvPr/>
        </p:nvSpPr>
        <p:spPr>
          <a:xfrm>
            <a:off x="6705600" y="4597401"/>
            <a:ext cx="2667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58A6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Real-time KPI visualization</a:t>
            </a:r>
            <a:endParaRPr lang="en-US" sz="1600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3DF6CFA-4E58-5873-1046-7730F1A89F17}"/>
              </a:ext>
            </a:extLst>
          </p:cNvPr>
          <p:cNvSpPr txBox="1"/>
          <p:nvPr/>
        </p:nvSpPr>
        <p:spPr>
          <a:xfrm>
            <a:off x="9575264" y="161925"/>
            <a:ext cx="26161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ssharma9663@gmail.com</a:t>
            </a:r>
          </a:p>
        </p:txBody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id="{3967EC98-2B22-4A32-A48D-CC5AF38CEE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13251" y="2668271"/>
            <a:ext cx="7218958" cy="3697604"/>
          </a:xfrm>
          <a:prstGeom prst="roundRect">
            <a:avLst>
              <a:gd name="adj" fmla="val 4256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45" name="Graphic 44" descr="Upward trend with solid fill">
            <a:extLst>
              <a:ext uri="{FF2B5EF4-FFF2-40B4-BE49-F238E27FC236}">
                <a16:creationId xmlns:a16="http://schemas.microsoft.com/office/drawing/2014/main" id="{DF42603E-20F1-33E6-6DCD-030887F7B41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223576" y="2364104"/>
            <a:ext cx="554991" cy="554991"/>
          </a:xfrm>
          <a:prstGeom prst="rect">
            <a:avLst/>
          </a:prstGeom>
        </p:spPr>
      </p:pic>
      <p:pic>
        <p:nvPicPr>
          <p:cNvPr id="47" name="Graphic 46" descr="Money with solid fill">
            <a:extLst>
              <a:ext uri="{FF2B5EF4-FFF2-40B4-BE49-F238E27FC236}">
                <a16:creationId xmlns:a16="http://schemas.microsoft.com/office/drawing/2014/main" id="{F07317B5-18B8-C7E1-9231-BB2779F10CB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219450" y="3924300"/>
            <a:ext cx="584200" cy="584200"/>
          </a:xfrm>
          <a:prstGeom prst="rect">
            <a:avLst/>
          </a:prstGeom>
        </p:spPr>
      </p:pic>
      <p:pic>
        <p:nvPicPr>
          <p:cNvPr id="49" name="Graphic 48" descr="Handshake with solid fill">
            <a:extLst>
              <a:ext uri="{FF2B5EF4-FFF2-40B4-BE49-F238E27FC236}">
                <a16:creationId xmlns:a16="http://schemas.microsoft.com/office/drawing/2014/main" id="{03ECE801-9B76-8873-89AA-87CD83E30499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138170" y="5626100"/>
            <a:ext cx="665480" cy="665480"/>
          </a:xfrm>
          <a:prstGeom prst="rect">
            <a:avLst/>
          </a:prstGeom>
        </p:spPr>
      </p:pic>
      <p:pic>
        <p:nvPicPr>
          <p:cNvPr id="51" name="Picture 50">
            <a:extLst>
              <a:ext uri="{FF2B5EF4-FFF2-40B4-BE49-F238E27FC236}">
                <a16:creationId xmlns:a16="http://schemas.microsoft.com/office/drawing/2014/main" id="{74045A84-B1D6-CF2A-550A-E8D0AD65F89B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837473B0-CC2E-450A-ABE3-18F120FF3D39}">
                <a1611:picAttrSrcUrl xmlns:a1611="http://schemas.microsoft.com/office/drawing/2016/11/main" r:id="rId12"/>
              </a:ext>
            </a:extLst>
          </a:blip>
          <a:stretch>
            <a:fillRect/>
          </a:stretch>
        </p:blipFill>
        <p:spPr>
          <a:xfrm>
            <a:off x="11085773" y="603884"/>
            <a:ext cx="989041" cy="989041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8100" cy="304800"/>
          </a:xfrm>
          <a:custGeom>
            <a:avLst/>
            <a:gdLst/>
            <a:ahLst/>
            <a:cxnLst/>
            <a:rect l="l" t="t" r="r" b="b"/>
            <a:pathLst>
              <a:path w="38100" h="304800">
                <a:moveTo>
                  <a:pt x="19050" y="0"/>
                </a:moveTo>
                <a:lnTo>
                  <a:pt x="19050" y="0"/>
                </a:lnTo>
                <a:cubicBezTo>
                  <a:pt x="29564" y="0"/>
                  <a:pt x="38100" y="8536"/>
                  <a:pt x="38100" y="19050"/>
                </a:cubicBezTo>
                <a:lnTo>
                  <a:pt x="38100" y="285750"/>
                </a:lnTo>
                <a:cubicBezTo>
                  <a:pt x="38100" y="296264"/>
                  <a:pt x="29564" y="304800"/>
                  <a:pt x="19050" y="304800"/>
                </a:cubicBezTo>
                <a:lnTo>
                  <a:pt x="19050" y="304800"/>
                </a:lnTo>
                <a:cubicBezTo>
                  <a:pt x="8536" y="304800"/>
                  <a:pt x="0" y="296264"/>
                  <a:pt x="0" y="285750"/>
                </a:cubicBezTo>
                <a:lnTo>
                  <a:pt x="0" y="19050"/>
                </a:lnTo>
                <a:cubicBezTo>
                  <a:pt x="0" y="8536"/>
                  <a:pt x="8536" y="0"/>
                  <a:pt x="19050" y="0"/>
                </a:cubicBezTo>
                <a:close/>
              </a:path>
            </a:pathLst>
          </a:custGeom>
          <a:gradFill flip="none" rotWithShape="1">
            <a:gsLst>
              <a:gs pos="0">
                <a:srgbClr val="58A6FF"/>
              </a:gs>
              <a:gs pos="0">
                <a:srgbClr val="FFFFFF"/>
              </a:gs>
              <a:gs pos="100000">
                <a:srgbClr val="00D9FF"/>
              </a:gs>
            </a:gsLst>
            <a:lin ang="5400000" scaled="1"/>
          </a:gradFill>
          <a:ln/>
        </p:spPr>
      </p:sp>
      <p:sp>
        <p:nvSpPr>
          <p:cNvPr id="3" name="Text 1"/>
          <p:cNvSpPr/>
          <p:nvPr/>
        </p:nvSpPr>
        <p:spPr>
          <a:xfrm>
            <a:off x="533400" y="438150"/>
            <a:ext cx="1905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kern="0" spc="210" dirty="0">
                <a:solidFill>
                  <a:srgbClr val="58A6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Supplier Analytics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7620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E6EDF3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Strategic Sourcing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81000" y="1295400"/>
            <a:ext cx="11515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8B94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Supplier Efficiency &amp; Unit Cost Optimization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84175" y="1755775"/>
            <a:ext cx="3673475" cy="1377950"/>
          </a:xfrm>
          <a:custGeom>
            <a:avLst/>
            <a:gdLst/>
            <a:ahLst/>
            <a:cxnLst/>
            <a:rect l="l" t="t" r="r" b="b"/>
            <a:pathLst>
              <a:path w="3673475" h="1377950">
                <a:moveTo>
                  <a:pt x="152401" y="0"/>
                </a:moveTo>
                <a:lnTo>
                  <a:pt x="3521074" y="0"/>
                </a:lnTo>
                <a:cubicBezTo>
                  <a:pt x="3605243" y="0"/>
                  <a:pt x="3673475" y="68232"/>
                  <a:pt x="3673475" y="152401"/>
                </a:cubicBezTo>
                <a:lnTo>
                  <a:pt x="3673475" y="1225549"/>
                </a:lnTo>
                <a:cubicBezTo>
                  <a:pt x="3673475" y="1309718"/>
                  <a:pt x="3605243" y="1377950"/>
                  <a:pt x="3521074" y="1377950"/>
                </a:cubicBezTo>
                <a:lnTo>
                  <a:pt x="152401" y="1377950"/>
                </a:lnTo>
                <a:cubicBezTo>
                  <a:pt x="68232" y="1377950"/>
                  <a:pt x="0" y="1309718"/>
                  <a:pt x="0" y="1225549"/>
                </a:cubicBezTo>
                <a:lnTo>
                  <a:pt x="0" y="152401"/>
                </a:lnTo>
                <a:cubicBezTo>
                  <a:pt x="0" y="68289"/>
                  <a:pt x="68289" y="0"/>
                  <a:pt x="152401" y="0"/>
                </a:cubicBezTo>
                <a:close/>
              </a:path>
            </a:pathLst>
          </a:custGeom>
          <a:gradFill flip="none" rotWithShape="1">
            <a:gsLst>
              <a:gs pos="0">
                <a:srgbClr val="161B22"/>
              </a:gs>
              <a:gs pos="100000">
                <a:srgbClr val="0D1117"/>
              </a:gs>
            </a:gsLst>
            <a:lin ang="2700000" scaled="1"/>
          </a:gradFill>
          <a:ln w="8467">
            <a:solidFill>
              <a:srgbClr val="30363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7850" y="1987551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gradFill flip="none" rotWithShape="1">
            <a:gsLst>
              <a:gs pos="0">
                <a:srgbClr val="58A6FF"/>
              </a:gs>
              <a:gs pos="100000">
                <a:srgbClr val="00D9FF"/>
              </a:gs>
            </a:gsLst>
            <a:lin ang="2700000" scaled="1"/>
          </a:gradFill>
          <a:ln/>
        </p:spPr>
      </p:sp>
      <p:sp>
        <p:nvSpPr>
          <p:cNvPr id="8" name="Shape 6"/>
          <p:cNvSpPr/>
          <p:nvPr/>
        </p:nvSpPr>
        <p:spPr>
          <a:xfrm>
            <a:off x="711200" y="2120901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0"/>
                </a:moveTo>
                <a:cubicBezTo>
                  <a:pt x="147820" y="0"/>
                  <a:pt x="190500" y="42680"/>
                  <a:pt x="190500" y="95250"/>
                </a:cubicBezTo>
                <a:cubicBezTo>
                  <a:pt x="190500" y="147820"/>
                  <a:pt x="147820" y="190500"/>
                  <a:pt x="95250" y="190500"/>
                </a:cubicBezTo>
                <a:cubicBezTo>
                  <a:pt x="42680" y="190500"/>
                  <a:pt x="0" y="147820"/>
                  <a:pt x="0" y="95250"/>
                </a:cubicBezTo>
                <a:cubicBezTo>
                  <a:pt x="0" y="42680"/>
                  <a:pt x="42680" y="0"/>
                  <a:pt x="95250" y="0"/>
                </a:cubicBezTo>
                <a:close/>
                <a:moveTo>
                  <a:pt x="86320" y="44648"/>
                </a:moveTo>
                <a:lnTo>
                  <a:pt x="86320" y="95250"/>
                </a:lnTo>
                <a:cubicBezTo>
                  <a:pt x="86320" y="98227"/>
                  <a:pt x="87809" y="101017"/>
                  <a:pt x="90301" y="102691"/>
                </a:cubicBezTo>
                <a:lnTo>
                  <a:pt x="126020" y="126504"/>
                </a:lnTo>
                <a:cubicBezTo>
                  <a:pt x="130113" y="129257"/>
                  <a:pt x="135657" y="128141"/>
                  <a:pt x="138410" y="124011"/>
                </a:cubicBezTo>
                <a:cubicBezTo>
                  <a:pt x="141163" y="119881"/>
                  <a:pt x="140047" y="114374"/>
                  <a:pt x="135917" y="111621"/>
                </a:cubicBezTo>
                <a:lnTo>
                  <a:pt x="104180" y="90488"/>
                </a:lnTo>
                <a:lnTo>
                  <a:pt x="104180" y="44648"/>
                </a:lnTo>
                <a:cubicBezTo>
                  <a:pt x="104180" y="39700"/>
                  <a:pt x="100199" y="35719"/>
                  <a:pt x="95250" y="35719"/>
                </a:cubicBezTo>
                <a:cubicBezTo>
                  <a:pt x="90301" y="35719"/>
                  <a:pt x="86320" y="39700"/>
                  <a:pt x="86320" y="44648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1149350" y="1949451"/>
            <a:ext cx="13906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B94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Average Lead Time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49350" y="2139951"/>
            <a:ext cx="14668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11.49 Days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77850" y="2635251"/>
            <a:ext cx="3286125" cy="76200"/>
          </a:xfrm>
          <a:custGeom>
            <a:avLst/>
            <a:gdLst/>
            <a:ahLst/>
            <a:cxnLst/>
            <a:rect l="l" t="t" r="r" b="b"/>
            <a:pathLst>
              <a:path w="3286125" h="76200">
                <a:moveTo>
                  <a:pt x="38100" y="0"/>
                </a:moveTo>
                <a:lnTo>
                  <a:pt x="3248025" y="0"/>
                </a:lnTo>
                <a:cubicBezTo>
                  <a:pt x="3269053" y="0"/>
                  <a:pt x="3286125" y="17072"/>
                  <a:pt x="3286125" y="38100"/>
                </a:cubicBezTo>
                <a:lnTo>
                  <a:pt x="3286125" y="38100"/>
                </a:lnTo>
                <a:cubicBezTo>
                  <a:pt x="3286125" y="59128"/>
                  <a:pt x="3269053" y="76200"/>
                  <a:pt x="3248025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0363D"/>
          </a:solidFill>
          <a:ln/>
        </p:spPr>
      </p:sp>
      <p:sp>
        <p:nvSpPr>
          <p:cNvPr id="12" name="Shape 10"/>
          <p:cNvSpPr/>
          <p:nvPr/>
        </p:nvSpPr>
        <p:spPr>
          <a:xfrm>
            <a:off x="577850" y="2635251"/>
            <a:ext cx="2371725" cy="76200"/>
          </a:xfrm>
          <a:custGeom>
            <a:avLst/>
            <a:gdLst/>
            <a:ahLst/>
            <a:cxnLst/>
            <a:rect l="l" t="t" r="r" b="b"/>
            <a:pathLst>
              <a:path w="2371725" h="76200">
                <a:moveTo>
                  <a:pt x="38100" y="0"/>
                </a:moveTo>
                <a:lnTo>
                  <a:pt x="2333625" y="0"/>
                </a:lnTo>
                <a:cubicBezTo>
                  <a:pt x="2354653" y="0"/>
                  <a:pt x="2371725" y="17072"/>
                  <a:pt x="2371725" y="38100"/>
                </a:cubicBezTo>
                <a:lnTo>
                  <a:pt x="2371725" y="38100"/>
                </a:lnTo>
                <a:cubicBezTo>
                  <a:pt x="2371725" y="59128"/>
                  <a:pt x="2354653" y="76200"/>
                  <a:pt x="2333625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gradFill flip="none" rotWithShape="1">
            <a:gsLst>
              <a:gs pos="0">
                <a:srgbClr val="58A6FF"/>
              </a:gs>
              <a:gs pos="100000">
                <a:srgbClr val="00D9FF"/>
              </a:gs>
            </a:gsLst>
            <a:lin ang="0" scaled="1"/>
          </a:gradFill>
          <a:ln/>
        </p:spPr>
      </p:sp>
      <p:sp>
        <p:nvSpPr>
          <p:cNvPr id="13" name="Text 11"/>
          <p:cNvSpPr/>
          <p:nvPr/>
        </p:nvSpPr>
        <p:spPr>
          <a:xfrm>
            <a:off x="577850" y="2787651"/>
            <a:ext cx="33432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8B94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Industry benchmark: 14 days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84175" y="3292475"/>
            <a:ext cx="3673475" cy="2368550"/>
          </a:xfrm>
          <a:custGeom>
            <a:avLst/>
            <a:gdLst/>
            <a:ahLst/>
            <a:cxnLst/>
            <a:rect l="l" t="t" r="r" b="b"/>
            <a:pathLst>
              <a:path w="3673475" h="2368550">
                <a:moveTo>
                  <a:pt x="152393" y="0"/>
                </a:moveTo>
                <a:lnTo>
                  <a:pt x="3521082" y="0"/>
                </a:lnTo>
                <a:cubicBezTo>
                  <a:pt x="3605247" y="0"/>
                  <a:pt x="3673475" y="68228"/>
                  <a:pt x="3673475" y="152393"/>
                </a:cubicBezTo>
                <a:lnTo>
                  <a:pt x="3673475" y="2216157"/>
                </a:lnTo>
                <a:cubicBezTo>
                  <a:pt x="3673475" y="2300322"/>
                  <a:pt x="3605247" y="2368550"/>
                  <a:pt x="3521082" y="2368550"/>
                </a:cubicBezTo>
                <a:lnTo>
                  <a:pt x="152393" y="2368550"/>
                </a:lnTo>
                <a:cubicBezTo>
                  <a:pt x="68228" y="2368550"/>
                  <a:pt x="0" y="2300322"/>
                  <a:pt x="0" y="2216157"/>
                </a:cubicBezTo>
                <a:lnTo>
                  <a:pt x="0" y="152393"/>
                </a:lnTo>
                <a:cubicBezTo>
                  <a:pt x="0" y="68285"/>
                  <a:pt x="68285" y="0"/>
                  <a:pt x="152393" y="0"/>
                </a:cubicBezTo>
                <a:close/>
              </a:path>
            </a:pathLst>
          </a:custGeom>
          <a:gradFill flip="none" rotWithShape="1">
            <a:gsLst>
              <a:gs pos="0">
                <a:srgbClr val="161B22"/>
              </a:gs>
              <a:gs pos="100000">
                <a:srgbClr val="0D1117"/>
              </a:gs>
            </a:gsLst>
            <a:lin ang="2700000" scaled="1"/>
          </a:gradFill>
          <a:ln w="8467">
            <a:solidFill>
              <a:srgbClr val="3036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77850" y="3486150"/>
            <a:ext cx="33718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Suppliers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77850" y="390525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76200" y="0"/>
                </a:moveTo>
                <a:lnTo>
                  <a:pt x="228600" y="0"/>
                </a:lnTo>
                <a:cubicBezTo>
                  <a:pt x="270656" y="0"/>
                  <a:pt x="304800" y="34144"/>
                  <a:pt x="304800" y="76200"/>
                </a:cubicBezTo>
                <a:lnTo>
                  <a:pt x="304800" y="228600"/>
                </a:lnTo>
                <a:cubicBezTo>
                  <a:pt x="304800" y="270656"/>
                  <a:pt x="270656" y="304800"/>
                  <a:pt x="228600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58A6FF">
              <a:alpha val="2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665956" y="3990975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8334" y="8334"/>
                </a:moveTo>
                <a:cubicBezTo>
                  <a:pt x="3724" y="8334"/>
                  <a:pt x="0" y="12059"/>
                  <a:pt x="0" y="16669"/>
                </a:cubicBezTo>
                <a:lnTo>
                  <a:pt x="0" y="112514"/>
                </a:lnTo>
                <a:cubicBezTo>
                  <a:pt x="0" y="119416"/>
                  <a:pt x="5600" y="125016"/>
                  <a:pt x="12502" y="125016"/>
                </a:cubicBezTo>
                <a:lnTo>
                  <a:pt x="120848" y="125016"/>
                </a:lnTo>
                <a:cubicBezTo>
                  <a:pt x="127750" y="125016"/>
                  <a:pt x="133350" y="119416"/>
                  <a:pt x="133350" y="112514"/>
                </a:cubicBezTo>
                <a:lnTo>
                  <a:pt x="133350" y="39640"/>
                </a:lnTo>
                <a:cubicBezTo>
                  <a:pt x="133350" y="34900"/>
                  <a:pt x="128297" y="31905"/>
                  <a:pt x="124130" y="34145"/>
                </a:cubicBezTo>
                <a:lnTo>
                  <a:pt x="83344" y="56101"/>
                </a:lnTo>
                <a:lnTo>
                  <a:pt x="83344" y="39640"/>
                </a:lnTo>
                <a:cubicBezTo>
                  <a:pt x="83344" y="34900"/>
                  <a:pt x="78291" y="31905"/>
                  <a:pt x="74124" y="34145"/>
                </a:cubicBezTo>
                <a:lnTo>
                  <a:pt x="33337" y="56101"/>
                </a:lnTo>
                <a:lnTo>
                  <a:pt x="33337" y="16669"/>
                </a:lnTo>
                <a:cubicBezTo>
                  <a:pt x="33337" y="12059"/>
                  <a:pt x="29613" y="8334"/>
                  <a:pt x="25003" y="8334"/>
                </a:cubicBezTo>
                <a:lnTo>
                  <a:pt x="8334" y="8334"/>
                </a:lnTo>
                <a:close/>
              </a:path>
            </a:pathLst>
          </a:custGeom>
          <a:solidFill>
            <a:srgbClr val="58A6FF"/>
          </a:solidFill>
          <a:ln/>
        </p:spPr>
      </p:sp>
      <p:sp>
        <p:nvSpPr>
          <p:cNvPr id="18" name="Text 16"/>
          <p:cNvSpPr/>
          <p:nvPr/>
        </p:nvSpPr>
        <p:spPr>
          <a:xfrm>
            <a:off x="996950" y="3962400"/>
            <a:ext cx="800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6EDF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OLED Panels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618806" y="3962400"/>
            <a:ext cx="3143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00D9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32%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77850" y="432435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76200" y="0"/>
                </a:moveTo>
                <a:lnTo>
                  <a:pt x="228600" y="0"/>
                </a:lnTo>
                <a:cubicBezTo>
                  <a:pt x="270656" y="0"/>
                  <a:pt x="304800" y="34144"/>
                  <a:pt x="304800" y="76200"/>
                </a:cubicBezTo>
                <a:lnTo>
                  <a:pt x="304800" y="228600"/>
                </a:lnTo>
                <a:cubicBezTo>
                  <a:pt x="304800" y="270656"/>
                  <a:pt x="270656" y="304800"/>
                  <a:pt x="228600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58A6FF">
              <a:alpha val="2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665956" y="4410075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45839" y="6251"/>
                </a:moveTo>
                <a:cubicBezTo>
                  <a:pt x="45839" y="2787"/>
                  <a:pt x="43052" y="0"/>
                  <a:pt x="39588" y="0"/>
                </a:cubicBezTo>
                <a:cubicBezTo>
                  <a:pt x="36124" y="0"/>
                  <a:pt x="33337" y="2787"/>
                  <a:pt x="33337" y="6251"/>
                </a:cubicBezTo>
                <a:lnTo>
                  <a:pt x="33337" y="16669"/>
                </a:lnTo>
                <a:cubicBezTo>
                  <a:pt x="24144" y="16669"/>
                  <a:pt x="16669" y="24144"/>
                  <a:pt x="16669" y="33337"/>
                </a:cubicBezTo>
                <a:lnTo>
                  <a:pt x="6251" y="33337"/>
                </a:lnTo>
                <a:cubicBezTo>
                  <a:pt x="2787" y="33337"/>
                  <a:pt x="0" y="36124"/>
                  <a:pt x="0" y="39588"/>
                </a:cubicBezTo>
                <a:cubicBezTo>
                  <a:pt x="0" y="43052"/>
                  <a:pt x="2787" y="45839"/>
                  <a:pt x="6251" y="45839"/>
                </a:cubicBezTo>
                <a:lnTo>
                  <a:pt x="16669" y="45839"/>
                </a:lnTo>
                <a:lnTo>
                  <a:pt x="16669" y="60424"/>
                </a:lnTo>
                <a:lnTo>
                  <a:pt x="6251" y="60424"/>
                </a:lnTo>
                <a:cubicBezTo>
                  <a:pt x="2787" y="60424"/>
                  <a:pt x="0" y="63211"/>
                  <a:pt x="0" y="66675"/>
                </a:cubicBezTo>
                <a:cubicBezTo>
                  <a:pt x="0" y="70139"/>
                  <a:pt x="2787" y="72926"/>
                  <a:pt x="6251" y="72926"/>
                </a:cubicBezTo>
                <a:lnTo>
                  <a:pt x="16669" y="72926"/>
                </a:lnTo>
                <a:lnTo>
                  <a:pt x="16669" y="87511"/>
                </a:lnTo>
                <a:lnTo>
                  <a:pt x="6251" y="87511"/>
                </a:lnTo>
                <a:cubicBezTo>
                  <a:pt x="2787" y="87511"/>
                  <a:pt x="0" y="90298"/>
                  <a:pt x="0" y="93762"/>
                </a:cubicBezTo>
                <a:cubicBezTo>
                  <a:pt x="0" y="97226"/>
                  <a:pt x="2787" y="100013"/>
                  <a:pt x="6251" y="100013"/>
                </a:cubicBezTo>
                <a:lnTo>
                  <a:pt x="16669" y="100013"/>
                </a:lnTo>
                <a:cubicBezTo>
                  <a:pt x="16669" y="109206"/>
                  <a:pt x="24144" y="116681"/>
                  <a:pt x="33337" y="116681"/>
                </a:cubicBezTo>
                <a:lnTo>
                  <a:pt x="33337" y="127099"/>
                </a:lnTo>
                <a:cubicBezTo>
                  <a:pt x="33337" y="130563"/>
                  <a:pt x="36124" y="133350"/>
                  <a:pt x="39588" y="133350"/>
                </a:cubicBezTo>
                <a:cubicBezTo>
                  <a:pt x="43052" y="133350"/>
                  <a:pt x="45839" y="130563"/>
                  <a:pt x="45839" y="127099"/>
                </a:cubicBezTo>
                <a:lnTo>
                  <a:pt x="45839" y="116681"/>
                </a:lnTo>
                <a:lnTo>
                  <a:pt x="60424" y="116681"/>
                </a:lnTo>
                <a:lnTo>
                  <a:pt x="60424" y="127099"/>
                </a:lnTo>
                <a:cubicBezTo>
                  <a:pt x="60424" y="130563"/>
                  <a:pt x="63211" y="133350"/>
                  <a:pt x="66675" y="133350"/>
                </a:cubicBezTo>
                <a:cubicBezTo>
                  <a:pt x="70139" y="133350"/>
                  <a:pt x="72926" y="130563"/>
                  <a:pt x="72926" y="127099"/>
                </a:cubicBezTo>
                <a:lnTo>
                  <a:pt x="72926" y="116681"/>
                </a:lnTo>
                <a:lnTo>
                  <a:pt x="87511" y="116681"/>
                </a:lnTo>
                <a:lnTo>
                  <a:pt x="87511" y="127099"/>
                </a:lnTo>
                <a:cubicBezTo>
                  <a:pt x="87511" y="130563"/>
                  <a:pt x="90298" y="133350"/>
                  <a:pt x="93762" y="133350"/>
                </a:cubicBezTo>
                <a:cubicBezTo>
                  <a:pt x="97226" y="133350"/>
                  <a:pt x="100013" y="130563"/>
                  <a:pt x="100013" y="127099"/>
                </a:cubicBezTo>
                <a:lnTo>
                  <a:pt x="100013" y="116681"/>
                </a:lnTo>
                <a:cubicBezTo>
                  <a:pt x="109206" y="116681"/>
                  <a:pt x="116681" y="109206"/>
                  <a:pt x="116681" y="100013"/>
                </a:cubicBezTo>
                <a:lnTo>
                  <a:pt x="127099" y="100013"/>
                </a:lnTo>
                <a:cubicBezTo>
                  <a:pt x="130563" y="100013"/>
                  <a:pt x="133350" y="97226"/>
                  <a:pt x="133350" y="93762"/>
                </a:cubicBezTo>
                <a:cubicBezTo>
                  <a:pt x="133350" y="90298"/>
                  <a:pt x="130563" y="87511"/>
                  <a:pt x="127099" y="87511"/>
                </a:cubicBezTo>
                <a:lnTo>
                  <a:pt x="116681" y="87511"/>
                </a:lnTo>
                <a:lnTo>
                  <a:pt x="116681" y="72926"/>
                </a:lnTo>
                <a:lnTo>
                  <a:pt x="127099" y="72926"/>
                </a:lnTo>
                <a:cubicBezTo>
                  <a:pt x="130563" y="72926"/>
                  <a:pt x="133350" y="70139"/>
                  <a:pt x="133350" y="66675"/>
                </a:cubicBezTo>
                <a:cubicBezTo>
                  <a:pt x="133350" y="63211"/>
                  <a:pt x="130563" y="60424"/>
                  <a:pt x="127099" y="60424"/>
                </a:cubicBezTo>
                <a:lnTo>
                  <a:pt x="116681" y="60424"/>
                </a:lnTo>
                <a:lnTo>
                  <a:pt x="116681" y="45839"/>
                </a:lnTo>
                <a:lnTo>
                  <a:pt x="127099" y="45839"/>
                </a:lnTo>
                <a:cubicBezTo>
                  <a:pt x="130563" y="45839"/>
                  <a:pt x="133350" y="43052"/>
                  <a:pt x="133350" y="39588"/>
                </a:cubicBezTo>
                <a:cubicBezTo>
                  <a:pt x="133350" y="36124"/>
                  <a:pt x="130563" y="33337"/>
                  <a:pt x="127099" y="33337"/>
                </a:cubicBezTo>
                <a:lnTo>
                  <a:pt x="116681" y="33337"/>
                </a:lnTo>
                <a:cubicBezTo>
                  <a:pt x="116681" y="24144"/>
                  <a:pt x="109206" y="16669"/>
                  <a:pt x="100013" y="16669"/>
                </a:cubicBezTo>
                <a:lnTo>
                  <a:pt x="100013" y="6251"/>
                </a:lnTo>
                <a:cubicBezTo>
                  <a:pt x="100013" y="2787"/>
                  <a:pt x="97226" y="0"/>
                  <a:pt x="93762" y="0"/>
                </a:cubicBezTo>
                <a:cubicBezTo>
                  <a:pt x="90298" y="0"/>
                  <a:pt x="87511" y="2787"/>
                  <a:pt x="87511" y="6251"/>
                </a:cubicBezTo>
                <a:lnTo>
                  <a:pt x="87511" y="16669"/>
                </a:lnTo>
                <a:lnTo>
                  <a:pt x="72926" y="16669"/>
                </a:lnTo>
                <a:lnTo>
                  <a:pt x="72926" y="6251"/>
                </a:lnTo>
                <a:cubicBezTo>
                  <a:pt x="72926" y="2787"/>
                  <a:pt x="70139" y="0"/>
                  <a:pt x="66675" y="0"/>
                </a:cubicBezTo>
                <a:cubicBezTo>
                  <a:pt x="63211" y="0"/>
                  <a:pt x="60424" y="2787"/>
                  <a:pt x="60424" y="6251"/>
                </a:cubicBezTo>
                <a:lnTo>
                  <a:pt x="60424" y="16669"/>
                </a:lnTo>
                <a:lnTo>
                  <a:pt x="45839" y="16669"/>
                </a:lnTo>
                <a:lnTo>
                  <a:pt x="45839" y="6251"/>
                </a:lnTo>
                <a:close/>
                <a:moveTo>
                  <a:pt x="41672" y="33337"/>
                </a:moveTo>
                <a:lnTo>
                  <a:pt x="91678" y="33337"/>
                </a:lnTo>
                <a:cubicBezTo>
                  <a:pt x="96288" y="33337"/>
                  <a:pt x="100013" y="37062"/>
                  <a:pt x="100013" y="41672"/>
                </a:cubicBezTo>
                <a:lnTo>
                  <a:pt x="100013" y="91678"/>
                </a:lnTo>
                <a:cubicBezTo>
                  <a:pt x="100013" y="96288"/>
                  <a:pt x="96288" y="100013"/>
                  <a:pt x="91678" y="100013"/>
                </a:cubicBezTo>
                <a:lnTo>
                  <a:pt x="41672" y="100013"/>
                </a:lnTo>
                <a:cubicBezTo>
                  <a:pt x="37062" y="100013"/>
                  <a:pt x="33337" y="96288"/>
                  <a:pt x="33337" y="91678"/>
                </a:cubicBezTo>
                <a:lnTo>
                  <a:pt x="33337" y="41672"/>
                </a:lnTo>
                <a:cubicBezTo>
                  <a:pt x="33337" y="37062"/>
                  <a:pt x="37062" y="33337"/>
                  <a:pt x="41672" y="33337"/>
                </a:cubicBezTo>
                <a:close/>
                <a:moveTo>
                  <a:pt x="45839" y="45839"/>
                </a:moveTo>
                <a:lnTo>
                  <a:pt x="45839" y="87511"/>
                </a:lnTo>
                <a:lnTo>
                  <a:pt x="87511" y="87511"/>
                </a:lnTo>
                <a:lnTo>
                  <a:pt x="87511" y="45839"/>
                </a:lnTo>
                <a:lnTo>
                  <a:pt x="45839" y="45839"/>
                </a:lnTo>
                <a:close/>
              </a:path>
            </a:pathLst>
          </a:custGeom>
          <a:solidFill>
            <a:srgbClr val="58A6FF"/>
          </a:solidFill>
          <a:ln/>
        </p:spPr>
      </p:sp>
      <p:sp>
        <p:nvSpPr>
          <p:cNvPr id="22" name="Text 20"/>
          <p:cNvSpPr/>
          <p:nvPr/>
        </p:nvSpPr>
        <p:spPr>
          <a:xfrm>
            <a:off x="996950" y="4381500"/>
            <a:ext cx="10096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6EDF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Semiconductors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3615730" y="4381500"/>
            <a:ext cx="3143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00D9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28%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577850" y="474345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76200" y="0"/>
                </a:moveTo>
                <a:lnTo>
                  <a:pt x="228600" y="0"/>
                </a:lnTo>
                <a:cubicBezTo>
                  <a:pt x="270656" y="0"/>
                  <a:pt x="304800" y="34144"/>
                  <a:pt x="304800" y="76200"/>
                </a:cubicBezTo>
                <a:lnTo>
                  <a:pt x="304800" y="228600"/>
                </a:lnTo>
                <a:cubicBezTo>
                  <a:pt x="304800" y="270656"/>
                  <a:pt x="270656" y="304800"/>
                  <a:pt x="228600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58A6FF">
              <a:alpha val="20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649288" y="4829175"/>
            <a:ext cx="166688" cy="133350"/>
          </a:xfrm>
          <a:custGeom>
            <a:avLst/>
            <a:gdLst/>
            <a:ahLst/>
            <a:cxnLst/>
            <a:rect l="l" t="t" r="r" b="b"/>
            <a:pathLst>
              <a:path w="166688" h="133350">
                <a:moveTo>
                  <a:pt x="137517" y="33337"/>
                </a:moveTo>
                <a:cubicBezTo>
                  <a:pt x="139809" y="33337"/>
                  <a:pt x="141684" y="35213"/>
                  <a:pt x="141684" y="37505"/>
                </a:cubicBezTo>
                <a:lnTo>
                  <a:pt x="141684" y="95845"/>
                </a:lnTo>
                <a:cubicBezTo>
                  <a:pt x="141684" y="98137"/>
                  <a:pt x="139809" y="100013"/>
                  <a:pt x="137517" y="100013"/>
                </a:cubicBezTo>
                <a:lnTo>
                  <a:pt x="29170" y="100013"/>
                </a:lnTo>
                <a:cubicBezTo>
                  <a:pt x="26878" y="100013"/>
                  <a:pt x="25003" y="98137"/>
                  <a:pt x="25003" y="95845"/>
                </a:cubicBezTo>
                <a:lnTo>
                  <a:pt x="25003" y="37505"/>
                </a:lnTo>
                <a:cubicBezTo>
                  <a:pt x="25003" y="35213"/>
                  <a:pt x="26878" y="33337"/>
                  <a:pt x="29170" y="33337"/>
                </a:cubicBezTo>
                <a:lnTo>
                  <a:pt x="137517" y="33337"/>
                </a:lnTo>
                <a:close/>
                <a:moveTo>
                  <a:pt x="29170" y="16669"/>
                </a:moveTo>
                <a:cubicBezTo>
                  <a:pt x="17658" y="16669"/>
                  <a:pt x="8334" y="25993"/>
                  <a:pt x="8334" y="37505"/>
                </a:cubicBezTo>
                <a:lnTo>
                  <a:pt x="8334" y="95845"/>
                </a:lnTo>
                <a:cubicBezTo>
                  <a:pt x="8334" y="107357"/>
                  <a:pt x="17658" y="116681"/>
                  <a:pt x="29170" y="116681"/>
                </a:cubicBezTo>
                <a:lnTo>
                  <a:pt x="137517" y="116681"/>
                </a:lnTo>
                <a:cubicBezTo>
                  <a:pt x="149029" y="116681"/>
                  <a:pt x="158353" y="107357"/>
                  <a:pt x="158353" y="95845"/>
                </a:cubicBezTo>
                <a:lnTo>
                  <a:pt x="158353" y="83344"/>
                </a:lnTo>
                <a:cubicBezTo>
                  <a:pt x="162963" y="83344"/>
                  <a:pt x="166688" y="79619"/>
                  <a:pt x="166688" y="75009"/>
                </a:cubicBezTo>
                <a:lnTo>
                  <a:pt x="166688" y="58341"/>
                </a:lnTo>
                <a:cubicBezTo>
                  <a:pt x="166688" y="53731"/>
                  <a:pt x="162963" y="50006"/>
                  <a:pt x="158353" y="50006"/>
                </a:cubicBezTo>
                <a:lnTo>
                  <a:pt x="158353" y="37505"/>
                </a:lnTo>
                <a:cubicBezTo>
                  <a:pt x="158353" y="25993"/>
                  <a:pt x="149029" y="16669"/>
                  <a:pt x="137517" y="16669"/>
                </a:cubicBezTo>
                <a:lnTo>
                  <a:pt x="29170" y="16669"/>
                </a:lnTo>
                <a:close/>
                <a:moveTo>
                  <a:pt x="43755" y="45839"/>
                </a:moveTo>
                <a:cubicBezTo>
                  <a:pt x="40291" y="45839"/>
                  <a:pt x="37505" y="48626"/>
                  <a:pt x="37505" y="52090"/>
                </a:cubicBezTo>
                <a:lnTo>
                  <a:pt x="37505" y="81260"/>
                </a:lnTo>
                <a:cubicBezTo>
                  <a:pt x="37505" y="84724"/>
                  <a:pt x="40291" y="87511"/>
                  <a:pt x="43755" y="87511"/>
                </a:cubicBezTo>
                <a:lnTo>
                  <a:pt x="122932" y="87511"/>
                </a:lnTo>
                <a:cubicBezTo>
                  <a:pt x="126396" y="87511"/>
                  <a:pt x="129183" y="84724"/>
                  <a:pt x="129183" y="81260"/>
                </a:cubicBezTo>
                <a:lnTo>
                  <a:pt x="129183" y="52090"/>
                </a:lnTo>
                <a:cubicBezTo>
                  <a:pt x="129183" y="48626"/>
                  <a:pt x="126396" y="45839"/>
                  <a:pt x="122932" y="45839"/>
                </a:cubicBezTo>
                <a:lnTo>
                  <a:pt x="43755" y="45839"/>
                </a:lnTo>
                <a:close/>
              </a:path>
            </a:pathLst>
          </a:custGeom>
          <a:solidFill>
            <a:srgbClr val="58A6FF"/>
          </a:solidFill>
          <a:ln/>
        </p:spPr>
      </p:sp>
      <p:sp>
        <p:nvSpPr>
          <p:cNvPr id="26" name="Text 24"/>
          <p:cNvSpPr/>
          <p:nvPr/>
        </p:nvSpPr>
        <p:spPr>
          <a:xfrm>
            <a:off x="996950" y="4800600"/>
            <a:ext cx="5619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6EDF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Batteries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3641328" y="4800600"/>
            <a:ext cx="2952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00D9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18%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7850" y="516255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76200" y="0"/>
                </a:moveTo>
                <a:lnTo>
                  <a:pt x="228600" y="0"/>
                </a:lnTo>
                <a:cubicBezTo>
                  <a:pt x="270656" y="0"/>
                  <a:pt x="304800" y="34144"/>
                  <a:pt x="304800" y="76200"/>
                </a:cubicBezTo>
                <a:lnTo>
                  <a:pt x="304800" y="228600"/>
                </a:lnTo>
                <a:cubicBezTo>
                  <a:pt x="304800" y="270656"/>
                  <a:pt x="270656" y="304800"/>
                  <a:pt x="228600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58A6FF">
              <a:alpha val="20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665956" y="5248275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16669" y="16669"/>
                </a:moveTo>
                <a:cubicBezTo>
                  <a:pt x="7475" y="16669"/>
                  <a:pt x="0" y="24144"/>
                  <a:pt x="0" y="33337"/>
                </a:cubicBezTo>
                <a:lnTo>
                  <a:pt x="0" y="35265"/>
                </a:lnTo>
                <a:cubicBezTo>
                  <a:pt x="0" y="37036"/>
                  <a:pt x="1146" y="38546"/>
                  <a:pt x="2631" y="39510"/>
                </a:cubicBezTo>
                <a:cubicBezTo>
                  <a:pt x="6068" y="41750"/>
                  <a:pt x="8334" y="45605"/>
                  <a:pt x="8334" y="50006"/>
                </a:cubicBezTo>
                <a:cubicBezTo>
                  <a:pt x="8334" y="54408"/>
                  <a:pt x="6068" y="58262"/>
                  <a:pt x="2631" y="60502"/>
                </a:cubicBezTo>
                <a:cubicBezTo>
                  <a:pt x="1146" y="61466"/>
                  <a:pt x="0" y="62977"/>
                  <a:pt x="0" y="64748"/>
                </a:cubicBezTo>
                <a:lnTo>
                  <a:pt x="0" y="79177"/>
                </a:lnTo>
                <a:lnTo>
                  <a:pt x="133350" y="79177"/>
                </a:lnTo>
                <a:lnTo>
                  <a:pt x="133350" y="64748"/>
                </a:lnTo>
                <a:cubicBezTo>
                  <a:pt x="133350" y="62977"/>
                  <a:pt x="132204" y="61466"/>
                  <a:pt x="130719" y="60502"/>
                </a:cubicBezTo>
                <a:cubicBezTo>
                  <a:pt x="127282" y="58262"/>
                  <a:pt x="125016" y="54408"/>
                  <a:pt x="125016" y="50006"/>
                </a:cubicBezTo>
                <a:cubicBezTo>
                  <a:pt x="125016" y="45605"/>
                  <a:pt x="127282" y="41750"/>
                  <a:pt x="130719" y="39510"/>
                </a:cubicBezTo>
                <a:cubicBezTo>
                  <a:pt x="132204" y="38546"/>
                  <a:pt x="133350" y="37036"/>
                  <a:pt x="133350" y="35265"/>
                </a:cubicBezTo>
                <a:lnTo>
                  <a:pt x="133350" y="33337"/>
                </a:lnTo>
                <a:cubicBezTo>
                  <a:pt x="133350" y="24144"/>
                  <a:pt x="125875" y="16669"/>
                  <a:pt x="116681" y="16669"/>
                </a:cubicBezTo>
                <a:lnTo>
                  <a:pt x="16669" y="16669"/>
                </a:lnTo>
                <a:close/>
                <a:moveTo>
                  <a:pt x="133350" y="108347"/>
                </a:moveTo>
                <a:lnTo>
                  <a:pt x="133350" y="91678"/>
                </a:lnTo>
                <a:lnTo>
                  <a:pt x="0" y="91678"/>
                </a:lnTo>
                <a:lnTo>
                  <a:pt x="0" y="108347"/>
                </a:lnTo>
                <a:cubicBezTo>
                  <a:pt x="0" y="112957"/>
                  <a:pt x="3724" y="116681"/>
                  <a:pt x="8334" y="116681"/>
                </a:cubicBezTo>
                <a:lnTo>
                  <a:pt x="25003" y="116681"/>
                </a:lnTo>
                <a:lnTo>
                  <a:pt x="25003" y="110430"/>
                </a:lnTo>
                <a:cubicBezTo>
                  <a:pt x="25003" y="106966"/>
                  <a:pt x="27790" y="104180"/>
                  <a:pt x="31254" y="104180"/>
                </a:cubicBezTo>
                <a:cubicBezTo>
                  <a:pt x="34718" y="104180"/>
                  <a:pt x="37505" y="106966"/>
                  <a:pt x="37505" y="110430"/>
                </a:cubicBezTo>
                <a:lnTo>
                  <a:pt x="37505" y="116681"/>
                </a:lnTo>
                <a:lnTo>
                  <a:pt x="60424" y="116681"/>
                </a:lnTo>
                <a:lnTo>
                  <a:pt x="60424" y="110430"/>
                </a:lnTo>
                <a:cubicBezTo>
                  <a:pt x="60424" y="106966"/>
                  <a:pt x="63211" y="104180"/>
                  <a:pt x="66675" y="104180"/>
                </a:cubicBezTo>
                <a:cubicBezTo>
                  <a:pt x="70139" y="104180"/>
                  <a:pt x="72926" y="106966"/>
                  <a:pt x="72926" y="110430"/>
                </a:cubicBezTo>
                <a:lnTo>
                  <a:pt x="72926" y="116681"/>
                </a:lnTo>
                <a:lnTo>
                  <a:pt x="95845" y="116681"/>
                </a:lnTo>
                <a:lnTo>
                  <a:pt x="95845" y="110430"/>
                </a:lnTo>
                <a:cubicBezTo>
                  <a:pt x="95845" y="106966"/>
                  <a:pt x="98632" y="104180"/>
                  <a:pt x="102096" y="104180"/>
                </a:cubicBezTo>
                <a:cubicBezTo>
                  <a:pt x="105560" y="104180"/>
                  <a:pt x="108347" y="106966"/>
                  <a:pt x="108347" y="110430"/>
                </a:cubicBezTo>
                <a:lnTo>
                  <a:pt x="108347" y="116681"/>
                </a:lnTo>
                <a:lnTo>
                  <a:pt x="125016" y="116681"/>
                </a:lnTo>
                <a:cubicBezTo>
                  <a:pt x="129626" y="116681"/>
                  <a:pt x="133350" y="112957"/>
                  <a:pt x="133350" y="108347"/>
                </a:cubicBezTo>
                <a:close/>
                <a:moveTo>
                  <a:pt x="41672" y="41672"/>
                </a:moveTo>
                <a:lnTo>
                  <a:pt x="41672" y="58341"/>
                </a:lnTo>
                <a:cubicBezTo>
                  <a:pt x="41672" y="62951"/>
                  <a:pt x="37947" y="66675"/>
                  <a:pt x="33337" y="66675"/>
                </a:cubicBezTo>
                <a:cubicBezTo>
                  <a:pt x="28728" y="66675"/>
                  <a:pt x="25003" y="62951"/>
                  <a:pt x="25003" y="58341"/>
                </a:cubicBezTo>
                <a:lnTo>
                  <a:pt x="25003" y="41672"/>
                </a:lnTo>
                <a:cubicBezTo>
                  <a:pt x="25003" y="37062"/>
                  <a:pt x="28728" y="33337"/>
                  <a:pt x="33337" y="33337"/>
                </a:cubicBezTo>
                <a:cubicBezTo>
                  <a:pt x="37947" y="33337"/>
                  <a:pt x="41672" y="37062"/>
                  <a:pt x="41672" y="41672"/>
                </a:cubicBezTo>
                <a:close/>
                <a:moveTo>
                  <a:pt x="75009" y="41672"/>
                </a:moveTo>
                <a:lnTo>
                  <a:pt x="75009" y="58341"/>
                </a:lnTo>
                <a:cubicBezTo>
                  <a:pt x="75009" y="62951"/>
                  <a:pt x="71285" y="66675"/>
                  <a:pt x="66675" y="66675"/>
                </a:cubicBezTo>
                <a:cubicBezTo>
                  <a:pt x="62065" y="66675"/>
                  <a:pt x="58341" y="62951"/>
                  <a:pt x="58341" y="58341"/>
                </a:cubicBezTo>
                <a:lnTo>
                  <a:pt x="58341" y="41672"/>
                </a:lnTo>
                <a:cubicBezTo>
                  <a:pt x="58341" y="37062"/>
                  <a:pt x="62065" y="33337"/>
                  <a:pt x="66675" y="33337"/>
                </a:cubicBezTo>
                <a:cubicBezTo>
                  <a:pt x="71285" y="33337"/>
                  <a:pt x="75009" y="37062"/>
                  <a:pt x="75009" y="41672"/>
                </a:cubicBezTo>
                <a:close/>
                <a:moveTo>
                  <a:pt x="108347" y="41672"/>
                </a:moveTo>
                <a:lnTo>
                  <a:pt x="108347" y="58341"/>
                </a:lnTo>
                <a:cubicBezTo>
                  <a:pt x="108347" y="62951"/>
                  <a:pt x="104622" y="66675"/>
                  <a:pt x="100013" y="66675"/>
                </a:cubicBezTo>
                <a:cubicBezTo>
                  <a:pt x="95403" y="66675"/>
                  <a:pt x="91678" y="62951"/>
                  <a:pt x="91678" y="58341"/>
                </a:cubicBezTo>
                <a:lnTo>
                  <a:pt x="91678" y="41672"/>
                </a:lnTo>
                <a:cubicBezTo>
                  <a:pt x="91678" y="37062"/>
                  <a:pt x="95403" y="33337"/>
                  <a:pt x="100013" y="33337"/>
                </a:cubicBezTo>
                <a:cubicBezTo>
                  <a:pt x="104622" y="33337"/>
                  <a:pt x="108347" y="37062"/>
                  <a:pt x="108347" y="41672"/>
                </a:cubicBezTo>
                <a:close/>
              </a:path>
            </a:pathLst>
          </a:custGeom>
          <a:solidFill>
            <a:srgbClr val="58A6FF"/>
          </a:solidFill>
          <a:ln/>
        </p:spPr>
      </p:sp>
      <p:sp>
        <p:nvSpPr>
          <p:cNvPr id="30" name="Text 28"/>
          <p:cNvSpPr/>
          <p:nvPr/>
        </p:nvSpPr>
        <p:spPr>
          <a:xfrm>
            <a:off x="996950" y="5219700"/>
            <a:ext cx="914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6EDF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Memory Chips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3622278" y="5219700"/>
            <a:ext cx="3143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00D9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22%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4257675" y="1755775"/>
            <a:ext cx="7550150" cy="4721225"/>
          </a:xfrm>
          <a:custGeom>
            <a:avLst/>
            <a:gdLst/>
            <a:ahLst/>
            <a:cxnLst/>
            <a:rect l="l" t="t" r="r" b="b"/>
            <a:pathLst>
              <a:path w="7550150" h="4721225">
                <a:moveTo>
                  <a:pt x="152401" y="0"/>
                </a:moveTo>
                <a:lnTo>
                  <a:pt x="7397749" y="0"/>
                </a:lnTo>
                <a:cubicBezTo>
                  <a:pt x="7481918" y="0"/>
                  <a:pt x="7550150" y="68232"/>
                  <a:pt x="7550150" y="152401"/>
                </a:cubicBezTo>
                <a:lnTo>
                  <a:pt x="7550150" y="4568824"/>
                </a:lnTo>
                <a:cubicBezTo>
                  <a:pt x="7550150" y="4652993"/>
                  <a:pt x="7481918" y="4721225"/>
                  <a:pt x="7397749" y="4721225"/>
                </a:cubicBezTo>
                <a:lnTo>
                  <a:pt x="152401" y="4721225"/>
                </a:lnTo>
                <a:cubicBezTo>
                  <a:pt x="68232" y="4721225"/>
                  <a:pt x="0" y="4652993"/>
                  <a:pt x="0" y="4568824"/>
                </a:cubicBezTo>
                <a:lnTo>
                  <a:pt x="0" y="152401"/>
                </a:lnTo>
                <a:cubicBezTo>
                  <a:pt x="0" y="68289"/>
                  <a:pt x="68289" y="0"/>
                  <a:pt x="152401" y="0"/>
                </a:cubicBezTo>
                <a:close/>
              </a:path>
            </a:pathLst>
          </a:custGeom>
          <a:gradFill flip="none" rotWithShape="1">
            <a:gsLst>
              <a:gs pos="0">
                <a:srgbClr val="161B22"/>
              </a:gs>
              <a:gs pos="100000">
                <a:srgbClr val="0D1117"/>
              </a:gs>
            </a:gsLst>
            <a:lin ang="2700000" scaled="1"/>
          </a:gradFill>
          <a:ln w="8467">
            <a:solidFill>
              <a:srgbClr val="30363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451350" y="1949451"/>
            <a:ext cx="24955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Quantity vs. Cost Correlation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4451350" y="2216151"/>
            <a:ext cx="24669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B94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Strategic procurement analysis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10241955" y="2120901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57150" y="0"/>
                </a:moveTo>
                <a:lnTo>
                  <a:pt x="57150" y="0"/>
                </a:lnTo>
                <a:cubicBezTo>
                  <a:pt x="88692" y="0"/>
                  <a:pt x="114300" y="25608"/>
                  <a:pt x="114300" y="57150"/>
                </a:cubicBezTo>
                <a:lnTo>
                  <a:pt x="114300" y="57150"/>
                </a:lnTo>
                <a:cubicBezTo>
                  <a:pt x="114300" y="88692"/>
                  <a:pt x="88692" y="114300"/>
                  <a:pt x="57150" y="114300"/>
                </a:cubicBezTo>
                <a:lnTo>
                  <a:pt x="57150" y="114300"/>
                </a:lnTo>
                <a:cubicBezTo>
                  <a:pt x="25608" y="114300"/>
                  <a:pt x="0" y="88692"/>
                  <a:pt x="0" y="57150"/>
                </a:cubicBezTo>
                <a:lnTo>
                  <a:pt x="0" y="57150"/>
                </a:lnTo>
                <a:cubicBezTo>
                  <a:pt x="0" y="25608"/>
                  <a:pt x="25608" y="0"/>
                  <a:pt x="57150" y="0"/>
                </a:cubicBezTo>
                <a:close/>
              </a:path>
            </a:pathLst>
          </a:custGeom>
          <a:solidFill>
            <a:srgbClr val="58A6FF"/>
          </a:solidFill>
          <a:ln/>
        </p:spPr>
      </p:sp>
      <p:sp>
        <p:nvSpPr>
          <p:cNvPr id="36" name="Text 34"/>
          <p:cNvSpPr/>
          <p:nvPr/>
        </p:nvSpPr>
        <p:spPr>
          <a:xfrm>
            <a:off x="10432455" y="2101851"/>
            <a:ext cx="5143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8B94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Unit Cost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11039177" y="2120901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57150" y="0"/>
                </a:moveTo>
                <a:lnTo>
                  <a:pt x="57150" y="0"/>
                </a:lnTo>
                <a:cubicBezTo>
                  <a:pt x="88692" y="0"/>
                  <a:pt x="114300" y="25608"/>
                  <a:pt x="114300" y="57150"/>
                </a:cubicBezTo>
                <a:lnTo>
                  <a:pt x="114300" y="57150"/>
                </a:lnTo>
                <a:cubicBezTo>
                  <a:pt x="114300" y="88692"/>
                  <a:pt x="88692" y="114300"/>
                  <a:pt x="57150" y="114300"/>
                </a:cubicBezTo>
                <a:lnTo>
                  <a:pt x="57150" y="114300"/>
                </a:lnTo>
                <a:cubicBezTo>
                  <a:pt x="25608" y="114300"/>
                  <a:pt x="0" y="88692"/>
                  <a:pt x="0" y="57150"/>
                </a:cubicBezTo>
                <a:lnTo>
                  <a:pt x="0" y="57150"/>
                </a:lnTo>
                <a:cubicBezTo>
                  <a:pt x="0" y="25608"/>
                  <a:pt x="25608" y="0"/>
                  <a:pt x="57150" y="0"/>
                </a:cubicBezTo>
                <a:close/>
              </a:path>
            </a:pathLst>
          </a:custGeom>
          <a:solidFill>
            <a:srgbClr val="00D9FF"/>
          </a:solidFill>
          <a:ln/>
        </p:spPr>
      </p:sp>
      <p:sp>
        <p:nvSpPr>
          <p:cNvPr id="38" name="Text 36"/>
          <p:cNvSpPr/>
          <p:nvPr/>
        </p:nvSpPr>
        <p:spPr>
          <a:xfrm>
            <a:off x="11229677" y="2101851"/>
            <a:ext cx="4381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8B94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Volume</a:t>
            </a:r>
            <a:endParaRPr lang="en-US" sz="1600" dirty="0"/>
          </a:p>
        </p:txBody>
      </p:sp>
      <p:pic>
        <p:nvPicPr>
          <p:cNvPr id="39" name="Image 0" descr="https://kimi-img.moonshot.cn/pub/slides/26-02-18-02:11:47-d6aauorv466uc3ja4btg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451350" y="2559051"/>
            <a:ext cx="7162800" cy="3048000"/>
          </a:xfrm>
          <a:prstGeom prst="roundRect">
            <a:avLst>
              <a:gd name="adj" fmla="val 0"/>
            </a:avLst>
          </a:prstGeom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D04B5FEE-2795-A9B3-9433-D0780A18AB60}"/>
              </a:ext>
            </a:extLst>
          </p:cNvPr>
          <p:cNvSpPr txBox="1"/>
          <p:nvPr/>
        </p:nvSpPr>
        <p:spPr>
          <a:xfrm>
            <a:off x="9575264" y="161925"/>
            <a:ext cx="26161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ssharma9663@gmail.com</a:t>
            </a:r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2272E945-5357-040D-AEEF-F763199AF9D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  <a:ext uri="{837473B0-CC2E-450A-ABE3-18F120FF3D39}">
                <a1611:picAttrSrcUrl xmlns:a1611="http://schemas.microsoft.com/office/drawing/2016/11/main" r:id="rId6"/>
              </a:ext>
            </a:extLst>
          </a:blip>
          <a:stretch>
            <a:fillRect/>
          </a:stretch>
        </p:blipFill>
        <p:spPr>
          <a:xfrm>
            <a:off x="6946901" y="248952"/>
            <a:ext cx="1977726" cy="1483295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4212" y="364212"/>
            <a:ext cx="36421" cy="291370"/>
          </a:xfrm>
          <a:custGeom>
            <a:avLst/>
            <a:gdLst/>
            <a:ahLst/>
            <a:cxnLst/>
            <a:rect l="l" t="t" r="r" b="b"/>
            <a:pathLst>
              <a:path w="36421" h="291370">
                <a:moveTo>
                  <a:pt x="18211" y="0"/>
                </a:moveTo>
                <a:lnTo>
                  <a:pt x="18211" y="0"/>
                </a:lnTo>
                <a:cubicBezTo>
                  <a:pt x="28268" y="0"/>
                  <a:pt x="36421" y="8153"/>
                  <a:pt x="36421" y="18211"/>
                </a:cubicBezTo>
                <a:lnTo>
                  <a:pt x="36421" y="273159"/>
                </a:lnTo>
                <a:cubicBezTo>
                  <a:pt x="36421" y="283217"/>
                  <a:pt x="28268" y="291370"/>
                  <a:pt x="18211" y="291370"/>
                </a:cubicBezTo>
                <a:lnTo>
                  <a:pt x="18211" y="291370"/>
                </a:lnTo>
                <a:cubicBezTo>
                  <a:pt x="8153" y="291370"/>
                  <a:pt x="0" y="283217"/>
                  <a:pt x="0" y="273159"/>
                </a:cubicBezTo>
                <a:lnTo>
                  <a:pt x="0" y="18211"/>
                </a:lnTo>
                <a:cubicBezTo>
                  <a:pt x="0" y="8153"/>
                  <a:pt x="8153" y="0"/>
                  <a:pt x="18211" y="0"/>
                </a:cubicBezTo>
                <a:close/>
              </a:path>
            </a:pathLst>
          </a:custGeom>
          <a:gradFill flip="none" rotWithShape="1">
            <a:gsLst>
              <a:gs pos="0">
                <a:srgbClr val="58A6FF"/>
              </a:gs>
              <a:gs pos="0">
                <a:srgbClr val="FFFFFF"/>
              </a:gs>
              <a:gs pos="100000">
                <a:srgbClr val="00D9FF"/>
              </a:gs>
            </a:gsLst>
            <a:lin ang="5400000" scaled="1"/>
          </a:gradFill>
          <a:ln/>
        </p:spPr>
      </p:sp>
      <p:sp>
        <p:nvSpPr>
          <p:cNvPr id="3" name="Text 1"/>
          <p:cNvSpPr/>
          <p:nvPr/>
        </p:nvSpPr>
        <p:spPr>
          <a:xfrm>
            <a:off x="509897" y="418844"/>
            <a:ext cx="1811955" cy="1821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4" kern="0" spc="201" dirty="0">
                <a:solidFill>
                  <a:srgbClr val="58A6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Stock Management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64212" y="728424"/>
            <a:ext cx="11682103" cy="4370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441" b="1" dirty="0">
                <a:solidFill>
                  <a:srgbClr val="E6EDF3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Inventory &amp; Resilience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64212" y="1238321"/>
            <a:ext cx="11545524" cy="2549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91" dirty="0">
                <a:solidFill>
                  <a:srgbClr val="8B94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Galaxy S24 &amp; Z Fold Series Stock Management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67247" y="1678411"/>
            <a:ext cx="4658880" cy="1690551"/>
          </a:xfrm>
          <a:custGeom>
            <a:avLst/>
            <a:gdLst/>
            <a:ahLst/>
            <a:cxnLst/>
            <a:rect l="l" t="t" r="r" b="b"/>
            <a:pathLst>
              <a:path w="4658880" h="1690551">
                <a:moveTo>
                  <a:pt x="145692" y="0"/>
                </a:moveTo>
                <a:lnTo>
                  <a:pt x="4513188" y="0"/>
                </a:lnTo>
                <a:cubicBezTo>
                  <a:pt x="4593651" y="0"/>
                  <a:pt x="4658880" y="65228"/>
                  <a:pt x="4658880" y="145692"/>
                </a:cubicBezTo>
                <a:lnTo>
                  <a:pt x="4658880" y="1544859"/>
                </a:lnTo>
                <a:cubicBezTo>
                  <a:pt x="4658880" y="1625323"/>
                  <a:pt x="4593651" y="1690551"/>
                  <a:pt x="4513188" y="1690551"/>
                </a:cubicBezTo>
                <a:lnTo>
                  <a:pt x="145692" y="1690551"/>
                </a:lnTo>
                <a:cubicBezTo>
                  <a:pt x="65282" y="1690551"/>
                  <a:pt x="0" y="1625269"/>
                  <a:pt x="0" y="1544859"/>
                </a:cubicBezTo>
                <a:lnTo>
                  <a:pt x="0" y="145692"/>
                </a:lnTo>
                <a:cubicBezTo>
                  <a:pt x="0" y="65282"/>
                  <a:pt x="65282" y="0"/>
                  <a:pt x="145692" y="0"/>
                </a:cubicBezTo>
                <a:close/>
              </a:path>
            </a:pathLst>
          </a:custGeom>
          <a:gradFill flip="none" rotWithShape="1">
            <a:gsLst>
              <a:gs pos="0">
                <a:srgbClr val="161B22"/>
              </a:gs>
              <a:gs pos="100000">
                <a:srgbClr val="0D1117"/>
              </a:gs>
            </a:gsLst>
            <a:lin ang="2700000" scaled="1"/>
          </a:gradFill>
          <a:ln w="8467">
            <a:solidFill>
              <a:srgbClr val="30363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52388" y="1881763"/>
            <a:ext cx="509897" cy="509897"/>
          </a:xfrm>
          <a:custGeom>
            <a:avLst/>
            <a:gdLst/>
            <a:ahLst/>
            <a:cxnLst/>
            <a:rect l="l" t="t" r="r" b="b"/>
            <a:pathLst>
              <a:path w="509897" h="509897">
                <a:moveTo>
                  <a:pt x="109266" y="0"/>
                </a:moveTo>
                <a:lnTo>
                  <a:pt x="400631" y="0"/>
                </a:lnTo>
                <a:cubicBezTo>
                  <a:pt x="460977" y="0"/>
                  <a:pt x="509897" y="48920"/>
                  <a:pt x="509897" y="109266"/>
                </a:cubicBezTo>
                <a:lnTo>
                  <a:pt x="509897" y="400631"/>
                </a:lnTo>
                <a:cubicBezTo>
                  <a:pt x="509897" y="460977"/>
                  <a:pt x="460977" y="509897"/>
                  <a:pt x="400631" y="509897"/>
                </a:cubicBezTo>
                <a:lnTo>
                  <a:pt x="109266" y="509897"/>
                </a:lnTo>
                <a:cubicBezTo>
                  <a:pt x="48920" y="509897"/>
                  <a:pt x="0" y="460977"/>
                  <a:pt x="0" y="400631"/>
                </a:cubicBezTo>
                <a:lnTo>
                  <a:pt x="0" y="109266"/>
                </a:lnTo>
                <a:cubicBezTo>
                  <a:pt x="0" y="48920"/>
                  <a:pt x="48920" y="0"/>
                  <a:pt x="109266" y="0"/>
                </a:cubicBezTo>
                <a:close/>
              </a:path>
            </a:pathLst>
          </a:custGeom>
          <a:gradFill flip="none" rotWithShape="1">
            <a:gsLst>
              <a:gs pos="0">
                <a:srgbClr val="00D9FF"/>
              </a:gs>
              <a:gs pos="100000">
                <a:srgbClr val="58A6FF"/>
              </a:gs>
            </a:gsLst>
            <a:lin ang="2700000" scaled="1"/>
          </a:gradFill>
          <a:ln/>
        </p:spPr>
      </p:sp>
      <p:sp>
        <p:nvSpPr>
          <p:cNvPr id="8" name="Shape 6"/>
          <p:cNvSpPr/>
          <p:nvPr/>
        </p:nvSpPr>
        <p:spPr>
          <a:xfrm>
            <a:off x="698073" y="2027448"/>
            <a:ext cx="218527" cy="218527"/>
          </a:xfrm>
          <a:custGeom>
            <a:avLst/>
            <a:gdLst/>
            <a:ahLst/>
            <a:cxnLst/>
            <a:rect l="l" t="t" r="r" b="b"/>
            <a:pathLst>
              <a:path w="218527" h="218527">
                <a:moveTo>
                  <a:pt x="109264" y="0"/>
                </a:moveTo>
                <a:cubicBezTo>
                  <a:pt x="111227" y="0"/>
                  <a:pt x="113190" y="427"/>
                  <a:pt x="114983" y="1238"/>
                </a:cubicBezTo>
                <a:lnTo>
                  <a:pt x="195394" y="35340"/>
                </a:lnTo>
                <a:cubicBezTo>
                  <a:pt x="204784" y="39309"/>
                  <a:pt x="211784" y="48571"/>
                  <a:pt x="211741" y="59754"/>
                </a:cubicBezTo>
                <a:cubicBezTo>
                  <a:pt x="211528" y="102093"/>
                  <a:pt x="194114" y="179559"/>
                  <a:pt x="120574" y="214771"/>
                </a:cubicBezTo>
                <a:cubicBezTo>
                  <a:pt x="113446" y="218186"/>
                  <a:pt x="105166" y="218186"/>
                  <a:pt x="98038" y="214771"/>
                </a:cubicBezTo>
                <a:cubicBezTo>
                  <a:pt x="24456" y="179559"/>
                  <a:pt x="7085" y="102093"/>
                  <a:pt x="6872" y="59754"/>
                </a:cubicBezTo>
                <a:cubicBezTo>
                  <a:pt x="6829" y="48571"/>
                  <a:pt x="13829" y="39309"/>
                  <a:pt x="23219" y="35340"/>
                </a:cubicBezTo>
                <a:lnTo>
                  <a:pt x="103587" y="1238"/>
                </a:lnTo>
                <a:cubicBezTo>
                  <a:pt x="105380" y="427"/>
                  <a:pt x="107300" y="0"/>
                  <a:pt x="109264" y="0"/>
                </a:cubicBezTo>
                <a:close/>
                <a:moveTo>
                  <a:pt x="109264" y="28511"/>
                </a:moveTo>
                <a:lnTo>
                  <a:pt x="109264" y="189888"/>
                </a:lnTo>
                <a:cubicBezTo>
                  <a:pt x="168164" y="161377"/>
                  <a:pt x="183998" y="98209"/>
                  <a:pt x="184382" y="60394"/>
                </a:cubicBezTo>
                <a:lnTo>
                  <a:pt x="109264" y="28554"/>
                </a:lnTo>
                <a:lnTo>
                  <a:pt x="109264" y="28554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1207970" y="1863553"/>
            <a:ext cx="1484164" cy="1821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4" dirty="0">
                <a:solidFill>
                  <a:srgbClr val="8B94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Safety Stock Level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07970" y="2045659"/>
            <a:ext cx="1584323" cy="364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581" b="1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89K Units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55423" y="2558591"/>
            <a:ext cx="4285562" cy="625231"/>
          </a:xfrm>
          <a:custGeom>
            <a:avLst/>
            <a:gdLst/>
            <a:ahLst/>
            <a:cxnLst/>
            <a:rect l="l" t="t" r="r" b="b"/>
            <a:pathLst>
              <a:path w="4285562" h="625231">
                <a:moveTo>
                  <a:pt x="72839" y="0"/>
                </a:moveTo>
                <a:lnTo>
                  <a:pt x="4212723" y="0"/>
                </a:lnTo>
                <a:cubicBezTo>
                  <a:pt x="4252951" y="0"/>
                  <a:pt x="4285562" y="32611"/>
                  <a:pt x="4285562" y="72839"/>
                </a:cubicBezTo>
                <a:lnTo>
                  <a:pt x="4285562" y="552391"/>
                </a:lnTo>
                <a:cubicBezTo>
                  <a:pt x="4285562" y="592619"/>
                  <a:pt x="4252951" y="625231"/>
                  <a:pt x="4212723" y="625231"/>
                </a:cubicBezTo>
                <a:lnTo>
                  <a:pt x="72839" y="625231"/>
                </a:lnTo>
                <a:cubicBezTo>
                  <a:pt x="32611" y="625231"/>
                  <a:pt x="0" y="592619"/>
                  <a:pt x="0" y="552391"/>
                </a:cubicBezTo>
                <a:lnTo>
                  <a:pt x="0" y="72839"/>
                </a:lnTo>
                <a:cubicBezTo>
                  <a:pt x="0" y="32638"/>
                  <a:pt x="32638" y="0"/>
                  <a:pt x="72839" y="0"/>
                </a:cubicBezTo>
                <a:close/>
              </a:path>
            </a:pathLst>
          </a:custGeom>
          <a:solidFill>
            <a:srgbClr val="0D1117"/>
          </a:solidFill>
          <a:ln w="8467">
            <a:solidFill>
              <a:srgbClr val="21262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933" y="2689101"/>
            <a:ext cx="145685" cy="145685"/>
          </a:xfrm>
          <a:custGeom>
            <a:avLst/>
            <a:gdLst/>
            <a:ahLst/>
            <a:cxnLst/>
            <a:rect l="l" t="t" r="r" b="b"/>
            <a:pathLst>
              <a:path w="145685" h="145685">
                <a:moveTo>
                  <a:pt x="72842" y="145685"/>
                </a:moveTo>
                <a:cubicBezTo>
                  <a:pt x="113045" y="145685"/>
                  <a:pt x="145685" y="113045"/>
                  <a:pt x="145685" y="72842"/>
                </a:cubicBezTo>
                <a:cubicBezTo>
                  <a:pt x="145685" y="32640"/>
                  <a:pt x="113045" y="0"/>
                  <a:pt x="72842" y="0"/>
                </a:cubicBezTo>
                <a:cubicBezTo>
                  <a:pt x="32640" y="0"/>
                  <a:pt x="0" y="32640"/>
                  <a:pt x="0" y="72842"/>
                </a:cubicBezTo>
                <a:cubicBezTo>
                  <a:pt x="0" y="113045"/>
                  <a:pt x="32640" y="145685"/>
                  <a:pt x="72842" y="145685"/>
                </a:cubicBezTo>
                <a:close/>
                <a:moveTo>
                  <a:pt x="96858" y="60522"/>
                </a:moveTo>
                <a:lnTo>
                  <a:pt x="74094" y="96943"/>
                </a:lnTo>
                <a:cubicBezTo>
                  <a:pt x="72899" y="98849"/>
                  <a:pt x="70851" y="100045"/>
                  <a:pt x="68603" y="100158"/>
                </a:cubicBezTo>
                <a:cubicBezTo>
                  <a:pt x="66355" y="100272"/>
                  <a:pt x="64192" y="99248"/>
                  <a:pt x="62855" y="97427"/>
                </a:cubicBezTo>
                <a:lnTo>
                  <a:pt x="49197" y="79216"/>
                </a:lnTo>
                <a:cubicBezTo>
                  <a:pt x="46921" y="76200"/>
                  <a:pt x="47547" y="71932"/>
                  <a:pt x="50563" y="69656"/>
                </a:cubicBezTo>
                <a:cubicBezTo>
                  <a:pt x="53579" y="67379"/>
                  <a:pt x="57847" y="68005"/>
                  <a:pt x="60123" y="71021"/>
                </a:cubicBezTo>
                <a:lnTo>
                  <a:pt x="67806" y="81265"/>
                </a:lnTo>
                <a:lnTo>
                  <a:pt x="85277" y="53294"/>
                </a:lnTo>
                <a:cubicBezTo>
                  <a:pt x="87269" y="50108"/>
                  <a:pt x="91480" y="49112"/>
                  <a:pt x="94695" y="51132"/>
                </a:cubicBezTo>
                <a:cubicBezTo>
                  <a:pt x="97910" y="53152"/>
                  <a:pt x="98878" y="57335"/>
                  <a:pt x="96858" y="60550"/>
                </a:cubicBezTo>
                <a:close/>
              </a:path>
            </a:pathLst>
          </a:custGeom>
          <a:solidFill>
            <a:srgbClr val="00D9FF"/>
          </a:solidFill>
          <a:ln/>
        </p:spPr>
      </p:sp>
      <p:sp>
        <p:nvSpPr>
          <p:cNvPr id="13" name="Text 11"/>
          <p:cNvSpPr/>
          <p:nvPr/>
        </p:nvSpPr>
        <p:spPr>
          <a:xfrm>
            <a:off x="922671" y="2670890"/>
            <a:ext cx="1557007" cy="1821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4" b="1" dirty="0">
                <a:solidFill>
                  <a:srgbClr val="E6EDF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Zero Production Downtime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67722" y="2925839"/>
            <a:ext cx="4115597" cy="1456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60" dirty="0">
                <a:solidFill>
                  <a:srgbClr val="8B94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Maintained for 18 consecutive months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67247" y="3523753"/>
            <a:ext cx="4658880" cy="3329506"/>
          </a:xfrm>
          <a:custGeom>
            <a:avLst/>
            <a:gdLst/>
            <a:ahLst/>
            <a:cxnLst/>
            <a:rect l="l" t="t" r="r" b="b"/>
            <a:pathLst>
              <a:path w="4658880" h="3329506">
                <a:moveTo>
                  <a:pt x="145699" y="0"/>
                </a:moveTo>
                <a:lnTo>
                  <a:pt x="4513181" y="0"/>
                </a:lnTo>
                <a:cubicBezTo>
                  <a:pt x="4593648" y="0"/>
                  <a:pt x="4658880" y="65232"/>
                  <a:pt x="4658880" y="145699"/>
                </a:cubicBezTo>
                <a:lnTo>
                  <a:pt x="4658880" y="3183806"/>
                </a:lnTo>
                <a:cubicBezTo>
                  <a:pt x="4658880" y="3264274"/>
                  <a:pt x="4593648" y="3329506"/>
                  <a:pt x="4513181" y="3329506"/>
                </a:cubicBezTo>
                <a:lnTo>
                  <a:pt x="145699" y="3329506"/>
                </a:lnTo>
                <a:cubicBezTo>
                  <a:pt x="65232" y="3329506"/>
                  <a:pt x="0" y="3264274"/>
                  <a:pt x="0" y="3183806"/>
                </a:cubicBezTo>
                <a:lnTo>
                  <a:pt x="0" y="145699"/>
                </a:lnTo>
                <a:cubicBezTo>
                  <a:pt x="0" y="65286"/>
                  <a:pt x="65286" y="0"/>
                  <a:pt x="145699" y="0"/>
                </a:cubicBezTo>
                <a:close/>
              </a:path>
            </a:pathLst>
          </a:custGeom>
          <a:gradFill flip="none" rotWithShape="1">
            <a:gsLst>
              <a:gs pos="0">
                <a:srgbClr val="161B22"/>
              </a:gs>
              <a:gs pos="100000">
                <a:srgbClr val="0D1117"/>
              </a:gs>
            </a:gsLst>
            <a:lin ang="2700000" scaled="1"/>
          </a:gradFill>
          <a:ln w="8467">
            <a:solidFill>
              <a:srgbClr val="30363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52388" y="3708895"/>
            <a:ext cx="4370545" cy="2549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91" b="1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Product Portfolio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55423" y="4112563"/>
            <a:ext cx="4285562" cy="552388"/>
          </a:xfrm>
          <a:custGeom>
            <a:avLst/>
            <a:gdLst/>
            <a:ahLst/>
            <a:cxnLst/>
            <a:rect l="l" t="t" r="r" b="b"/>
            <a:pathLst>
              <a:path w="4285562" h="552388">
                <a:moveTo>
                  <a:pt x="72843" y="0"/>
                </a:moveTo>
                <a:lnTo>
                  <a:pt x="4212719" y="0"/>
                </a:lnTo>
                <a:cubicBezTo>
                  <a:pt x="4252949" y="0"/>
                  <a:pt x="4285562" y="32613"/>
                  <a:pt x="4285562" y="72843"/>
                </a:cubicBezTo>
                <a:lnTo>
                  <a:pt x="4285562" y="479545"/>
                </a:lnTo>
                <a:cubicBezTo>
                  <a:pt x="4285562" y="519775"/>
                  <a:pt x="4252949" y="552388"/>
                  <a:pt x="4212719" y="552388"/>
                </a:cubicBezTo>
                <a:lnTo>
                  <a:pt x="72843" y="552388"/>
                </a:lnTo>
                <a:cubicBezTo>
                  <a:pt x="32613" y="552388"/>
                  <a:pt x="0" y="519775"/>
                  <a:pt x="0" y="479545"/>
                </a:cubicBezTo>
                <a:lnTo>
                  <a:pt x="0" y="72843"/>
                </a:lnTo>
                <a:cubicBezTo>
                  <a:pt x="0" y="32640"/>
                  <a:pt x="32640" y="0"/>
                  <a:pt x="72843" y="0"/>
                </a:cubicBezTo>
                <a:close/>
              </a:path>
            </a:pathLst>
          </a:custGeom>
          <a:solidFill>
            <a:srgbClr val="0D1117"/>
          </a:solidFill>
          <a:ln w="8467">
            <a:solidFill>
              <a:srgbClr val="21262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0972" y="4306808"/>
            <a:ext cx="122922" cy="163895"/>
          </a:xfrm>
          <a:custGeom>
            <a:avLst/>
            <a:gdLst/>
            <a:ahLst/>
            <a:cxnLst/>
            <a:rect l="l" t="t" r="r" b="b"/>
            <a:pathLst>
              <a:path w="122922" h="163895">
                <a:moveTo>
                  <a:pt x="5122" y="20487"/>
                </a:moveTo>
                <a:cubicBezTo>
                  <a:pt x="5122" y="9187"/>
                  <a:pt x="14309" y="0"/>
                  <a:pt x="25609" y="0"/>
                </a:cubicBezTo>
                <a:lnTo>
                  <a:pt x="97313" y="0"/>
                </a:lnTo>
                <a:cubicBezTo>
                  <a:pt x="108613" y="0"/>
                  <a:pt x="117800" y="9187"/>
                  <a:pt x="117800" y="20487"/>
                </a:cubicBezTo>
                <a:lnTo>
                  <a:pt x="117800" y="143409"/>
                </a:lnTo>
                <a:cubicBezTo>
                  <a:pt x="117800" y="154708"/>
                  <a:pt x="108613" y="163895"/>
                  <a:pt x="97313" y="163895"/>
                </a:cubicBezTo>
                <a:lnTo>
                  <a:pt x="25609" y="163895"/>
                </a:lnTo>
                <a:cubicBezTo>
                  <a:pt x="14309" y="163895"/>
                  <a:pt x="5122" y="154708"/>
                  <a:pt x="5122" y="143409"/>
                </a:cubicBezTo>
                <a:lnTo>
                  <a:pt x="5122" y="20487"/>
                </a:lnTo>
                <a:close/>
                <a:moveTo>
                  <a:pt x="25609" y="20487"/>
                </a:moveTo>
                <a:lnTo>
                  <a:pt x="25609" y="117800"/>
                </a:lnTo>
                <a:lnTo>
                  <a:pt x="97313" y="117800"/>
                </a:lnTo>
                <a:lnTo>
                  <a:pt x="97313" y="20487"/>
                </a:lnTo>
                <a:lnTo>
                  <a:pt x="25609" y="20487"/>
                </a:lnTo>
                <a:close/>
                <a:moveTo>
                  <a:pt x="61461" y="151091"/>
                </a:moveTo>
                <a:cubicBezTo>
                  <a:pt x="67127" y="151091"/>
                  <a:pt x="71704" y="146514"/>
                  <a:pt x="71704" y="140848"/>
                </a:cubicBezTo>
                <a:cubicBezTo>
                  <a:pt x="71704" y="135182"/>
                  <a:pt x="67127" y="130604"/>
                  <a:pt x="61461" y="130604"/>
                </a:cubicBezTo>
                <a:cubicBezTo>
                  <a:pt x="55795" y="130604"/>
                  <a:pt x="51217" y="135182"/>
                  <a:pt x="51217" y="140848"/>
                </a:cubicBezTo>
                <a:cubicBezTo>
                  <a:pt x="51217" y="146514"/>
                  <a:pt x="55795" y="151091"/>
                  <a:pt x="61461" y="151091"/>
                </a:cubicBezTo>
                <a:close/>
              </a:path>
            </a:pathLst>
          </a:custGeom>
          <a:solidFill>
            <a:srgbClr val="58A6FF"/>
          </a:solidFill>
          <a:ln/>
        </p:spPr>
      </p:sp>
      <p:sp>
        <p:nvSpPr>
          <p:cNvPr id="19" name="Text 17"/>
          <p:cNvSpPr/>
          <p:nvPr/>
        </p:nvSpPr>
        <p:spPr>
          <a:xfrm>
            <a:off x="981855" y="4224860"/>
            <a:ext cx="1092636" cy="1821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4" b="1" dirty="0">
                <a:solidFill>
                  <a:srgbClr val="E6EDF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Galaxy S24 Series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81855" y="4406966"/>
            <a:ext cx="1083531" cy="1456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60" dirty="0">
                <a:solidFill>
                  <a:srgbClr val="8B94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Flagship smartphones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457994" y="4279492"/>
            <a:ext cx="346001" cy="2185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7" b="1" dirty="0">
                <a:solidFill>
                  <a:srgbClr val="00D9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45%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55423" y="4780285"/>
            <a:ext cx="4285562" cy="552388"/>
          </a:xfrm>
          <a:custGeom>
            <a:avLst/>
            <a:gdLst/>
            <a:ahLst/>
            <a:cxnLst/>
            <a:rect l="l" t="t" r="r" b="b"/>
            <a:pathLst>
              <a:path w="4285562" h="552388">
                <a:moveTo>
                  <a:pt x="72843" y="0"/>
                </a:moveTo>
                <a:lnTo>
                  <a:pt x="4212719" y="0"/>
                </a:lnTo>
                <a:cubicBezTo>
                  <a:pt x="4252949" y="0"/>
                  <a:pt x="4285562" y="32613"/>
                  <a:pt x="4285562" y="72843"/>
                </a:cubicBezTo>
                <a:lnTo>
                  <a:pt x="4285562" y="479545"/>
                </a:lnTo>
                <a:cubicBezTo>
                  <a:pt x="4285562" y="519775"/>
                  <a:pt x="4252949" y="552388"/>
                  <a:pt x="4212719" y="552388"/>
                </a:cubicBezTo>
                <a:lnTo>
                  <a:pt x="72843" y="552388"/>
                </a:lnTo>
                <a:cubicBezTo>
                  <a:pt x="32613" y="552388"/>
                  <a:pt x="0" y="519775"/>
                  <a:pt x="0" y="479545"/>
                </a:cubicBezTo>
                <a:lnTo>
                  <a:pt x="0" y="72843"/>
                </a:lnTo>
                <a:cubicBezTo>
                  <a:pt x="0" y="32640"/>
                  <a:pt x="32640" y="0"/>
                  <a:pt x="72843" y="0"/>
                </a:cubicBezTo>
                <a:close/>
              </a:path>
            </a:pathLst>
          </a:custGeom>
          <a:solidFill>
            <a:srgbClr val="0D1117"/>
          </a:solidFill>
          <a:ln w="8467">
            <a:solidFill>
              <a:srgbClr val="21262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00729" y="4974532"/>
            <a:ext cx="143409" cy="163895"/>
          </a:xfrm>
          <a:custGeom>
            <a:avLst/>
            <a:gdLst/>
            <a:ahLst/>
            <a:cxnLst/>
            <a:rect l="l" t="t" r="r" b="b"/>
            <a:pathLst>
              <a:path w="143409" h="163895">
                <a:moveTo>
                  <a:pt x="0" y="20487"/>
                </a:moveTo>
                <a:cubicBezTo>
                  <a:pt x="0" y="9187"/>
                  <a:pt x="9187" y="0"/>
                  <a:pt x="20487" y="0"/>
                </a:cubicBezTo>
                <a:lnTo>
                  <a:pt x="122922" y="0"/>
                </a:lnTo>
                <a:cubicBezTo>
                  <a:pt x="134221" y="0"/>
                  <a:pt x="143409" y="9187"/>
                  <a:pt x="143409" y="20487"/>
                </a:cubicBezTo>
                <a:lnTo>
                  <a:pt x="143409" y="143409"/>
                </a:lnTo>
                <a:cubicBezTo>
                  <a:pt x="143409" y="154708"/>
                  <a:pt x="134221" y="163895"/>
                  <a:pt x="122922" y="163895"/>
                </a:cubicBezTo>
                <a:lnTo>
                  <a:pt x="20487" y="163895"/>
                </a:lnTo>
                <a:cubicBezTo>
                  <a:pt x="9187" y="163895"/>
                  <a:pt x="0" y="154708"/>
                  <a:pt x="0" y="143409"/>
                </a:cubicBezTo>
                <a:lnTo>
                  <a:pt x="0" y="20487"/>
                </a:lnTo>
                <a:close/>
                <a:moveTo>
                  <a:pt x="81948" y="138287"/>
                </a:moveTo>
                <a:cubicBezTo>
                  <a:pt x="81948" y="132633"/>
                  <a:pt x="77358" y="128043"/>
                  <a:pt x="71704" y="128043"/>
                </a:cubicBezTo>
                <a:cubicBezTo>
                  <a:pt x="66051" y="128043"/>
                  <a:pt x="61461" y="132633"/>
                  <a:pt x="61461" y="138287"/>
                </a:cubicBezTo>
                <a:cubicBezTo>
                  <a:pt x="61461" y="143940"/>
                  <a:pt x="66051" y="148530"/>
                  <a:pt x="71704" y="148530"/>
                </a:cubicBezTo>
                <a:cubicBezTo>
                  <a:pt x="77358" y="148530"/>
                  <a:pt x="81948" y="143940"/>
                  <a:pt x="81948" y="138287"/>
                </a:cubicBezTo>
                <a:close/>
                <a:moveTo>
                  <a:pt x="122922" y="20487"/>
                </a:moveTo>
                <a:lnTo>
                  <a:pt x="20487" y="20487"/>
                </a:lnTo>
                <a:lnTo>
                  <a:pt x="20487" y="112678"/>
                </a:lnTo>
                <a:lnTo>
                  <a:pt x="122922" y="112678"/>
                </a:lnTo>
                <a:lnTo>
                  <a:pt x="122922" y="20487"/>
                </a:lnTo>
                <a:close/>
              </a:path>
            </a:pathLst>
          </a:custGeom>
          <a:solidFill>
            <a:srgbClr val="58A6FF"/>
          </a:solidFill>
          <a:ln/>
        </p:spPr>
      </p:sp>
      <p:sp>
        <p:nvSpPr>
          <p:cNvPr id="24" name="Text 22"/>
          <p:cNvSpPr/>
          <p:nvPr/>
        </p:nvSpPr>
        <p:spPr>
          <a:xfrm>
            <a:off x="981855" y="4892584"/>
            <a:ext cx="855898" cy="1821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4" b="1" dirty="0">
                <a:solidFill>
                  <a:srgbClr val="E6EDF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Z Fold Series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981855" y="5074690"/>
            <a:ext cx="846793" cy="1456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60" dirty="0">
                <a:solidFill>
                  <a:srgbClr val="8B94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Foldable devices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4454959" y="4947216"/>
            <a:ext cx="346001" cy="2185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7" b="1" dirty="0">
                <a:solidFill>
                  <a:srgbClr val="00D9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28%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555423" y="5448006"/>
            <a:ext cx="4285562" cy="552388"/>
          </a:xfrm>
          <a:custGeom>
            <a:avLst/>
            <a:gdLst/>
            <a:ahLst/>
            <a:cxnLst/>
            <a:rect l="l" t="t" r="r" b="b"/>
            <a:pathLst>
              <a:path w="4285562" h="552388">
                <a:moveTo>
                  <a:pt x="72843" y="0"/>
                </a:moveTo>
                <a:lnTo>
                  <a:pt x="4212719" y="0"/>
                </a:lnTo>
                <a:cubicBezTo>
                  <a:pt x="4252949" y="0"/>
                  <a:pt x="4285562" y="32613"/>
                  <a:pt x="4285562" y="72843"/>
                </a:cubicBezTo>
                <a:lnTo>
                  <a:pt x="4285562" y="479545"/>
                </a:lnTo>
                <a:cubicBezTo>
                  <a:pt x="4285562" y="519775"/>
                  <a:pt x="4252949" y="552388"/>
                  <a:pt x="4212719" y="552388"/>
                </a:cubicBezTo>
                <a:lnTo>
                  <a:pt x="72843" y="552388"/>
                </a:lnTo>
                <a:cubicBezTo>
                  <a:pt x="32613" y="552388"/>
                  <a:pt x="0" y="519775"/>
                  <a:pt x="0" y="479545"/>
                </a:cubicBezTo>
                <a:lnTo>
                  <a:pt x="0" y="72843"/>
                </a:lnTo>
                <a:cubicBezTo>
                  <a:pt x="0" y="32640"/>
                  <a:pt x="32640" y="0"/>
                  <a:pt x="72843" y="0"/>
                </a:cubicBezTo>
                <a:close/>
              </a:path>
            </a:pathLst>
          </a:custGeom>
          <a:solidFill>
            <a:srgbClr val="0D1117"/>
          </a:solidFill>
          <a:ln w="8467">
            <a:solidFill>
              <a:srgbClr val="21262D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90485" y="5642253"/>
            <a:ext cx="163895" cy="163895"/>
          </a:xfrm>
          <a:custGeom>
            <a:avLst/>
            <a:gdLst/>
            <a:ahLst/>
            <a:cxnLst/>
            <a:rect l="l" t="t" r="r" b="b"/>
            <a:pathLst>
              <a:path w="163895" h="163895">
                <a:moveTo>
                  <a:pt x="21095" y="73145"/>
                </a:moveTo>
                <a:cubicBezTo>
                  <a:pt x="25353" y="43375"/>
                  <a:pt x="50993" y="20487"/>
                  <a:pt x="81948" y="20487"/>
                </a:cubicBezTo>
                <a:cubicBezTo>
                  <a:pt x="98913" y="20487"/>
                  <a:pt x="114279" y="27369"/>
                  <a:pt x="125418" y="38477"/>
                </a:cubicBezTo>
                <a:cubicBezTo>
                  <a:pt x="125482" y="38541"/>
                  <a:pt x="125546" y="38605"/>
                  <a:pt x="125610" y="38669"/>
                </a:cubicBezTo>
                <a:lnTo>
                  <a:pt x="128043" y="40974"/>
                </a:lnTo>
                <a:lnTo>
                  <a:pt x="112710" y="40974"/>
                </a:lnTo>
                <a:cubicBezTo>
                  <a:pt x="107044" y="40974"/>
                  <a:pt x="102467" y="45551"/>
                  <a:pt x="102467" y="51217"/>
                </a:cubicBezTo>
                <a:cubicBezTo>
                  <a:pt x="102467" y="56883"/>
                  <a:pt x="107044" y="61461"/>
                  <a:pt x="112710" y="61461"/>
                </a:cubicBezTo>
                <a:lnTo>
                  <a:pt x="153684" y="61461"/>
                </a:lnTo>
                <a:cubicBezTo>
                  <a:pt x="159350" y="61461"/>
                  <a:pt x="163927" y="56883"/>
                  <a:pt x="163927" y="51217"/>
                </a:cubicBezTo>
                <a:lnTo>
                  <a:pt x="163927" y="10243"/>
                </a:lnTo>
                <a:cubicBezTo>
                  <a:pt x="163927" y="4578"/>
                  <a:pt x="159350" y="0"/>
                  <a:pt x="153684" y="0"/>
                </a:cubicBezTo>
                <a:cubicBezTo>
                  <a:pt x="148018" y="0"/>
                  <a:pt x="143441" y="4578"/>
                  <a:pt x="143441" y="10243"/>
                </a:cubicBezTo>
                <a:lnTo>
                  <a:pt x="143441" y="27337"/>
                </a:lnTo>
                <a:lnTo>
                  <a:pt x="139823" y="23912"/>
                </a:lnTo>
                <a:cubicBezTo>
                  <a:pt x="125002" y="9155"/>
                  <a:pt x="104515" y="0"/>
                  <a:pt x="81948" y="0"/>
                </a:cubicBezTo>
                <a:cubicBezTo>
                  <a:pt x="40654" y="0"/>
                  <a:pt x="6498" y="30538"/>
                  <a:pt x="832" y="70264"/>
                </a:cubicBezTo>
                <a:cubicBezTo>
                  <a:pt x="32" y="75866"/>
                  <a:pt x="3905" y="81051"/>
                  <a:pt x="9507" y="81852"/>
                </a:cubicBezTo>
                <a:cubicBezTo>
                  <a:pt x="15109" y="82652"/>
                  <a:pt x="20295" y="78747"/>
                  <a:pt x="21095" y="73177"/>
                </a:cubicBezTo>
                <a:close/>
                <a:moveTo>
                  <a:pt x="163063" y="93632"/>
                </a:moveTo>
                <a:cubicBezTo>
                  <a:pt x="163863" y="88030"/>
                  <a:pt x="159958" y="82844"/>
                  <a:pt x="154388" y="82044"/>
                </a:cubicBezTo>
                <a:cubicBezTo>
                  <a:pt x="148818" y="81243"/>
                  <a:pt x="143601" y="85149"/>
                  <a:pt x="142800" y="90719"/>
                </a:cubicBezTo>
                <a:cubicBezTo>
                  <a:pt x="138543" y="120489"/>
                  <a:pt x="112902" y="143377"/>
                  <a:pt x="81948" y="143377"/>
                </a:cubicBezTo>
                <a:cubicBezTo>
                  <a:pt x="64982" y="143377"/>
                  <a:pt x="49617" y="136494"/>
                  <a:pt x="38477" y="125386"/>
                </a:cubicBezTo>
                <a:cubicBezTo>
                  <a:pt x="38413" y="125322"/>
                  <a:pt x="38349" y="125258"/>
                  <a:pt x="38285" y="125194"/>
                </a:cubicBezTo>
                <a:lnTo>
                  <a:pt x="35852" y="122890"/>
                </a:lnTo>
                <a:lnTo>
                  <a:pt x="51185" y="122890"/>
                </a:lnTo>
                <a:cubicBezTo>
                  <a:pt x="56851" y="122890"/>
                  <a:pt x="61429" y="118312"/>
                  <a:pt x="61429" y="112646"/>
                </a:cubicBezTo>
                <a:cubicBezTo>
                  <a:pt x="61429" y="106980"/>
                  <a:pt x="56851" y="102403"/>
                  <a:pt x="51185" y="102403"/>
                </a:cubicBezTo>
                <a:lnTo>
                  <a:pt x="10243" y="102435"/>
                </a:lnTo>
                <a:cubicBezTo>
                  <a:pt x="7523" y="102435"/>
                  <a:pt x="4898" y="103523"/>
                  <a:pt x="2977" y="105476"/>
                </a:cubicBezTo>
                <a:cubicBezTo>
                  <a:pt x="1056" y="107428"/>
                  <a:pt x="-32" y="110021"/>
                  <a:pt x="0" y="112774"/>
                </a:cubicBezTo>
                <a:lnTo>
                  <a:pt x="320" y="153428"/>
                </a:lnTo>
                <a:cubicBezTo>
                  <a:pt x="352" y="159094"/>
                  <a:pt x="4994" y="163639"/>
                  <a:pt x="10660" y="163575"/>
                </a:cubicBezTo>
                <a:cubicBezTo>
                  <a:pt x="16326" y="163511"/>
                  <a:pt x="20871" y="158902"/>
                  <a:pt x="20807" y="153236"/>
                </a:cubicBezTo>
                <a:lnTo>
                  <a:pt x="20679" y="136750"/>
                </a:lnTo>
                <a:lnTo>
                  <a:pt x="24104" y="139983"/>
                </a:lnTo>
                <a:cubicBezTo>
                  <a:pt x="38925" y="154740"/>
                  <a:pt x="59380" y="163895"/>
                  <a:pt x="81948" y="163895"/>
                </a:cubicBezTo>
                <a:cubicBezTo>
                  <a:pt x="123242" y="163895"/>
                  <a:pt x="157397" y="133357"/>
                  <a:pt x="163063" y="93632"/>
                </a:cubicBezTo>
                <a:close/>
              </a:path>
            </a:pathLst>
          </a:custGeom>
          <a:solidFill>
            <a:srgbClr val="58A6FF"/>
          </a:solidFill>
          <a:ln/>
        </p:spPr>
      </p:sp>
      <p:sp>
        <p:nvSpPr>
          <p:cNvPr id="29" name="Text 27"/>
          <p:cNvSpPr/>
          <p:nvPr/>
        </p:nvSpPr>
        <p:spPr>
          <a:xfrm>
            <a:off x="981855" y="5560305"/>
            <a:ext cx="1129058" cy="1821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4" b="1" dirty="0">
                <a:solidFill>
                  <a:srgbClr val="E6EDF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Wearables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981855" y="5742411"/>
            <a:ext cx="1119952" cy="1456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60" dirty="0">
                <a:solidFill>
                  <a:srgbClr val="8B94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Smart watches &amp; buds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4482939" y="5614937"/>
            <a:ext cx="318686" cy="2185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7" b="1" dirty="0">
                <a:solidFill>
                  <a:srgbClr val="00D9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18%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555423" y="6115730"/>
            <a:ext cx="4285562" cy="552388"/>
          </a:xfrm>
          <a:custGeom>
            <a:avLst/>
            <a:gdLst/>
            <a:ahLst/>
            <a:cxnLst/>
            <a:rect l="l" t="t" r="r" b="b"/>
            <a:pathLst>
              <a:path w="4285562" h="552388">
                <a:moveTo>
                  <a:pt x="72843" y="0"/>
                </a:moveTo>
                <a:lnTo>
                  <a:pt x="4212719" y="0"/>
                </a:lnTo>
                <a:cubicBezTo>
                  <a:pt x="4252949" y="0"/>
                  <a:pt x="4285562" y="32613"/>
                  <a:pt x="4285562" y="72843"/>
                </a:cubicBezTo>
                <a:lnTo>
                  <a:pt x="4285562" y="479545"/>
                </a:lnTo>
                <a:cubicBezTo>
                  <a:pt x="4285562" y="519775"/>
                  <a:pt x="4252949" y="552388"/>
                  <a:pt x="4212719" y="552388"/>
                </a:cubicBezTo>
                <a:lnTo>
                  <a:pt x="72843" y="552388"/>
                </a:lnTo>
                <a:cubicBezTo>
                  <a:pt x="32613" y="552388"/>
                  <a:pt x="0" y="519775"/>
                  <a:pt x="0" y="479545"/>
                </a:cubicBezTo>
                <a:lnTo>
                  <a:pt x="0" y="72843"/>
                </a:lnTo>
                <a:cubicBezTo>
                  <a:pt x="0" y="32640"/>
                  <a:pt x="32640" y="0"/>
                  <a:pt x="72843" y="0"/>
                </a:cubicBezTo>
                <a:close/>
              </a:path>
            </a:pathLst>
          </a:custGeom>
          <a:solidFill>
            <a:srgbClr val="0D1117"/>
          </a:solidFill>
          <a:ln w="8467">
            <a:solidFill>
              <a:srgbClr val="21262D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69999" y="6309975"/>
            <a:ext cx="204869" cy="163895"/>
          </a:xfrm>
          <a:custGeom>
            <a:avLst/>
            <a:gdLst/>
            <a:ahLst/>
            <a:cxnLst/>
            <a:rect l="l" t="t" r="r" b="b"/>
            <a:pathLst>
              <a:path w="204869" h="163895">
                <a:moveTo>
                  <a:pt x="40974" y="10243"/>
                </a:moveTo>
                <a:cubicBezTo>
                  <a:pt x="29674" y="10243"/>
                  <a:pt x="20487" y="19431"/>
                  <a:pt x="20487" y="30730"/>
                </a:cubicBezTo>
                <a:lnTo>
                  <a:pt x="20487" y="107556"/>
                </a:lnTo>
                <a:lnTo>
                  <a:pt x="40974" y="107556"/>
                </a:lnTo>
                <a:lnTo>
                  <a:pt x="40974" y="30730"/>
                </a:lnTo>
                <a:lnTo>
                  <a:pt x="163895" y="30730"/>
                </a:lnTo>
                <a:lnTo>
                  <a:pt x="163895" y="107556"/>
                </a:lnTo>
                <a:lnTo>
                  <a:pt x="184382" y="107556"/>
                </a:lnTo>
                <a:lnTo>
                  <a:pt x="184382" y="30730"/>
                </a:lnTo>
                <a:cubicBezTo>
                  <a:pt x="184382" y="19431"/>
                  <a:pt x="175195" y="10243"/>
                  <a:pt x="163895" y="10243"/>
                </a:cubicBezTo>
                <a:lnTo>
                  <a:pt x="40974" y="10243"/>
                </a:lnTo>
                <a:close/>
                <a:moveTo>
                  <a:pt x="6146" y="122922"/>
                </a:moveTo>
                <a:cubicBezTo>
                  <a:pt x="2753" y="122922"/>
                  <a:pt x="0" y="125675"/>
                  <a:pt x="0" y="129068"/>
                </a:cubicBezTo>
                <a:cubicBezTo>
                  <a:pt x="0" y="142640"/>
                  <a:pt x="11012" y="153652"/>
                  <a:pt x="24584" y="153652"/>
                </a:cubicBezTo>
                <a:lnTo>
                  <a:pt x="180285" y="153652"/>
                </a:lnTo>
                <a:cubicBezTo>
                  <a:pt x="193858" y="153652"/>
                  <a:pt x="204869" y="142640"/>
                  <a:pt x="204869" y="129068"/>
                </a:cubicBezTo>
                <a:cubicBezTo>
                  <a:pt x="204869" y="125675"/>
                  <a:pt x="202116" y="122922"/>
                  <a:pt x="198723" y="122922"/>
                </a:cubicBezTo>
                <a:lnTo>
                  <a:pt x="6146" y="122922"/>
                </a:lnTo>
                <a:close/>
              </a:path>
            </a:pathLst>
          </a:custGeom>
          <a:solidFill>
            <a:srgbClr val="58A6FF"/>
          </a:solidFill>
          <a:ln/>
        </p:spPr>
      </p:sp>
      <p:sp>
        <p:nvSpPr>
          <p:cNvPr id="34" name="Text 32"/>
          <p:cNvSpPr/>
          <p:nvPr/>
        </p:nvSpPr>
        <p:spPr>
          <a:xfrm>
            <a:off x="981855" y="6228027"/>
            <a:ext cx="883214" cy="1821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4" b="1" dirty="0">
                <a:solidFill>
                  <a:srgbClr val="E6EDF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Tablets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981855" y="6410133"/>
            <a:ext cx="874109" cy="1456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60" dirty="0">
                <a:solidFill>
                  <a:srgbClr val="8B94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Galaxy Tab series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4529983" y="6282659"/>
            <a:ext cx="273159" cy="2185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7" b="1" dirty="0">
                <a:solidFill>
                  <a:srgbClr val="00D9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9%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5218287" y="1678411"/>
            <a:ext cx="6607414" cy="5177882"/>
          </a:xfrm>
          <a:custGeom>
            <a:avLst/>
            <a:gdLst/>
            <a:ahLst/>
            <a:cxnLst/>
            <a:rect l="l" t="t" r="r" b="b"/>
            <a:pathLst>
              <a:path w="6607414" h="5177882">
                <a:moveTo>
                  <a:pt x="145706" y="0"/>
                </a:moveTo>
                <a:lnTo>
                  <a:pt x="6461709" y="0"/>
                </a:lnTo>
                <a:cubicBezTo>
                  <a:pt x="6542180" y="0"/>
                  <a:pt x="6607414" y="65235"/>
                  <a:pt x="6607414" y="145706"/>
                </a:cubicBezTo>
                <a:lnTo>
                  <a:pt x="6607414" y="5032176"/>
                </a:lnTo>
                <a:cubicBezTo>
                  <a:pt x="6607414" y="5112647"/>
                  <a:pt x="6542180" y="5177882"/>
                  <a:pt x="6461709" y="5177882"/>
                </a:cubicBezTo>
                <a:lnTo>
                  <a:pt x="145706" y="5177882"/>
                </a:lnTo>
                <a:cubicBezTo>
                  <a:pt x="65235" y="5177882"/>
                  <a:pt x="0" y="5112647"/>
                  <a:pt x="0" y="5032176"/>
                </a:cubicBezTo>
                <a:lnTo>
                  <a:pt x="0" y="145706"/>
                </a:lnTo>
                <a:cubicBezTo>
                  <a:pt x="0" y="65288"/>
                  <a:pt x="65288" y="0"/>
                  <a:pt x="145706" y="0"/>
                </a:cubicBezTo>
                <a:close/>
              </a:path>
            </a:pathLst>
          </a:custGeom>
          <a:gradFill flip="none" rotWithShape="1">
            <a:gsLst>
              <a:gs pos="0">
                <a:srgbClr val="161B22"/>
              </a:gs>
              <a:gs pos="100000">
                <a:srgbClr val="0D1117"/>
              </a:gs>
            </a:gsLst>
            <a:lin ang="2700000" scaled="1"/>
          </a:gradFill>
          <a:ln w="8467">
            <a:solidFill>
              <a:srgbClr val="30363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403428" y="1863553"/>
            <a:ext cx="2212588" cy="2549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34" b="1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Defect Rate Analysis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5403428" y="2118501"/>
            <a:ext cx="2185273" cy="1821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4" dirty="0">
                <a:solidFill>
                  <a:srgbClr val="8B94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Quality control metrics by product line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11095760" y="2009237"/>
            <a:ext cx="591845" cy="1456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60" dirty="0">
                <a:solidFill>
                  <a:srgbClr val="8B94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Target: &lt;2%</a:t>
            </a:r>
            <a:endParaRPr lang="en-US" sz="1600" dirty="0"/>
          </a:p>
        </p:txBody>
      </p:sp>
      <p:pic>
        <p:nvPicPr>
          <p:cNvPr id="41" name="Image 0" descr="https://kimi-img.moonshot.cn/pub/slides/26-02-18-02:11:47-d6aauos5rbs280d3ocvg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403428" y="2446292"/>
            <a:ext cx="5918447" cy="2913697"/>
          </a:xfrm>
          <a:prstGeom prst="roundRect">
            <a:avLst>
              <a:gd name="adj" fmla="val 0"/>
            </a:avLst>
          </a:prstGeom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6C646524-9B2E-D788-2467-7DF10325CFAA}"/>
              </a:ext>
            </a:extLst>
          </p:cNvPr>
          <p:cNvSpPr txBox="1"/>
          <p:nvPr/>
        </p:nvSpPr>
        <p:spPr>
          <a:xfrm>
            <a:off x="9575264" y="161925"/>
            <a:ext cx="26161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ssharma9663@gmail.com</a:t>
            </a:r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8100" cy="304800"/>
          </a:xfrm>
          <a:custGeom>
            <a:avLst/>
            <a:gdLst/>
            <a:ahLst/>
            <a:cxnLst/>
            <a:rect l="l" t="t" r="r" b="b"/>
            <a:pathLst>
              <a:path w="38100" h="304800">
                <a:moveTo>
                  <a:pt x="19050" y="0"/>
                </a:moveTo>
                <a:lnTo>
                  <a:pt x="19050" y="0"/>
                </a:lnTo>
                <a:cubicBezTo>
                  <a:pt x="29564" y="0"/>
                  <a:pt x="38100" y="8536"/>
                  <a:pt x="38100" y="19050"/>
                </a:cubicBezTo>
                <a:lnTo>
                  <a:pt x="38100" y="285750"/>
                </a:lnTo>
                <a:cubicBezTo>
                  <a:pt x="38100" y="296264"/>
                  <a:pt x="29564" y="304800"/>
                  <a:pt x="19050" y="304800"/>
                </a:cubicBezTo>
                <a:lnTo>
                  <a:pt x="19050" y="304800"/>
                </a:lnTo>
                <a:cubicBezTo>
                  <a:pt x="8536" y="304800"/>
                  <a:pt x="0" y="296264"/>
                  <a:pt x="0" y="285750"/>
                </a:cubicBezTo>
                <a:lnTo>
                  <a:pt x="0" y="19050"/>
                </a:lnTo>
                <a:cubicBezTo>
                  <a:pt x="0" y="8536"/>
                  <a:pt x="8536" y="0"/>
                  <a:pt x="19050" y="0"/>
                </a:cubicBezTo>
                <a:close/>
              </a:path>
            </a:pathLst>
          </a:custGeom>
          <a:gradFill flip="none" rotWithShape="1">
            <a:gsLst>
              <a:gs pos="0">
                <a:srgbClr val="F85149"/>
              </a:gs>
              <a:gs pos="0">
                <a:srgbClr val="FFFFFF"/>
              </a:gs>
              <a:gs pos="100000">
                <a:srgbClr val="D29922"/>
              </a:gs>
            </a:gsLst>
            <a:lin ang="5400000" scaled="1"/>
          </a:gradFill>
          <a:ln/>
        </p:spPr>
      </p:sp>
      <p:sp>
        <p:nvSpPr>
          <p:cNvPr id="3" name="Text 1"/>
          <p:cNvSpPr/>
          <p:nvPr/>
        </p:nvSpPr>
        <p:spPr>
          <a:xfrm>
            <a:off x="533400" y="438150"/>
            <a:ext cx="14192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kern="0" spc="210" dirty="0">
                <a:solidFill>
                  <a:srgbClr val="F8514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Critical Issue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7620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E6EDF3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The Logistics Bottleneck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81000" y="1295400"/>
            <a:ext cx="11515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8B94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Why are we delayed? Root cause analysis of shipment disruptions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84175" y="1755775"/>
            <a:ext cx="3673475" cy="1301750"/>
          </a:xfrm>
          <a:custGeom>
            <a:avLst/>
            <a:gdLst/>
            <a:ahLst/>
            <a:cxnLst/>
            <a:rect l="l" t="t" r="r" b="b"/>
            <a:pathLst>
              <a:path w="3673475" h="1301750">
                <a:moveTo>
                  <a:pt x="152396" y="0"/>
                </a:moveTo>
                <a:lnTo>
                  <a:pt x="3521079" y="0"/>
                </a:lnTo>
                <a:cubicBezTo>
                  <a:pt x="3605245" y="0"/>
                  <a:pt x="3673475" y="68230"/>
                  <a:pt x="3673475" y="152396"/>
                </a:cubicBezTo>
                <a:lnTo>
                  <a:pt x="3673475" y="1149354"/>
                </a:lnTo>
                <a:cubicBezTo>
                  <a:pt x="3673475" y="1233464"/>
                  <a:pt x="3605189" y="1301750"/>
                  <a:pt x="3521079" y="1301750"/>
                </a:cubicBezTo>
                <a:lnTo>
                  <a:pt x="152396" y="1301750"/>
                </a:lnTo>
                <a:cubicBezTo>
                  <a:pt x="68230" y="1301750"/>
                  <a:pt x="0" y="1233520"/>
                  <a:pt x="0" y="1149354"/>
                </a:cubicBezTo>
                <a:lnTo>
                  <a:pt x="0" y="152396"/>
                </a:lnTo>
                <a:cubicBezTo>
                  <a:pt x="0" y="68286"/>
                  <a:pt x="68286" y="0"/>
                  <a:pt x="152396" y="0"/>
                </a:cubicBezTo>
                <a:close/>
              </a:path>
            </a:pathLst>
          </a:custGeom>
          <a:gradFill flip="none" rotWithShape="1">
            <a:gsLst>
              <a:gs pos="0">
                <a:srgbClr val="161B22"/>
              </a:gs>
              <a:gs pos="100000">
                <a:srgbClr val="0D1117"/>
              </a:gs>
            </a:gsLst>
            <a:lin ang="2700000" scaled="1"/>
          </a:gradFill>
          <a:ln w="8467">
            <a:solidFill>
              <a:srgbClr val="F85149">
                <a:alpha val="50196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7850" y="1968501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F85149">
              <a:alpha val="2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730250" y="2120901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cubicBezTo>
                  <a:pt x="120863" y="0"/>
                  <a:pt x="126891" y="3617"/>
                  <a:pt x="130016" y="9376"/>
                </a:cubicBezTo>
                <a:lnTo>
                  <a:pt x="226457" y="187970"/>
                </a:lnTo>
                <a:cubicBezTo>
                  <a:pt x="229448" y="193506"/>
                  <a:pt x="229314" y="200204"/>
                  <a:pt x="226100" y="205606"/>
                </a:cubicBezTo>
                <a:cubicBezTo>
                  <a:pt x="222885" y="211009"/>
                  <a:pt x="217036" y="214313"/>
                  <a:pt x="210741" y="214313"/>
                </a:cubicBezTo>
                <a:lnTo>
                  <a:pt x="17859" y="214313"/>
                </a:lnTo>
                <a:cubicBezTo>
                  <a:pt x="11564" y="214313"/>
                  <a:pt x="5760" y="211009"/>
                  <a:pt x="2500" y="205606"/>
                </a:cubicBezTo>
                <a:cubicBezTo>
                  <a:pt x="-759" y="200204"/>
                  <a:pt x="-848" y="193506"/>
                  <a:pt x="2143" y="187970"/>
                </a:cubicBezTo>
                <a:lnTo>
                  <a:pt x="98584" y="9376"/>
                </a:lnTo>
                <a:cubicBezTo>
                  <a:pt x="101709" y="3617"/>
                  <a:pt x="107737" y="0"/>
                  <a:pt x="114300" y="0"/>
                </a:cubicBezTo>
                <a:close/>
                <a:moveTo>
                  <a:pt x="114300" y="75009"/>
                </a:moveTo>
                <a:cubicBezTo>
                  <a:pt x="108362" y="75009"/>
                  <a:pt x="103584" y="79787"/>
                  <a:pt x="103584" y="85725"/>
                </a:cubicBezTo>
                <a:lnTo>
                  <a:pt x="103584" y="135731"/>
                </a:lnTo>
                <a:cubicBezTo>
                  <a:pt x="103584" y="141669"/>
                  <a:pt x="108362" y="146447"/>
                  <a:pt x="114300" y="146447"/>
                </a:cubicBezTo>
                <a:cubicBezTo>
                  <a:pt x="120238" y="146447"/>
                  <a:pt x="125016" y="141669"/>
                  <a:pt x="125016" y="135731"/>
                </a:cubicBezTo>
                <a:lnTo>
                  <a:pt x="125016" y="85725"/>
                </a:lnTo>
                <a:cubicBezTo>
                  <a:pt x="125016" y="79787"/>
                  <a:pt x="120238" y="75009"/>
                  <a:pt x="114300" y="75009"/>
                </a:cubicBezTo>
                <a:close/>
                <a:moveTo>
                  <a:pt x="126221" y="171450"/>
                </a:moveTo>
                <a:cubicBezTo>
                  <a:pt x="126492" y="167025"/>
                  <a:pt x="124286" y="162815"/>
                  <a:pt x="120492" y="160521"/>
                </a:cubicBezTo>
                <a:cubicBezTo>
                  <a:pt x="116699" y="158226"/>
                  <a:pt x="111946" y="158226"/>
                  <a:pt x="108152" y="160521"/>
                </a:cubicBezTo>
                <a:cubicBezTo>
                  <a:pt x="104359" y="162815"/>
                  <a:pt x="102152" y="167025"/>
                  <a:pt x="102424" y="171450"/>
                </a:cubicBezTo>
                <a:cubicBezTo>
                  <a:pt x="102152" y="175875"/>
                  <a:pt x="104359" y="180085"/>
                  <a:pt x="108152" y="182379"/>
                </a:cubicBezTo>
                <a:cubicBezTo>
                  <a:pt x="111946" y="184674"/>
                  <a:pt x="116699" y="184674"/>
                  <a:pt x="120492" y="182379"/>
                </a:cubicBezTo>
                <a:cubicBezTo>
                  <a:pt x="124286" y="180085"/>
                  <a:pt x="126492" y="175875"/>
                  <a:pt x="126221" y="171450"/>
                </a:cubicBezTo>
                <a:close/>
              </a:path>
            </a:pathLst>
          </a:custGeom>
          <a:solidFill>
            <a:srgbClr val="F85149"/>
          </a:solidFill>
          <a:ln/>
        </p:spPr>
      </p:sp>
      <p:sp>
        <p:nvSpPr>
          <p:cNvPr id="9" name="Text 7"/>
          <p:cNvSpPr/>
          <p:nvPr/>
        </p:nvSpPr>
        <p:spPr>
          <a:xfrm>
            <a:off x="1263650" y="1949451"/>
            <a:ext cx="1181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B94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Delayed Shipments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63650" y="2139951"/>
            <a:ext cx="12858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F8514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573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15950" y="2692401"/>
            <a:ext cx="114300" cy="152400"/>
          </a:xfrm>
          <a:custGeom>
            <a:avLst/>
            <a:gdLst/>
            <a:ahLst/>
            <a:cxnLst/>
            <a:rect l="l" t="t" r="r" b="b"/>
            <a:pathLst>
              <a:path w="114300" h="152400">
                <a:moveTo>
                  <a:pt x="63877" y="5179"/>
                </a:moveTo>
                <a:cubicBezTo>
                  <a:pt x="60156" y="1459"/>
                  <a:pt x="54114" y="1459"/>
                  <a:pt x="50393" y="5179"/>
                </a:cubicBezTo>
                <a:lnTo>
                  <a:pt x="2768" y="52804"/>
                </a:lnTo>
                <a:cubicBezTo>
                  <a:pt x="-952" y="56525"/>
                  <a:pt x="-952" y="62567"/>
                  <a:pt x="2768" y="66288"/>
                </a:cubicBezTo>
                <a:cubicBezTo>
                  <a:pt x="6489" y="70009"/>
                  <a:pt x="12531" y="70009"/>
                  <a:pt x="16252" y="66288"/>
                </a:cubicBezTo>
                <a:lnTo>
                  <a:pt x="47625" y="34915"/>
                </a:lnTo>
                <a:lnTo>
                  <a:pt x="47625" y="145256"/>
                </a:lnTo>
                <a:cubicBezTo>
                  <a:pt x="47625" y="150525"/>
                  <a:pt x="51881" y="154781"/>
                  <a:pt x="57150" y="154781"/>
                </a:cubicBezTo>
                <a:cubicBezTo>
                  <a:pt x="62419" y="154781"/>
                  <a:pt x="66675" y="150525"/>
                  <a:pt x="66675" y="145256"/>
                </a:cubicBezTo>
                <a:lnTo>
                  <a:pt x="66675" y="34915"/>
                </a:lnTo>
                <a:lnTo>
                  <a:pt x="98048" y="66288"/>
                </a:lnTo>
                <a:cubicBezTo>
                  <a:pt x="101769" y="70009"/>
                  <a:pt x="107811" y="70009"/>
                  <a:pt x="111532" y="66288"/>
                </a:cubicBezTo>
                <a:cubicBezTo>
                  <a:pt x="115253" y="62567"/>
                  <a:pt x="115253" y="56525"/>
                  <a:pt x="111532" y="52804"/>
                </a:cubicBezTo>
                <a:lnTo>
                  <a:pt x="63907" y="5179"/>
                </a:lnTo>
                <a:close/>
              </a:path>
            </a:pathLst>
          </a:custGeom>
          <a:solidFill>
            <a:srgbClr val="F85149"/>
          </a:solidFill>
          <a:ln/>
        </p:spPr>
      </p:sp>
      <p:sp>
        <p:nvSpPr>
          <p:cNvPr id="12" name="Text 10"/>
          <p:cNvSpPr/>
          <p:nvPr/>
        </p:nvSpPr>
        <p:spPr>
          <a:xfrm>
            <a:off x="844550" y="2673351"/>
            <a:ext cx="12287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8514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+23% vs last quarter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84175" y="3216277"/>
            <a:ext cx="3673475" cy="2368550"/>
          </a:xfrm>
          <a:custGeom>
            <a:avLst/>
            <a:gdLst/>
            <a:ahLst/>
            <a:cxnLst/>
            <a:rect l="l" t="t" r="r" b="b"/>
            <a:pathLst>
              <a:path w="3673475" h="2368550">
                <a:moveTo>
                  <a:pt x="152393" y="0"/>
                </a:moveTo>
                <a:lnTo>
                  <a:pt x="3521082" y="0"/>
                </a:lnTo>
                <a:cubicBezTo>
                  <a:pt x="3605247" y="0"/>
                  <a:pt x="3673475" y="68228"/>
                  <a:pt x="3673475" y="152393"/>
                </a:cubicBezTo>
                <a:lnTo>
                  <a:pt x="3673475" y="2216157"/>
                </a:lnTo>
                <a:cubicBezTo>
                  <a:pt x="3673475" y="2300322"/>
                  <a:pt x="3605247" y="2368550"/>
                  <a:pt x="3521082" y="2368550"/>
                </a:cubicBezTo>
                <a:lnTo>
                  <a:pt x="152393" y="2368550"/>
                </a:lnTo>
                <a:cubicBezTo>
                  <a:pt x="68228" y="2368550"/>
                  <a:pt x="0" y="2300322"/>
                  <a:pt x="0" y="2216157"/>
                </a:cubicBezTo>
                <a:lnTo>
                  <a:pt x="0" y="152393"/>
                </a:lnTo>
                <a:cubicBezTo>
                  <a:pt x="0" y="68285"/>
                  <a:pt x="68285" y="0"/>
                  <a:pt x="152393" y="0"/>
                </a:cubicBezTo>
                <a:close/>
              </a:path>
            </a:pathLst>
          </a:custGeom>
          <a:gradFill flip="none" rotWithShape="1">
            <a:gsLst>
              <a:gs pos="0">
                <a:srgbClr val="161B22"/>
              </a:gs>
              <a:gs pos="100000">
                <a:srgbClr val="0D1117"/>
              </a:gs>
            </a:gsLst>
            <a:lin ang="2700000" scaled="1"/>
          </a:gradFill>
          <a:ln w="8467">
            <a:solidFill>
              <a:srgbClr val="3036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77850" y="3409950"/>
            <a:ext cx="33718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Primary Delay Causes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77850" y="3829050"/>
            <a:ext cx="9810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6EDF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Port Congestion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622377" y="3829050"/>
            <a:ext cx="3143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8514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42%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77850" y="4057650"/>
            <a:ext cx="3286125" cy="76200"/>
          </a:xfrm>
          <a:custGeom>
            <a:avLst/>
            <a:gdLst/>
            <a:ahLst/>
            <a:cxnLst/>
            <a:rect l="l" t="t" r="r" b="b"/>
            <a:pathLst>
              <a:path w="3286125" h="76200">
                <a:moveTo>
                  <a:pt x="38100" y="0"/>
                </a:moveTo>
                <a:lnTo>
                  <a:pt x="3248025" y="0"/>
                </a:lnTo>
                <a:cubicBezTo>
                  <a:pt x="3269053" y="0"/>
                  <a:pt x="3286125" y="17072"/>
                  <a:pt x="3286125" y="38100"/>
                </a:cubicBezTo>
                <a:lnTo>
                  <a:pt x="3286125" y="38100"/>
                </a:lnTo>
                <a:cubicBezTo>
                  <a:pt x="3286125" y="59128"/>
                  <a:pt x="3269053" y="76200"/>
                  <a:pt x="3248025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0363D"/>
          </a:solidFill>
          <a:ln/>
        </p:spPr>
      </p:sp>
      <p:sp>
        <p:nvSpPr>
          <p:cNvPr id="18" name="Shape 16"/>
          <p:cNvSpPr/>
          <p:nvPr/>
        </p:nvSpPr>
        <p:spPr>
          <a:xfrm>
            <a:off x="577850" y="4057650"/>
            <a:ext cx="1381125" cy="76200"/>
          </a:xfrm>
          <a:custGeom>
            <a:avLst/>
            <a:gdLst/>
            <a:ahLst/>
            <a:cxnLst/>
            <a:rect l="l" t="t" r="r" b="b"/>
            <a:pathLst>
              <a:path w="1381125" h="76200">
                <a:moveTo>
                  <a:pt x="38100" y="0"/>
                </a:moveTo>
                <a:lnTo>
                  <a:pt x="1343025" y="0"/>
                </a:lnTo>
                <a:cubicBezTo>
                  <a:pt x="1364053" y="0"/>
                  <a:pt x="1381125" y="17072"/>
                  <a:pt x="1381125" y="38100"/>
                </a:cubicBezTo>
                <a:lnTo>
                  <a:pt x="1381125" y="38100"/>
                </a:lnTo>
                <a:cubicBezTo>
                  <a:pt x="1381125" y="59128"/>
                  <a:pt x="1364053" y="76200"/>
                  <a:pt x="1343025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85149"/>
          </a:solidFill>
          <a:ln/>
        </p:spPr>
      </p:sp>
      <p:sp>
        <p:nvSpPr>
          <p:cNvPr id="19" name="Text 17"/>
          <p:cNvSpPr/>
          <p:nvPr/>
        </p:nvSpPr>
        <p:spPr>
          <a:xfrm>
            <a:off x="577850" y="4248150"/>
            <a:ext cx="9620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6EDF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Documentation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3615730" y="4248150"/>
            <a:ext cx="3143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D2992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28%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77850" y="4476750"/>
            <a:ext cx="3286125" cy="76200"/>
          </a:xfrm>
          <a:custGeom>
            <a:avLst/>
            <a:gdLst/>
            <a:ahLst/>
            <a:cxnLst/>
            <a:rect l="l" t="t" r="r" b="b"/>
            <a:pathLst>
              <a:path w="3286125" h="76200">
                <a:moveTo>
                  <a:pt x="38100" y="0"/>
                </a:moveTo>
                <a:lnTo>
                  <a:pt x="3248025" y="0"/>
                </a:lnTo>
                <a:cubicBezTo>
                  <a:pt x="3269053" y="0"/>
                  <a:pt x="3286125" y="17072"/>
                  <a:pt x="3286125" y="38100"/>
                </a:cubicBezTo>
                <a:lnTo>
                  <a:pt x="3286125" y="38100"/>
                </a:lnTo>
                <a:cubicBezTo>
                  <a:pt x="3286125" y="59128"/>
                  <a:pt x="3269053" y="76200"/>
                  <a:pt x="3248025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0363D"/>
          </a:solidFill>
          <a:ln/>
        </p:spPr>
      </p:sp>
      <p:sp>
        <p:nvSpPr>
          <p:cNvPr id="22" name="Shape 20"/>
          <p:cNvSpPr/>
          <p:nvPr/>
        </p:nvSpPr>
        <p:spPr>
          <a:xfrm>
            <a:off x="577850" y="4476750"/>
            <a:ext cx="923925" cy="76200"/>
          </a:xfrm>
          <a:custGeom>
            <a:avLst/>
            <a:gdLst/>
            <a:ahLst/>
            <a:cxnLst/>
            <a:rect l="l" t="t" r="r" b="b"/>
            <a:pathLst>
              <a:path w="923925" h="76200">
                <a:moveTo>
                  <a:pt x="38100" y="0"/>
                </a:moveTo>
                <a:lnTo>
                  <a:pt x="885825" y="0"/>
                </a:lnTo>
                <a:cubicBezTo>
                  <a:pt x="906853" y="0"/>
                  <a:pt x="923925" y="17072"/>
                  <a:pt x="923925" y="38100"/>
                </a:cubicBezTo>
                <a:lnTo>
                  <a:pt x="923925" y="38100"/>
                </a:lnTo>
                <a:cubicBezTo>
                  <a:pt x="923925" y="59128"/>
                  <a:pt x="906853" y="76200"/>
                  <a:pt x="885825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29922"/>
          </a:solidFill>
          <a:ln/>
        </p:spPr>
      </p:sp>
      <p:sp>
        <p:nvSpPr>
          <p:cNvPr id="23" name="Text 21"/>
          <p:cNvSpPr/>
          <p:nvPr/>
        </p:nvSpPr>
        <p:spPr>
          <a:xfrm>
            <a:off x="577850" y="4667250"/>
            <a:ext cx="990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6EDF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Weather Events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3641328" y="4667250"/>
            <a:ext cx="2952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8B94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18%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77850" y="4895850"/>
            <a:ext cx="3286125" cy="76200"/>
          </a:xfrm>
          <a:custGeom>
            <a:avLst/>
            <a:gdLst/>
            <a:ahLst/>
            <a:cxnLst/>
            <a:rect l="l" t="t" r="r" b="b"/>
            <a:pathLst>
              <a:path w="3286125" h="76200">
                <a:moveTo>
                  <a:pt x="38100" y="0"/>
                </a:moveTo>
                <a:lnTo>
                  <a:pt x="3248025" y="0"/>
                </a:lnTo>
                <a:cubicBezTo>
                  <a:pt x="3269053" y="0"/>
                  <a:pt x="3286125" y="17072"/>
                  <a:pt x="3286125" y="38100"/>
                </a:cubicBezTo>
                <a:lnTo>
                  <a:pt x="3286125" y="38100"/>
                </a:lnTo>
                <a:cubicBezTo>
                  <a:pt x="3286125" y="59128"/>
                  <a:pt x="3269053" y="76200"/>
                  <a:pt x="3248025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0363D"/>
          </a:solidFill>
          <a:ln/>
        </p:spPr>
      </p:sp>
      <p:sp>
        <p:nvSpPr>
          <p:cNvPr id="26" name="Shape 24"/>
          <p:cNvSpPr/>
          <p:nvPr/>
        </p:nvSpPr>
        <p:spPr>
          <a:xfrm>
            <a:off x="577850" y="4895850"/>
            <a:ext cx="590550" cy="76200"/>
          </a:xfrm>
          <a:custGeom>
            <a:avLst/>
            <a:gdLst/>
            <a:ahLst/>
            <a:cxnLst/>
            <a:rect l="l" t="t" r="r" b="b"/>
            <a:pathLst>
              <a:path w="590550" h="76200">
                <a:moveTo>
                  <a:pt x="38100" y="0"/>
                </a:moveTo>
                <a:lnTo>
                  <a:pt x="552450" y="0"/>
                </a:lnTo>
                <a:cubicBezTo>
                  <a:pt x="573478" y="0"/>
                  <a:pt x="590550" y="17072"/>
                  <a:pt x="590550" y="38100"/>
                </a:cubicBezTo>
                <a:lnTo>
                  <a:pt x="590550" y="38100"/>
                </a:lnTo>
                <a:cubicBezTo>
                  <a:pt x="590550" y="59128"/>
                  <a:pt x="573478" y="76200"/>
                  <a:pt x="55245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B949E"/>
          </a:solidFill>
          <a:ln/>
        </p:spPr>
      </p:sp>
      <p:sp>
        <p:nvSpPr>
          <p:cNvPr id="27" name="Text 25"/>
          <p:cNvSpPr/>
          <p:nvPr/>
        </p:nvSpPr>
        <p:spPr>
          <a:xfrm>
            <a:off x="577850" y="5086350"/>
            <a:ext cx="8477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6EDF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Carrier Issues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3647877" y="5086350"/>
            <a:ext cx="285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58A6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12%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577850" y="5314950"/>
            <a:ext cx="3286125" cy="76200"/>
          </a:xfrm>
          <a:custGeom>
            <a:avLst/>
            <a:gdLst/>
            <a:ahLst/>
            <a:cxnLst/>
            <a:rect l="l" t="t" r="r" b="b"/>
            <a:pathLst>
              <a:path w="3286125" h="76200">
                <a:moveTo>
                  <a:pt x="38100" y="0"/>
                </a:moveTo>
                <a:lnTo>
                  <a:pt x="3248025" y="0"/>
                </a:lnTo>
                <a:cubicBezTo>
                  <a:pt x="3269053" y="0"/>
                  <a:pt x="3286125" y="17072"/>
                  <a:pt x="3286125" y="38100"/>
                </a:cubicBezTo>
                <a:lnTo>
                  <a:pt x="3286125" y="38100"/>
                </a:lnTo>
                <a:cubicBezTo>
                  <a:pt x="3286125" y="59128"/>
                  <a:pt x="3269053" y="76200"/>
                  <a:pt x="3248025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0363D"/>
          </a:solidFill>
          <a:ln/>
        </p:spPr>
      </p:sp>
      <p:sp>
        <p:nvSpPr>
          <p:cNvPr id="30" name="Shape 28"/>
          <p:cNvSpPr/>
          <p:nvPr/>
        </p:nvSpPr>
        <p:spPr>
          <a:xfrm>
            <a:off x="577850" y="5314950"/>
            <a:ext cx="390525" cy="76200"/>
          </a:xfrm>
          <a:custGeom>
            <a:avLst/>
            <a:gdLst/>
            <a:ahLst/>
            <a:cxnLst/>
            <a:rect l="l" t="t" r="r" b="b"/>
            <a:pathLst>
              <a:path w="390525" h="76200">
                <a:moveTo>
                  <a:pt x="38100" y="0"/>
                </a:moveTo>
                <a:lnTo>
                  <a:pt x="352425" y="0"/>
                </a:lnTo>
                <a:cubicBezTo>
                  <a:pt x="373453" y="0"/>
                  <a:pt x="390525" y="17072"/>
                  <a:pt x="390525" y="38100"/>
                </a:cubicBezTo>
                <a:lnTo>
                  <a:pt x="390525" y="38100"/>
                </a:lnTo>
                <a:cubicBezTo>
                  <a:pt x="390525" y="59128"/>
                  <a:pt x="373453" y="76200"/>
                  <a:pt x="352425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58A6FF"/>
          </a:solidFill>
          <a:ln/>
        </p:spPr>
      </p:sp>
      <p:sp>
        <p:nvSpPr>
          <p:cNvPr id="31" name="Shape 29"/>
          <p:cNvSpPr/>
          <p:nvPr/>
        </p:nvSpPr>
        <p:spPr>
          <a:xfrm>
            <a:off x="4257675" y="1755775"/>
            <a:ext cx="7550150" cy="4721225"/>
          </a:xfrm>
          <a:custGeom>
            <a:avLst/>
            <a:gdLst/>
            <a:ahLst/>
            <a:cxnLst/>
            <a:rect l="l" t="t" r="r" b="b"/>
            <a:pathLst>
              <a:path w="7550150" h="4721225">
                <a:moveTo>
                  <a:pt x="152401" y="0"/>
                </a:moveTo>
                <a:lnTo>
                  <a:pt x="7397749" y="0"/>
                </a:lnTo>
                <a:cubicBezTo>
                  <a:pt x="7481918" y="0"/>
                  <a:pt x="7550150" y="68232"/>
                  <a:pt x="7550150" y="152401"/>
                </a:cubicBezTo>
                <a:lnTo>
                  <a:pt x="7550150" y="4568824"/>
                </a:lnTo>
                <a:cubicBezTo>
                  <a:pt x="7550150" y="4652993"/>
                  <a:pt x="7481918" y="4721225"/>
                  <a:pt x="7397749" y="4721225"/>
                </a:cubicBezTo>
                <a:lnTo>
                  <a:pt x="152401" y="4721225"/>
                </a:lnTo>
                <a:cubicBezTo>
                  <a:pt x="68232" y="4721225"/>
                  <a:pt x="0" y="4652993"/>
                  <a:pt x="0" y="4568824"/>
                </a:cubicBezTo>
                <a:lnTo>
                  <a:pt x="0" y="152401"/>
                </a:lnTo>
                <a:cubicBezTo>
                  <a:pt x="0" y="68289"/>
                  <a:pt x="68289" y="0"/>
                  <a:pt x="152401" y="0"/>
                </a:cubicBezTo>
                <a:close/>
              </a:path>
            </a:pathLst>
          </a:custGeom>
          <a:gradFill flip="none" rotWithShape="1">
            <a:gsLst>
              <a:gs pos="0">
                <a:srgbClr val="161B22"/>
              </a:gs>
              <a:gs pos="100000">
                <a:srgbClr val="0D1117"/>
              </a:gs>
            </a:gsLst>
            <a:lin ang="2700000" scaled="1"/>
          </a:gradFill>
          <a:ln w="8467">
            <a:solidFill>
              <a:srgbClr val="30363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451350" y="1949451"/>
            <a:ext cx="24003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Delay Distribution Heatmap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4451350" y="2216151"/>
            <a:ext cx="23717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B94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Geographic impact analysis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9893796" y="2120901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38100" y="0"/>
                </a:moveTo>
                <a:lnTo>
                  <a:pt x="76200" y="0"/>
                </a:lnTo>
                <a:cubicBezTo>
                  <a:pt x="97228" y="0"/>
                  <a:pt x="114300" y="17072"/>
                  <a:pt x="114300" y="38100"/>
                </a:cubicBezTo>
                <a:lnTo>
                  <a:pt x="114300" y="76200"/>
                </a:lnTo>
                <a:cubicBezTo>
                  <a:pt x="114300" y="97228"/>
                  <a:pt x="97228" y="114300"/>
                  <a:pt x="76200" y="114300"/>
                </a:cubicBezTo>
                <a:lnTo>
                  <a:pt x="38100" y="114300"/>
                </a:lnTo>
                <a:cubicBezTo>
                  <a:pt x="17072" y="114300"/>
                  <a:pt x="0" y="97228"/>
                  <a:pt x="0" y="762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85149"/>
          </a:solidFill>
          <a:ln/>
        </p:spPr>
      </p:sp>
      <p:sp>
        <p:nvSpPr>
          <p:cNvPr id="35" name="Text 33"/>
          <p:cNvSpPr/>
          <p:nvPr/>
        </p:nvSpPr>
        <p:spPr>
          <a:xfrm>
            <a:off x="10046196" y="2101851"/>
            <a:ext cx="4000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8B94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Critical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10503396" y="2120901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38100" y="0"/>
                </a:moveTo>
                <a:lnTo>
                  <a:pt x="76200" y="0"/>
                </a:lnTo>
                <a:cubicBezTo>
                  <a:pt x="97228" y="0"/>
                  <a:pt x="114300" y="17072"/>
                  <a:pt x="114300" y="38100"/>
                </a:cubicBezTo>
                <a:lnTo>
                  <a:pt x="114300" y="76200"/>
                </a:lnTo>
                <a:cubicBezTo>
                  <a:pt x="114300" y="97228"/>
                  <a:pt x="97228" y="114300"/>
                  <a:pt x="76200" y="114300"/>
                </a:cubicBezTo>
                <a:lnTo>
                  <a:pt x="38100" y="114300"/>
                </a:lnTo>
                <a:cubicBezTo>
                  <a:pt x="17072" y="114300"/>
                  <a:pt x="0" y="97228"/>
                  <a:pt x="0" y="762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29922"/>
          </a:solidFill>
          <a:ln/>
        </p:spPr>
      </p:sp>
      <p:sp>
        <p:nvSpPr>
          <p:cNvPr id="37" name="Text 35"/>
          <p:cNvSpPr/>
          <p:nvPr/>
        </p:nvSpPr>
        <p:spPr>
          <a:xfrm>
            <a:off x="10655796" y="2101851"/>
            <a:ext cx="5334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8B94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Moderate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11248033" y="2120901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38100" y="0"/>
                </a:moveTo>
                <a:lnTo>
                  <a:pt x="76200" y="0"/>
                </a:lnTo>
                <a:cubicBezTo>
                  <a:pt x="97228" y="0"/>
                  <a:pt x="114300" y="17072"/>
                  <a:pt x="114300" y="38100"/>
                </a:cubicBezTo>
                <a:lnTo>
                  <a:pt x="114300" y="76200"/>
                </a:lnTo>
                <a:cubicBezTo>
                  <a:pt x="114300" y="97228"/>
                  <a:pt x="97228" y="114300"/>
                  <a:pt x="76200" y="114300"/>
                </a:cubicBezTo>
                <a:lnTo>
                  <a:pt x="38100" y="114300"/>
                </a:lnTo>
                <a:cubicBezTo>
                  <a:pt x="17072" y="114300"/>
                  <a:pt x="0" y="97228"/>
                  <a:pt x="0" y="762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58A6FF"/>
          </a:solidFill>
          <a:ln/>
        </p:spPr>
      </p:sp>
      <p:sp>
        <p:nvSpPr>
          <p:cNvPr id="39" name="Text 37"/>
          <p:cNvSpPr/>
          <p:nvPr/>
        </p:nvSpPr>
        <p:spPr>
          <a:xfrm>
            <a:off x="11400433" y="2101851"/>
            <a:ext cx="2667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8B94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Low</a:t>
            </a:r>
            <a:endParaRPr lang="en-US" sz="1600" dirty="0"/>
          </a:p>
        </p:txBody>
      </p:sp>
      <p:pic>
        <p:nvPicPr>
          <p:cNvPr id="40" name="Image 0" descr="https://kimi-img.moonshot.cn/pub/slides/26-02-18-02:11:47-d6aauotnfo2gg6jp660g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451350" y="2559051"/>
            <a:ext cx="7162800" cy="3048000"/>
          </a:xfrm>
          <a:prstGeom prst="roundRect">
            <a:avLst>
              <a:gd name="adj" fmla="val 0"/>
            </a:avLst>
          </a:prstGeom>
        </p:spPr>
      </p:pic>
      <p:sp>
        <p:nvSpPr>
          <p:cNvPr id="41" name="TextBox 40">
            <a:extLst>
              <a:ext uri="{FF2B5EF4-FFF2-40B4-BE49-F238E27FC236}">
                <a16:creationId xmlns:a16="http://schemas.microsoft.com/office/drawing/2014/main" id="{025E61A8-8765-4D5E-4A8D-1E8C7E2115EE}"/>
              </a:ext>
            </a:extLst>
          </p:cNvPr>
          <p:cNvSpPr txBox="1"/>
          <p:nvPr/>
        </p:nvSpPr>
        <p:spPr>
          <a:xfrm>
            <a:off x="9575264" y="161925"/>
            <a:ext cx="26161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ssharma9663@gmail.com</a:t>
            </a:r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8100" cy="304800"/>
          </a:xfrm>
          <a:custGeom>
            <a:avLst/>
            <a:gdLst/>
            <a:ahLst/>
            <a:cxnLst/>
            <a:rect l="l" t="t" r="r" b="b"/>
            <a:pathLst>
              <a:path w="38100" h="304800">
                <a:moveTo>
                  <a:pt x="19050" y="0"/>
                </a:moveTo>
                <a:lnTo>
                  <a:pt x="19050" y="0"/>
                </a:lnTo>
                <a:cubicBezTo>
                  <a:pt x="29564" y="0"/>
                  <a:pt x="38100" y="8536"/>
                  <a:pt x="38100" y="19050"/>
                </a:cubicBezTo>
                <a:lnTo>
                  <a:pt x="38100" y="285750"/>
                </a:lnTo>
                <a:cubicBezTo>
                  <a:pt x="38100" y="296264"/>
                  <a:pt x="29564" y="304800"/>
                  <a:pt x="19050" y="304800"/>
                </a:cubicBezTo>
                <a:lnTo>
                  <a:pt x="19050" y="304800"/>
                </a:lnTo>
                <a:cubicBezTo>
                  <a:pt x="8536" y="304800"/>
                  <a:pt x="0" y="296264"/>
                  <a:pt x="0" y="285750"/>
                </a:cubicBezTo>
                <a:lnTo>
                  <a:pt x="0" y="19050"/>
                </a:lnTo>
                <a:cubicBezTo>
                  <a:pt x="0" y="8536"/>
                  <a:pt x="8536" y="0"/>
                  <a:pt x="19050" y="0"/>
                </a:cubicBezTo>
                <a:close/>
              </a:path>
            </a:pathLst>
          </a:custGeom>
          <a:gradFill flip="none" rotWithShape="1">
            <a:gsLst>
              <a:gs pos="0">
                <a:srgbClr val="58A6FF"/>
              </a:gs>
              <a:gs pos="0">
                <a:srgbClr val="FFFFFF"/>
              </a:gs>
              <a:gs pos="100000">
                <a:srgbClr val="00D9FF"/>
              </a:gs>
            </a:gsLst>
            <a:lin ang="5400000" scaled="1"/>
          </a:gradFill>
          <a:ln/>
        </p:spPr>
      </p:sp>
      <p:sp>
        <p:nvSpPr>
          <p:cNvPr id="3" name="Text 1"/>
          <p:cNvSpPr/>
          <p:nvPr/>
        </p:nvSpPr>
        <p:spPr>
          <a:xfrm>
            <a:off x="533400" y="438150"/>
            <a:ext cx="15811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kern="0" spc="210" dirty="0">
                <a:solidFill>
                  <a:srgbClr val="58A6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Sales Channels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7620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E6EDF3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Revenue Engines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81000" y="1295400"/>
            <a:ext cx="11515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8B94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Amazon vs Flipkart vs Retailers - Channel Performance Analysis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84175" y="1755775"/>
            <a:ext cx="4645025" cy="4054475"/>
          </a:xfrm>
          <a:custGeom>
            <a:avLst/>
            <a:gdLst/>
            <a:ahLst/>
            <a:cxnLst/>
            <a:rect l="l" t="t" r="r" b="b"/>
            <a:pathLst>
              <a:path w="4645025" h="4054475">
                <a:moveTo>
                  <a:pt x="152408" y="0"/>
                </a:moveTo>
                <a:lnTo>
                  <a:pt x="4492617" y="0"/>
                </a:lnTo>
                <a:cubicBezTo>
                  <a:pt x="4576790" y="0"/>
                  <a:pt x="4645025" y="68235"/>
                  <a:pt x="4645025" y="152408"/>
                </a:cubicBezTo>
                <a:lnTo>
                  <a:pt x="4645025" y="3902067"/>
                </a:lnTo>
                <a:cubicBezTo>
                  <a:pt x="4645025" y="3986240"/>
                  <a:pt x="4576790" y="4054475"/>
                  <a:pt x="4492617" y="4054475"/>
                </a:cubicBezTo>
                <a:lnTo>
                  <a:pt x="152408" y="4054475"/>
                </a:lnTo>
                <a:cubicBezTo>
                  <a:pt x="68235" y="4054475"/>
                  <a:pt x="0" y="3986240"/>
                  <a:pt x="0" y="3902067"/>
                </a:cubicBezTo>
                <a:lnTo>
                  <a:pt x="0" y="152408"/>
                </a:lnTo>
                <a:cubicBezTo>
                  <a:pt x="0" y="68292"/>
                  <a:pt x="68292" y="0"/>
                  <a:pt x="152408" y="0"/>
                </a:cubicBezTo>
                <a:close/>
              </a:path>
            </a:pathLst>
          </a:custGeom>
          <a:gradFill flip="none" rotWithShape="1">
            <a:gsLst>
              <a:gs pos="0">
                <a:srgbClr val="161B22"/>
              </a:gs>
              <a:gs pos="100000">
                <a:srgbClr val="0D1117"/>
              </a:gs>
            </a:gsLst>
            <a:lin ang="2700000" scaled="1"/>
          </a:gradFill>
          <a:ln w="8467">
            <a:solidFill>
              <a:srgbClr val="3036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77850" y="1949451"/>
            <a:ext cx="4343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Channel Breakdown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81025" y="2371728"/>
            <a:ext cx="4254500" cy="692150"/>
          </a:xfrm>
          <a:custGeom>
            <a:avLst/>
            <a:gdLst/>
            <a:ahLst/>
            <a:cxnLst/>
            <a:rect l="l" t="t" r="r" b="b"/>
            <a:pathLst>
              <a:path w="4254500" h="692150">
                <a:moveTo>
                  <a:pt x="114302" y="0"/>
                </a:moveTo>
                <a:lnTo>
                  <a:pt x="4140198" y="0"/>
                </a:lnTo>
                <a:cubicBezTo>
                  <a:pt x="4203325" y="0"/>
                  <a:pt x="4254500" y="51175"/>
                  <a:pt x="4254500" y="114302"/>
                </a:cubicBezTo>
                <a:lnTo>
                  <a:pt x="4254500" y="577848"/>
                </a:lnTo>
                <a:cubicBezTo>
                  <a:pt x="4254500" y="640975"/>
                  <a:pt x="4203325" y="692150"/>
                  <a:pt x="4140198" y="692150"/>
                </a:cubicBezTo>
                <a:lnTo>
                  <a:pt x="114302" y="692150"/>
                </a:lnTo>
                <a:cubicBezTo>
                  <a:pt x="51175" y="692150"/>
                  <a:pt x="0" y="640975"/>
                  <a:pt x="0" y="57784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0D1117"/>
          </a:solidFill>
          <a:ln w="8467">
            <a:solidFill>
              <a:srgbClr val="21262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98500" y="2489202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00D9FF">
              <a:alpha val="2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831850" y="2622552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1423" y="26901"/>
                </a:moveTo>
                <a:cubicBezTo>
                  <a:pt x="13990" y="18008"/>
                  <a:pt x="22138" y="11906"/>
                  <a:pt x="31403" y="11906"/>
                </a:cubicBezTo>
                <a:lnTo>
                  <a:pt x="159395" y="11906"/>
                </a:lnTo>
                <a:cubicBezTo>
                  <a:pt x="168659" y="11906"/>
                  <a:pt x="176808" y="18008"/>
                  <a:pt x="179412" y="26901"/>
                </a:cubicBezTo>
                <a:lnTo>
                  <a:pt x="188119" y="56741"/>
                </a:lnTo>
                <a:cubicBezTo>
                  <a:pt x="192881" y="73000"/>
                  <a:pt x="180640" y="89297"/>
                  <a:pt x="163711" y="89297"/>
                </a:cubicBezTo>
                <a:cubicBezTo>
                  <a:pt x="153925" y="89297"/>
                  <a:pt x="145331" y="83753"/>
                  <a:pt x="141089" y="75493"/>
                </a:cubicBezTo>
                <a:cubicBezTo>
                  <a:pt x="136773" y="83641"/>
                  <a:pt x="128215" y="89297"/>
                  <a:pt x="118244" y="89297"/>
                </a:cubicBezTo>
                <a:cubicBezTo>
                  <a:pt x="108347" y="89297"/>
                  <a:pt x="99752" y="83716"/>
                  <a:pt x="95436" y="75530"/>
                </a:cubicBezTo>
                <a:cubicBezTo>
                  <a:pt x="91120" y="83716"/>
                  <a:pt x="82525" y="89297"/>
                  <a:pt x="72628" y="89297"/>
                </a:cubicBezTo>
                <a:cubicBezTo>
                  <a:pt x="62657" y="89297"/>
                  <a:pt x="54099" y="83679"/>
                  <a:pt x="49783" y="75493"/>
                </a:cubicBezTo>
                <a:cubicBezTo>
                  <a:pt x="45541" y="83716"/>
                  <a:pt x="36947" y="89297"/>
                  <a:pt x="27161" y="89297"/>
                </a:cubicBezTo>
                <a:cubicBezTo>
                  <a:pt x="10195" y="89297"/>
                  <a:pt x="-2009" y="73037"/>
                  <a:pt x="2753" y="56741"/>
                </a:cubicBezTo>
                <a:lnTo>
                  <a:pt x="11423" y="26901"/>
                </a:lnTo>
                <a:close/>
                <a:moveTo>
                  <a:pt x="35868" y="130969"/>
                </a:moveTo>
                <a:lnTo>
                  <a:pt x="154930" y="130969"/>
                </a:lnTo>
                <a:lnTo>
                  <a:pt x="154930" y="106263"/>
                </a:lnTo>
                <a:cubicBezTo>
                  <a:pt x="157758" y="106859"/>
                  <a:pt x="160697" y="107156"/>
                  <a:pt x="163674" y="107156"/>
                </a:cubicBezTo>
                <a:cubicBezTo>
                  <a:pt x="168994" y="107156"/>
                  <a:pt x="174092" y="106189"/>
                  <a:pt x="178743" y="104477"/>
                </a:cubicBezTo>
                <a:lnTo>
                  <a:pt x="178743" y="160734"/>
                </a:lnTo>
                <a:cubicBezTo>
                  <a:pt x="178743" y="170594"/>
                  <a:pt x="170743" y="178594"/>
                  <a:pt x="160883" y="178594"/>
                </a:cubicBezTo>
                <a:lnTo>
                  <a:pt x="29914" y="178594"/>
                </a:lnTo>
                <a:cubicBezTo>
                  <a:pt x="20055" y="178594"/>
                  <a:pt x="12055" y="170594"/>
                  <a:pt x="12055" y="160734"/>
                </a:cubicBezTo>
                <a:lnTo>
                  <a:pt x="12055" y="104477"/>
                </a:lnTo>
                <a:cubicBezTo>
                  <a:pt x="16706" y="106189"/>
                  <a:pt x="21766" y="107156"/>
                  <a:pt x="27124" y="107156"/>
                </a:cubicBezTo>
                <a:cubicBezTo>
                  <a:pt x="30138" y="107156"/>
                  <a:pt x="33040" y="106859"/>
                  <a:pt x="35868" y="106263"/>
                </a:cubicBezTo>
                <a:lnTo>
                  <a:pt x="35868" y="130969"/>
                </a:lnTo>
                <a:close/>
              </a:path>
            </a:pathLst>
          </a:custGeom>
          <a:solidFill>
            <a:srgbClr val="00D9FF"/>
          </a:solidFill>
          <a:ln/>
        </p:spPr>
      </p:sp>
      <p:sp>
        <p:nvSpPr>
          <p:cNvPr id="11" name="Text 9"/>
          <p:cNvSpPr/>
          <p:nvPr/>
        </p:nvSpPr>
        <p:spPr>
          <a:xfrm>
            <a:off x="1308100" y="2546352"/>
            <a:ext cx="6381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6EDF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Retailers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391819" y="2527302"/>
            <a:ext cx="4095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00D9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48%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308100" y="2832102"/>
            <a:ext cx="3409950" cy="76200"/>
          </a:xfrm>
          <a:custGeom>
            <a:avLst/>
            <a:gdLst/>
            <a:ahLst/>
            <a:cxnLst/>
            <a:rect l="l" t="t" r="r" b="b"/>
            <a:pathLst>
              <a:path w="3409950" h="76200">
                <a:moveTo>
                  <a:pt x="38100" y="0"/>
                </a:moveTo>
                <a:lnTo>
                  <a:pt x="3371850" y="0"/>
                </a:lnTo>
                <a:cubicBezTo>
                  <a:pt x="3392878" y="0"/>
                  <a:pt x="3409950" y="17072"/>
                  <a:pt x="3409950" y="38100"/>
                </a:cubicBezTo>
                <a:lnTo>
                  <a:pt x="3409950" y="38100"/>
                </a:lnTo>
                <a:cubicBezTo>
                  <a:pt x="3409950" y="59128"/>
                  <a:pt x="3392878" y="76200"/>
                  <a:pt x="337185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0363D"/>
          </a:solidFill>
          <a:ln/>
        </p:spPr>
      </p:sp>
      <p:sp>
        <p:nvSpPr>
          <p:cNvPr id="14" name="Shape 12"/>
          <p:cNvSpPr/>
          <p:nvPr/>
        </p:nvSpPr>
        <p:spPr>
          <a:xfrm>
            <a:off x="1308100" y="2832102"/>
            <a:ext cx="1638300" cy="76200"/>
          </a:xfrm>
          <a:custGeom>
            <a:avLst/>
            <a:gdLst/>
            <a:ahLst/>
            <a:cxnLst/>
            <a:rect l="l" t="t" r="r" b="b"/>
            <a:pathLst>
              <a:path w="1638300" h="76200">
                <a:moveTo>
                  <a:pt x="38100" y="0"/>
                </a:moveTo>
                <a:lnTo>
                  <a:pt x="1600200" y="0"/>
                </a:lnTo>
                <a:cubicBezTo>
                  <a:pt x="1621228" y="0"/>
                  <a:pt x="1638300" y="17072"/>
                  <a:pt x="1638300" y="38100"/>
                </a:cubicBezTo>
                <a:lnTo>
                  <a:pt x="1638300" y="38100"/>
                </a:lnTo>
                <a:cubicBezTo>
                  <a:pt x="1638300" y="59128"/>
                  <a:pt x="1621228" y="76200"/>
                  <a:pt x="16002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0D9FF"/>
          </a:solidFill>
          <a:ln/>
        </p:spPr>
      </p:sp>
      <p:sp>
        <p:nvSpPr>
          <p:cNvPr id="15" name="Shape 13"/>
          <p:cNvSpPr/>
          <p:nvPr/>
        </p:nvSpPr>
        <p:spPr>
          <a:xfrm>
            <a:off x="581025" y="3222625"/>
            <a:ext cx="4254500" cy="692150"/>
          </a:xfrm>
          <a:custGeom>
            <a:avLst/>
            <a:gdLst/>
            <a:ahLst/>
            <a:cxnLst/>
            <a:rect l="l" t="t" r="r" b="b"/>
            <a:pathLst>
              <a:path w="4254500" h="692150">
                <a:moveTo>
                  <a:pt x="114302" y="0"/>
                </a:moveTo>
                <a:lnTo>
                  <a:pt x="4140198" y="0"/>
                </a:lnTo>
                <a:cubicBezTo>
                  <a:pt x="4203325" y="0"/>
                  <a:pt x="4254500" y="51175"/>
                  <a:pt x="4254500" y="114302"/>
                </a:cubicBezTo>
                <a:lnTo>
                  <a:pt x="4254500" y="577848"/>
                </a:lnTo>
                <a:cubicBezTo>
                  <a:pt x="4254500" y="640975"/>
                  <a:pt x="4203325" y="692150"/>
                  <a:pt x="4140198" y="692150"/>
                </a:cubicBezTo>
                <a:lnTo>
                  <a:pt x="114302" y="692150"/>
                </a:lnTo>
                <a:cubicBezTo>
                  <a:pt x="51175" y="692150"/>
                  <a:pt x="0" y="640975"/>
                  <a:pt x="0" y="57784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0D1117"/>
          </a:solidFill>
          <a:ln w="8467">
            <a:solidFill>
              <a:srgbClr val="21262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98500" y="3340103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FF9900">
              <a:alpha val="2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843756" y="3473453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95883" y="60536"/>
                </a:moveTo>
                <a:cubicBezTo>
                  <a:pt x="77763" y="61206"/>
                  <a:pt x="32817" y="66303"/>
                  <a:pt x="32817" y="104254"/>
                </a:cubicBezTo>
                <a:cubicBezTo>
                  <a:pt x="32817" y="144996"/>
                  <a:pt x="84274" y="146670"/>
                  <a:pt x="101092" y="120328"/>
                </a:cubicBezTo>
                <a:cubicBezTo>
                  <a:pt x="103510" y="124123"/>
                  <a:pt x="114263" y="134280"/>
                  <a:pt x="117946" y="137740"/>
                </a:cubicBezTo>
                <a:lnTo>
                  <a:pt x="139080" y="116904"/>
                </a:lnTo>
                <a:cubicBezTo>
                  <a:pt x="139080" y="116904"/>
                  <a:pt x="127062" y="107491"/>
                  <a:pt x="127062" y="97259"/>
                </a:cubicBezTo>
                <a:lnTo>
                  <a:pt x="127062" y="42528"/>
                </a:lnTo>
                <a:cubicBezTo>
                  <a:pt x="127062" y="33114"/>
                  <a:pt x="117946" y="11906"/>
                  <a:pt x="85279" y="11906"/>
                </a:cubicBezTo>
                <a:cubicBezTo>
                  <a:pt x="52536" y="11906"/>
                  <a:pt x="35161" y="32370"/>
                  <a:pt x="35161" y="50713"/>
                </a:cubicBezTo>
                <a:lnTo>
                  <a:pt x="62508" y="53243"/>
                </a:lnTo>
                <a:cubicBezTo>
                  <a:pt x="68573" y="34826"/>
                  <a:pt x="82674" y="34826"/>
                  <a:pt x="82674" y="34826"/>
                </a:cubicBezTo>
                <a:cubicBezTo>
                  <a:pt x="97817" y="34789"/>
                  <a:pt x="95883" y="45913"/>
                  <a:pt x="95883" y="60536"/>
                </a:cubicBezTo>
                <a:close/>
                <a:moveTo>
                  <a:pt x="95883" y="92832"/>
                </a:moveTo>
                <a:cubicBezTo>
                  <a:pt x="95883" y="122597"/>
                  <a:pt x="64554" y="118132"/>
                  <a:pt x="64554" y="99231"/>
                </a:cubicBezTo>
                <a:cubicBezTo>
                  <a:pt x="64554" y="81669"/>
                  <a:pt x="83344" y="78135"/>
                  <a:pt x="95883" y="77725"/>
                </a:cubicBezTo>
                <a:lnTo>
                  <a:pt x="95883" y="92832"/>
                </a:lnTo>
                <a:close/>
                <a:moveTo>
                  <a:pt x="146484" y="153665"/>
                </a:moveTo>
                <a:cubicBezTo>
                  <a:pt x="143619" y="157386"/>
                  <a:pt x="120439" y="178594"/>
                  <a:pt x="81558" y="178594"/>
                </a:cubicBezTo>
                <a:cubicBezTo>
                  <a:pt x="42676" y="178594"/>
                  <a:pt x="12911" y="151991"/>
                  <a:pt x="3795" y="141015"/>
                </a:cubicBezTo>
                <a:cubicBezTo>
                  <a:pt x="1265" y="138150"/>
                  <a:pt x="4167" y="136810"/>
                  <a:pt x="5842" y="137926"/>
                </a:cubicBezTo>
                <a:cubicBezTo>
                  <a:pt x="33114" y="154484"/>
                  <a:pt x="75716" y="181756"/>
                  <a:pt x="144438" y="149200"/>
                </a:cubicBezTo>
                <a:cubicBezTo>
                  <a:pt x="147228" y="147824"/>
                  <a:pt x="149386" y="149944"/>
                  <a:pt x="146484" y="153665"/>
                </a:cubicBezTo>
                <a:close/>
                <a:moveTo>
                  <a:pt x="161292" y="154484"/>
                </a:moveTo>
                <a:cubicBezTo>
                  <a:pt x="158874" y="160362"/>
                  <a:pt x="155339" y="164455"/>
                  <a:pt x="153405" y="166018"/>
                </a:cubicBezTo>
                <a:cubicBezTo>
                  <a:pt x="151358" y="167692"/>
                  <a:pt x="149870" y="167022"/>
                  <a:pt x="150986" y="164604"/>
                </a:cubicBezTo>
                <a:cubicBezTo>
                  <a:pt x="152102" y="162185"/>
                  <a:pt x="158167" y="147303"/>
                  <a:pt x="155711" y="144140"/>
                </a:cubicBezTo>
                <a:cubicBezTo>
                  <a:pt x="153293" y="141052"/>
                  <a:pt x="141945" y="142540"/>
                  <a:pt x="137852" y="142949"/>
                </a:cubicBezTo>
                <a:cubicBezTo>
                  <a:pt x="133834" y="143321"/>
                  <a:pt x="133015" y="143694"/>
                  <a:pt x="132643" y="142838"/>
                </a:cubicBezTo>
                <a:cubicBezTo>
                  <a:pt x="131787" y="140717"/>
                  <a:pt x="140717" y="137071"/>
                  <a:pt x="146596" y="136327"/>
                </a:cubicBezTo>
                <a:cubicBezTo>
                  <a:pt x="152437" y="135657"/>
                  <a:pt x="161851" y="136029"/>
                  <a:pt x="163711" y="138447"/>
                </a:cubicBezTo>
                <a:cubicBezTo>
                  <a:pt x="165088" y="140345"/>
                  <a:pt x="163711" y="148530"/>
                  <a:pt x="161292" y="154484"/>
                </a:cubicBezTo>
                <a:close/>
              </a:path>
            </a:pathLst>
          </a:custGeom>
          <a:solidFill>
            <a:srgbClr val="FF9900"/>
          </a:solidFill>
          <a:ln/>
        </p:spPr>
      </p:sp>
      <p:sp>
        <p:nvSpPr>
          <p:cNvPr id="18" name="Text 16"/>
          <p:cNvSpPr/>
          <p:nvPr/>
        </p:nvSpPr>
        <p:spPr>
          <a:xfrm>
            <a:off x="1308100" y="3397253"/>
            <a:ext cx="60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6EDF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Amazon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391620" y="3378203"/>
            <a:ext cx="4095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99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28%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1308100" y="3683003"/>
            <a:ext cx="3409950" cy="76200"/>
          </a:xfrm>
          <a:custGeom>
            <a:avLst/>
            <a:gdLst/>
            <a:ahLst/>
            <a:cxnLst/>
            <a:rect l="l" t="t" r="r" b="b"/>
            <a:pathLst>
              <a:path w="3409950" h="76200">
                <a:moveTo>
                  <a:pt x="38100" y="0"/>
                </a:moveTo>
                <a:lnTo>
                  <a:pt x="3371850" y="0"/>
                </a:lnTo>
                <a:cubicBezTo>
                  <a:pt x="3392878" y="0"/>
                  <a:pt x="3409950" y="17072"/>
                  <a:pt x="3409950" y="38100"/>
                </a:cubicBezTo>
                <a:lnTo>
                  <a:pt x="3409950" y="38100"/>
                </a:lnTo>
                <a:cubicBezTo>
                  <a:pt x="3409950" y="59128"/>
                  <a:pt x="3392878" y="76200"/>
                  <a:pt x="337185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0363D"/>
          </a:solidFill>
          <a:ln/>
        </p:spPr>
      </p:sp>
      <p:sp>
        <p:nvSpPr>
          <p:cNvPr id="21" name="Shape 19"/>
          <p:cNvSpPr/>
          <p:nvPr/>
        </p:nvSpPr>
        <p:spPr>
          <a:xfrm>
            <a:off x="1308100" y="3683003"/>
            <a:ext cx="952500" cy="76200"/>
          </a:xfrm>
          <a:custGeom>
            <a:avLst/>
            <a:gdLst/>
            <a:ahLst/>
            <a:cxnLst/>
            <a:rect l="l" t="t" r="r" b="b"/>
            <a:pathLst>
              <a:path w="952500" h="76200">
                <a:moveTo>
                  <a:pt x="38100" y="0"/>
                </a:moveTo>
                <a:lnTo>
                  <a:pt x="914400" y="0"/>
                </a:lnTo>
                <a:cubicBezTo>
                  <a:pt x="935428" y="0"/>
                  <a:pt x="952500" y="17072"/>
                  <a:pt x="952500" y="38100"/>
                </a:cubicBezTo>
                <a:lnTo>
                  <a:pt x="952500" y="38100"/>
                </a:lnTo>
                <a:cubicBezTo>
                  <a:pt x="952500" y="59128"/>
                  <a:pt x="935428" y="76200"/>
                  <a:pt x="9144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9900"/>
          </a:solidFill>
          <a:ln/>
        </p:spPr>
      </p:sp>
      <p:sp>
        <p:nvSpPr>
          <p:cNvPr id="22" name="Shape 20"/>
          <p:cNvSpPr/>
          <p:nvPr/>
        </p:nvSpPr>
        <p:spPr>
          <a:xfrm>
            <a:off x="581025" y="4073527"/>
            <a:ext cx="4254500" cy="692150"/>
          </a:xfrm>
          <a:custGeom>
            <a:avLst/>
            <a:gdLst/>
            <a:ahLst/>
            <a:cxnLst/>
            <a:rect l="l" t="t" r="r" b="b"/>
            <a:pathLst>
              <a:path w="4254500" h="692150">
                <a:moveTo>
                  <a:pt x="114302" y="0"/>
                </a:moveTo>
                <a:lnTo>
                  <a:pt x="4140198" y="0"/>
                </a:lnTo>
                <a:cubicBezTo>
                  <a:pt x="4203325" y="0"/>
                  <a:pt x="4254500" y="51175"/>
                  <a:pt x="4254500" y="114302"/>
                </a:cubicBezTo>
                <a:lnTo>
                  <a:pt x="4254500" y="577848"/>
                </a:lnTo>
                <a:cubicBezTo>
                  <a:pt x="4254500" y="640975"/>
                  <a:pt x="4203325" y="692150"/>
                  <a:pt x="4140198" y="692150"/>
                </a:cubicBezTo>
                <a:lnTo>
                  <a:pt x="114302" y="692150"/>
                </a:lnTo>
                <a:cubicBezTo>
                  <a:pt x="51175" y="692150"/>
                  <a:pt x="0" y="640975"/>
                  <a:pt x="0" y="57784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0D1117"/>
          </a:solidFill>
          <a:ln w="8467">
            <a:solidFill>
              <a:srgbClr val="21262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98500" y="4191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0071DC">
              <a:alpha val="20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808038" y="4324350"/>
            <a:ext cx="238125" cy="190500"/>
          </a:xfrm>
          <a:custGeom>
            <a:avLst/>
            <a:gdLst/>
            <a:ahLst/>
            <a:cxnLst/>
            <a:rect l="l" t="t" r="r" b="b"/>
            <a:pathLst>
              <a:path w="238125" h="190500">
                <a:moveTo>
                  <a:pt x="8930" y="-5953"/>
                </a:moveTo>
                <a:cubicBezTo>
                  <a:pt x="3981" y="-5953"/>
                  <a:pt x="0" y="-1972"/>
                  <a:pt x="0" y="2977"/>
                </a:cubicBezTo>
                <a:cubicBezTo>
                  <a:pt x="0" y="7925"/>
                  <a:pt x="3981" y="11906"/>
                  <a:pt x="8930" y="11906"/>
                </a:cubicBezTo>
                <a:lnTo>
                  <a:pt x="25784" y="11906"/>
                </a:lnTo>
                <a:cubicBezTo>
                  <a:pt x="27236" y="11906"/>
                  <a:pt x="28463" y="12948"/>
                  <a:pt x="28724" y="14362"/>
                </a:cubicBezTo>
                <a:lnTo>
                  <a:pt x="48109" y="120886"/>
                </a:lnTo>
                <a:cubicBezTo>
                  <a:pt x="50416" y="133610"/>
                  <a:pt x="61503" y="142875"/>
                  <a:pt x="74451" y="142875"/>
                </a:cubicBezTo>
                <a:lnTo>
                  <a:pt x="169664" y="142875"/>
                </a:lnTo>
                <a:cubicBezTo>
                  <a:pt x="174613" y="142875"/>
                  <a:pt x="178594" y="138894"/>
                  <a:pt x="178594" y="133945"/>
                </a:cubicBezTo>
                <a:cubicBezTo>
                  <a:pt x="178594" y="128997"/>
                  <a:pt x="174613" y="125016"/>
                  <a:pt x="169664" y="125016"/>
                </a:cubicBezTo>
                <a:lnTo>
                  <a:pt x="74451" y="125016"/>
                </a:lnTo>
                <a:cubicBezTo>
                  <a:pt x="70135" y="125016"/>
                  <a:pt x="66452" y="121927"/>
                  <a:pt x="65670" y="117686"/>
                </a:cubicBezTo>
                <a:lnTo>
                  <a:pt x="63773" y="107156"/>
                </a:lnTo>
                <a:lnTo>
                  <a:pt x="176733" y="107156"/>
                </a:lnTo>
                <a:cubicBezTo>
                  <a:pt x="188193" y="107156"/>
                  <a:pt x="198016" y="99008"/>
                  <a:pt x="200137" y="87734"/>
                </a:cubicBezTo>
                <a:lnTo>
                  <a:pt x="211671" y="26008"/>
                </a:lnTo>
                <a:cubicBezTo>
                  <a:pt x="213047" y="18678"/>
                  <a:pt x="207429" y="11906"/>
                  <a:pt x="199951" y="11906"/>
                </a:cubicBezTo>
                <a:lnTo>
                  <a:pt x="46397" y="11906"/>
                </a:lnTo>
                <a:lnTo>
                  <a:pt x="46248" y="11162"/>
                </a:lnTo>
                <a:cubicBezTo>
                  <a:pt x="44462" y="1265"/>
                  <a:pt x="35830" y="-5953"/>
                  <a:pt x="25747" y="-5953"/>
                </a:cubicBezTo>
                <a:lnTo>
                  <a:pt x="8930" y="-5953"/>
                </a:lnTo>
                <a:close/>
                <a:moveTo>
                  <a:pt x="77391" y="190500"/>
                </a:moveTo>
                <a:cubicBezTo>
                  <a:pt x="87247" y="190500"/>
                  <a:pt x="95250" y="182497"/>
                  <a:pt x="95250" y="172641"/>
                </a:cubicBezTo>
                <a:cubicBezTo>
                  <a:pt x="95250" y="162784"/>
                  <a:pt x="87247" y="154781"/>
                  <a:pt x="77391" y="154781"/>
                </a:cubicBezTo>
                <a:cubicBezTo>
                  <a:pt x="67534" y="154781"/>
                  <a:pt x="59531" y="162784"/>
                  <a:pt x="59531" y="172641"/>
                </a:cubicBezTo>
                <a:cubicBezTo>
                  <a:pt x="59531" y="182497"/>
                  <a:pt x="67534" y="190500"/>
                  <a:pt x="77391" y="190500"/>
                </a:cubicBezTo>
                <a:close/>
                <a:moveTo>
                  <a:pt x="160734" y="190500"/>
                </a:moveTo>
                <a:cubicBezTo>
                  <a:pt x="170591" y="190500"/>
                  <a:pt x="178594" y="182497"/>
                  <a:pt x="178594" y="172641"/>
                </a:cubicBezTo>
                <a:cubicBezTo>
                  <a:pt x="178594" y="162784"/>
                  <a:pt x="170591" y="154781"/>
                  <a:pt x="160734" y="154781"/>
                </a:cubicBezTo>
                <a:cubicBezTo>
                  <a:pt x="150878" y="154781"/>
                  <a:pt x="142875" y="162784"/>
                  <a:pt x="142875" y="172641"/>
                </a:cubicBezTo>
                <a:cubicBezTo>
                  <a:pt x="142875" y="182497"/>
                  <a:pt x="150878" y="190500"/>
                  <a:pt x="160734" y="190500"/>
                </a:cubicBezTo>
                <a:close/>
              </a:path>
            </a:pathLst>
          </a:custGeom>
          <a:solidFill>
            <a:srgbClr val="0071DC"/>
          </a:solidFill>
          <a:ln/>
        </p:spPr>
      </p:sp>
      <p:sp>
        <p:nvSpPr>
          <p:cNvPr id="25" name="Text 23"/>
          <p:cNvSpPr/>
          <p:nvPr/>
        </p:nvSpPr>
        <p:spPr>
          <a:xfrm>
            <a:off x="1308100" y="4248150"/>
            <a:ext cx="5619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6EDF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Flipkart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4424561" y="4229100"/>
            <a:ext cx="3714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0071D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18%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1308100" y="4533900"/>
            <a:ext cx="3409950" cy="76200"/>
          </a:xfrm>
          <a:custGeom>
            <a:avLst/>
            <a:gdLst/>
            <a:ahLst/>
            <a:cxnLst/>
            <a:rect l="l" t="t" r="r" b="b"/>
            <a:pathLst>
              <a:path w="3409950" h="76200">
                <a:moveTo>
                  <a:pt x="38100" y="0"/>
                </a:moveTo>
                <a:lnTo>
                  <a:pt x="3371850" y="0"/>
                </a:lnTo>
                <a:cubicBezTo>
                  <a:pt x="3392878" y="0"/>
                  <a:pt x="3409950" y="17072"/>
                  <a:pt x="3409950" y="38100"/>
                </a:cubicBezTo>
                <a:lnTo>
                  <a:pt x="3409950" y="38100"/>
                </a:lnTo>
                <a:cubicBezTo>
                  <a:pt x="3409950" y="59128"/>
                  <a:pt x="3392878" y="76200"/>
                  <a:pt x="337185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0363D"/>
          </a:solidFill>
          <a:ln/>
        </p:spPr>
      </p:sp>
      <p:sp>
        <p:nvSpPr>
          <p:cNvPr id="28" name="Shape 26"/>
          <p:cNvSpPr/>
          <p:nvPr/>
        </p:nvSpPr>
        <p:spPr>
          <a:xfrm>
            <a:off x="1308100" y="4533900"/>
            <a:ext cx="609600" cy="76200"/>
          </a:xfrm>
          <a:custGeom>
            <a:avLst/>
            <a:gdLst/>
            <a:ahLst/>
            <a:cxnLst/>
            <a:rect l="l" t="t" r="r" b="b"/>
            <a:pathLst>
              <a:path w="609600" h="76200">
                <a:moveTo>
                  <a:pt x="38100" y="0"/>
                </a:moveTo>
                <a:lnTo>
                  <a:pt x="571500" y="0"/>
                </a:lnTo>
                <a:cubicBezTo>
                  <a:pt x="592528" y="0"/>
                  <a:pt x="609600" y="17072"/>
                  <a:pt x="609600" y="38100"/>
                </a:cubicBezTo>
                <a:lnTo>
                  <a:pt x="609600" y="38100"/>
                </a:lnTo>
                <a:cubicBezTo>
                  <a:pt x="609600" y="59128"/>
                  <a:pt x="592528" y="76200"/>
                  <a:pt x="5715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071DC"/>
          </a:solidFill>
          <a:ln/>
        </p:spPr>
      </p:sp>
      <p:sp>
        <p:nvSpPr>
          <p:cNvPr id="29" name="Shape 27"/>
          <p:cNvSpPr/>
          <p:nvPr/>
        </p:nvSpPr>
        <p:spPr>
          <a:xfrm>
            <a:off x="581025" y="4924428"/>
            <a:ext cx="4254500" cy="692150"/>
          </a:xfrm>
          <a:custGeom>
            <a:avLst/>
            <a:gdLst/>
            <a:ahLst/>
            <a:cxnLst/>
            <a:rect l="l" t="t" r="r" b="b"/>
            <a:pathLst>
              <a:path w="4254500" h="692150">
                <a:moveTo>
                  <a:pt x="114302" y="0"/>
                </a:moveTo>
                <a:lnTo>
                  <a:pt x="4140198" y="0"/>
                </a:lnTo>
                <a:cubicBezTo>
                  <a:pt x="4203325" y="0"/>
                  <a:pt x="4254500" y="51175"/>
                  <a:pt x="4254500" y="114302"/>
                </a:cubicBezTo>
                <a:lnTo>
                  <a:pt x="4254500" y="577848"/>
                </a:lnTo>
                <a:cubicBezTo>
                  <a:pt x="4254500" y="640975"/>
                  <a:pt x="4203325" y="692150"/>
                  <a:pt x="4140198" y="692150"/>
                </a:cubicBezTo>
                <a:lnTo>
                  <a:pt x="114302" y="692150"/>
                </a:lnTo>
                <a:cubicBezTo>
                  <a:pt x="51175" y="692150"/>
                  <a:pt x="0" y="640975"/>
                  <a:pt x="0" y="57784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0D1117"/>
          </a:solidFill>
          <a:ln w="8467">
            <a:solidFill>
              <a:srgbClr val="21262D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98500" y="5041902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58A6FF">
              <a:alpha val="20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831850" y="5175252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30932" y="104180"/>
                </a:moveTo>
                <a:lnTo>
                  <a:pt x="59903" y="104180"/>
                </a:lnTo>
                <a:cubicBezTo>
                  <a:pt x="60982" y="128178"/>
                  <a:pt x="66303" y="150279"/>
                  <a:pt x="73856" y="166464"/>
                </a:cubicBezTo>
                <a:cubicBezTo>
                  <a:pt x="78098" y="175580"/>
                  <a:pt x="82674" y="182017"/>
                  <a:pt x="86916" y="185961"/>
                </a:cubicBezTo>
                <a:cubicBezTo>
                  <a:pt x="91083" y="189867"/>
                  <a:pt x="93948" y="190500"/>
                  <a:pt x="95436" y="190500"/>
                </a:cubicBezTo>
                <a:cubicBezTo>
                  <a:pt x="96924" y="190500"/>
                  <a:pt x="99789" y="189867"/>
                  <a:pt x="103956" y="185961"/>
                </a:cubicBezTo>
                <a:cubicBezTo>
                  <a:pt x="108198" y="182017"/>
                  <a:pt x="112775" y="175543"/>
                  <a:pt x="117016" y="166464"/>
                </a:cubicBezTo>
                <a:cubicBezTo>
                  <a:pt x="124569" y="150279"/>
                  <a:pt x="129890" y="128178"/>
                  <a:pt x="130969" y="104180"/>
                </a:cubicBezTo>
                <a:close/>
                <a:moveTo>
                  <a:pt x="59866" y="86320"/>
                </a:moveTo>
                <a:lnTo>
                  <a:pt x="130894" y="86320"/>
                </a:lnTo>
                <a:cubicBezTo>
                  <a:pt x="129853" y="62322"/>
                  <a:pt x="124532" y="40221"/>
                  <a:pt x="116979" y="24036"/>
                </a:cubicBezTo>
                <a:cubicBezTo>
                  <a:pt x="112737" y="14957"/>
                  <a:pt x="108161" y="8483"/>
                  <a:pt x="103919" y="4539"/>
                </a:cubicBezTo>
                <a:cubicBezTo>
                  <a:pt x="99752" y="633"/>
                  <a:pt x="96887" y="0"/>
                  <a:pt x="95399" y="0"/>
                </a:cubicBezTo>
                <a:cubicBezTo>
                  <a:pt x="93911" y="0"/>
                  <a:pt x="91046" y="633"/>
                  <a:pt x="86878" y="4539"/>
                </a:cubicBezTo>
                <a:cubicBezTo>
                  <a:pt x="82637" y="8483"/>
                  <a:pt x="78060" y="14957"/>
                  <a:pt x="73819" y="24036"/>
                </a:cubicBezTo>
                <a:cubicBezTo>
                  <a:pt x="66266" y="40221"/>
                  <a:pt x="60945" y="62322"/>
                  <a:pt x="59866" y="86320"/>
                </a:cubicBezTo>
                <a:close/>
                <a:moveTo>
                  <a:pt x="42007" y="86320"/>
                </a:moveTo>
                <a:cubicBezTo>
                  <a:pt x="43309" y="54471"/>
                  <a:pt x="51532" y="24892"/>
                  <a:pt x="63550" y="5469"/>
                </a:cubicBezTo>
                <a:cubicBezTo>
                  <a:pt x="29282" y="17599"/>
                  <a:pt x="4056" y="48816"/>
                  <a:pt x="558" y="86320"/>
                </a:cubicBezTo>
                <a:lnTo>
                  <a:pt x="42007" y="86320"/>
                </a:lnTo>
                <a:close/>
                <a:moveTo>
                  <a:pt x="558" y="104180"/>
                </a:moveTo>
                <a:cubicBezTo>
                  <a:pt x="4056" y="141684"/>
                  <a:pt x="29282" y="172901"/>
                  <a:pt x="63550" y="185031"/>
                </a:cubicBezTo>
                <a:cubicBezTo>
                  <a:pt x="51532" y="165608"/>
                  <a:pt x="43309" y="136029"/>
                  <a:pt x="42007" y="104180"/>
                </a:cubicBezTo>
                <a:lnTo>
                  <a:pt x="558" y="104180"/>
                </a:lnTo>
                <a:close/>
                <a:moveTo>
                  <a:pt x="148791" y="104180"/>
                </a:moveTo>
                <a:cubicBezTo>
                  <a:pt x="147489" y="136029"/>
                  <a:pt x="139266" y="165608"/>
                  <a:pt x="127248" y="185031"/>
                </a:cubicBezTo>
                <a:cubicBezTo>
                  <a:pt x="161516" y="172864"/>
                  <a:pt x="186742" y="141684"/>
                  <a:pt x="190240" y="104180"/>
                </a:cubicBezTo>
                <a:lnTo>
                  <a:pt x="148791" y="104180"/>
                </a:lnTo>
                <a:close/>
                <a:moveTo>
                  <a:pt x="190240" y="86320"/>
                </a:moveTo>
                <a:cubicBezTo>
                  <a:pt x="186742" y="48816"/>
                  <a:pt x="161516" y="17599"/>
                  <a:pt x="127248" y="5469"/>
                </a:cubicBezTo>
                <a:cubicBezTo>
                  <a:pt x="139266" y="24892"/>
                  <a:pt x="147489" y="54471"/>
                  <a:pt x="148791" y="86320"/>
                </a:cubicBezTo>
                <a:lnTo>
                  <a:pt x="190240" y="86320"/>
                </a:lnTo>
                <a:close/>
              </a:path>
            </a:pathLst>
          </a:custGeom>
          <a:solidFill>
            <a:srgbClr val="58A6FF"/>
          </a:solidFill>
          <a:ln/>
        </p:spPr>
      </p:sp>
      <p:sp>
        <p:nvSpPr>
          <p:cNvPr id="32" name="Text 30"/>
          <p:cNvSpPr/>
          <p:nvPr/>
        </p:nvSpPr>
        <p:spPr>
          <a:xfrm>
            <a:off x="1308100" y="5099052"/>
            <a:ext cx="5238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6EDF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Others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4480124" y="5080002"/>
            <a:ext cx="3238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58A6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6%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1308100" y="5384802"/>
            <a:ext cx="3409950" cy="76200"/>
          </a:xfrm>
          <a:custGeom>
            <a:avLst/>
            <a:gdLst/>
            <a:ahLst/>
            <a:cxnLst/>
            <a:rect l="l" t="t" r="r" b="b"/>
            <a:pathLst>
              <a:path w="3409950" h="76200">
                <a:moveTo>
                  <a:pt x="38100" y="0"/>
                </a:moveTo>
                <a:lnTo>
                  <a:pt x="3371850" y="0"/>
                </a:lnTo>
                <a:cubicBezTo>
                  <a:pt x="3392878" y="0"/>
                  <a:pt x="3409950" y="17072"/>
                  <a:pt x="3409950" y="38100"/>
                </a:cubicBezTo>
                <a:lnTo>
                  <a:pt x="3409950" y="38100"/>
                </a:lnTo>
                <a:cubicBezTo>
                  <a:pt x="3409950" y="59128"/>
                  <a:pt x="3392878" y="76200"/>
                  <a:pt x="337185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0363D"/>
          </a:solidFill>
          <a:ln/>
        </p:spPr>
      </p:sp>
      <p:sp>
        <p:nvSpPr>
          <p:cNvPr id="35" name="Shape 33"/>
          <p:cNvSpPr/>
          <p:nvPr/>
        </p:nvSpPr>
        <p:spPr>
          <a:xfrm>
            <a:off x="1308100" y="5384802"/>
            <a:ext cx="200025" cy="76200"/>
          </a:xfrm>
          <a:custGeom>
            <a:avLst/>
            <a:gdLst/>
            <a:ahLst/>
            <a:cxnLst/>
            <a:rect l="l" t="t" r="r" b="b"/>
            <a:pathLst>
              <a:path w="200025" h="76200">
                <a:moveTo>
                  <a:pt x="38100" y="0"/>
                </a:moveTo>
                <a:lnTo>
                  <a:pt x="161925" y="0"/>
                </a:lnTo>
                <a:cubicBezTo>
                  <a:pt x="182953" y="0"/>
                  <a:pt x="200025" y="17072"/>
                  <a:pt x="200025" y="38100"/>
                </a:cubicBezTo>
                <a:lnTo>
                  <a:pt x="200025" y="38100"/>
                </a:lnTo>
                <a:cubicBezTo>
                  <a:pt x="200025" y="59128"/>
                  <a:pt x="182953" y="76200"/>
                  <a:pt x="161925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58A6FF"/>
          </a:solidFill>
          <a:ln/>
        </p:spPr>
      </p:sp>
      <p:sp>
        <p:nvSpPr>
          <p:cNvPr id="36" name="Shape 34"/>
          <p:cNvSpPr/>
          <p:nvPr/>
        </p:nvSpPr>
        <p:spPr>
          <a:xfrm>
            <a:off x="384175" y="5972178"/>
            <a:ext cx="4645025" cy="654050"/>
          </a:xfrm>
          <a:custGeom>
            <a:avLst/>
            <a:gdLst/>
            <a:ahLst/>
            <a:cxnLst/>
            <a:rect l="l" t="t" r="r" b="b"/>
            <a:pathLst>
              <a:path w="4645025" h="654050">
                <a:moveTo>
                  <a:pt x="152400" y="0"/>
                </a:moveTo>
                <a:lnTo>
                  <a:pt x="4492625" y="0"/>
                </a:lnTo>
                <a:cubicBezTo>
                  <a:pt x="4576793" y="0"/>
                  <a:pt x="4645025" y="68232"/>
                  <a:pt x="4645025" y="152400"/>
                </a:cubicBezTo>
                <a:lnTo>
                  <a:pt x="4645025" y="501650"/>
                </a:lnTo>
                <a:cubicBezTo>
                  <a:pt x="4645025" y="585818"/>
                  <a:pt x="4576793" y="654050"/>
                  <a:pt x="4492625" y="654050"/>
                </a:cubicBezTo>
                <a:lnTo>
                  <a:pt x="152400" y="654050"/>
                </a:lnTo>
                <a:cubicBezTo>
                  <a:pt x="68232" y="654050"/>
                  <a:pt x="0" y="585818"/>
                  <a:pt x="0" y="501650"/>
                </a:cubicBezTo>
                <a:lnTo>
                  <a:pt x="0" y="152400"/>
                </a:lnTo>
                <a:cubicBezTo>
                  <a:pt x="0" y="68232"/>
                  <a:pt x="68232" y="0"/>
                  <a:pt x="152400" y="0"/>
                </a:cubicBezTo>
                <a:close/>
              </a:path>
            </a:pathLst>
          </a:custGeom>
          <a:gradFill flip="none" rotWithShape="1">
            <a:gsLst>
              <a:gs pos="0">
                <a:srgbClr val="161B22"/>
              </a:gs>
              <a:gs pos="100000">
                <a:srgbClr val="0D1117"/>
              </a:gs>
            </a:gsLst>
            <a:lin ang="2700000" scaled="1"/>
          </a:gradFill>
          <a:ln w="8467">
            <a:solidFill>
              <a:srgbClr val="00D9FF">
                <a:alpha val="30196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87375" y="6203952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108979" y="142875"/>
                </a:moveTo>
                <a:cubicBezTo>
                  <a:pt x="111696" y="134578"/>
                  <a:pt x="117128" y="127062"/>
                  <a:pt x="123267" y="120588"/>
                </a:cubicBezTo>
                <a:cubicBezTo>
                  <a:pt x="135434" y="107789"/>
                  <a:pt x="142875" y="90488"/>
                  <a:pt x="142875" y="71438"/>
                </a:cubicBezTo>
                <a:cubicBezTo>
                  <a:pt x="142875" y="31998"/>
                  <a:pt x="110877" y="0"/>
                  <a:pt x="71437" y="0"/>
                </a:cubicBezTo>
                <a:cubicBezTo>
                  <a:pt x="31998" y="0"/>
                  <a:pt x="0" y="31998"/>
                  <a:pt x="0" y="71438"/>
                </a:cubicBezTo>
                <a:cubicBezTo>
                  <a:pt x="0" y="90488"/>
                  <a:pt x="7441" y="107789"/>
                  <a:pt x="19608" y="120588"/>
                </a:cubicBezTo>
                <a:cubicBezTo>
                  <a:pt x="25747" y="127062"/>
                  <a:pt x="31217" y="134578"/>
                  <a:pt x="33896" y="142875"/>
                </a:cubicBezTo>
                <a:lnTo>
                  <a:pt x="108942" y="142875"/>
                </a:lnTo>
                <a:close/>
                <a:moveTo>
                  <a:pt x="107156" y="160734"/>
                </a:moveTo>
                <a:lnTo>
                  <a:pt x="35719" y="160734"/>
                </a:lnTo>
                <a:lnTo>
                  <a:pt x="35719" y="166688"/>
                </a:lnTo>
                <a:cubicBezTo>
                  <a:pt x="35719" y="183133"/>
                  <a:pt x="49039" y="196453"/>
                  <a:pt x="65484" y="196453"/>
                </a:cubicBezTo>
                <a:lnTo>
                  <a:pt x="77391" y="196453"/>
                </a:lnTo>
                <a:cubicBezTo>
                  <a:pt x="93836" y="196453"/>
                  <a:pt x="107156" y="183133"/>
                  <a:pt x="107156" y="166688"/>
                </a:cubicBezTo>
                <a:lnTo>
                  <a:pt x="107156" y="160734"/>
                </a:lnTo>
                <a:close/>
                <a:moveTo>
                  <a:pt x="68461" y="41672"/>
                </a:moveTo>
                <a:cubicBezTo>
                  <a:pt x="53653" y="41672"/>
                  <a:pt x="41672" y="53653"/>
                  <a:pt x="41672" y="68461"/>
                </a:cubicBezTo>
                <a:cubicBezTo>
                  <a:pt x="41672" y="73409"/>
                  <a:pt x="37691" y="77391"/>
                  <a:pt x="32742" y="77391"/>
                </a:cubicBezTo>
                <a:cubicBezTo>
                  <a:pt x="27794" y="77391"/>
                  <a:pt x="23812" y="73409"/>
                  <a:pt x="23812" y="68461"/>
                </a:cubicBezTo>
                <a:cubicBezTo>
                  <a:pt x="23812" y="43793"/>
                  <a:pt x="43793" y="23812"/>
                  <a:pt x="68461" y="23812"/>
                </a:cubicBezTo>
                <a:cubicBezTo>
                  <a:pt x="73409" y="23812"/>
                  <a:pt x="77391" y="27794"/>
                  <a:pt x="77391" y="32742"/>
                </a:cubicBezTo>
                <a:cubicBezTo>
                  <a:pt x="77391" y="37691"/>
                  <a:pt x="73409" y="41672"/>
                  <a:pt x="68461" y="41672"/>
                </a:cubicBezTo>
                <a:close/>
              </a:path>
            </a:pathLst>
          </a:custGeom>
          <a:solidFill>
            <a:srgbClr val="00D9FF"/>
          </a:solidFill>
          <a:ln/>
        </p:spPr>
      </p:sp>
      <p:sp>
        <p:nvSpPr>
          <p:cNvPr id="38" name="Text 36"/>
          <p:cNvSpPr/>
          <p:nvPr/>
        </p:nvSpPr>
        <p:spPr>
          <a:xfrm>
            <a:off x="892175" y="6127752"/>
            <a:ext cx="37052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6EDF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Insight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892175" y="6318252"/>
            <a:ext cx="36957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8B94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Online channels growing at 34% YoY, closing the gap with traditional retail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5226050" y="1755775"/>
            <a:ext cx="6578600" cy="4873625"/>
          </a:xfrm>
          <a:custGeom>
            <a:avLst/>
            <a:gdLst/>
            <a:ahLst/>
            <a:cxnLst/>
            <a:rect l="l" t="t" r="r" b="b"/>
            <a:pathLst>
              <a:path w="6578600" h="4873625">
                <a:moveTo>
                  <a:pt x="152398" y="0"/>
                </a:moveTo>
                <a:lnTo>
                  <a:pt x="6426202" y="0"/>
                </a:lnTo>
                <a:cubicBezTo>
                  <a:pt x="6510369" y="0"/>
                  <a:pt x="6578600" y="68231"/>
                  <a:pt x="6578600" y="152398"/>
                </a:cubicBezTo>
                <a:lnTo>
                  <a:pt x="6578600" y="4721227"/>
                </a:lnTo>
                <a:cubicBezTo>
                  <a:pt x="6578600" y="4805394"/>
                  <a:pt x="6510369" y="4873625"/>
                  <a:pt x="6426202" y="4873625"/>
                </a:cubicBezTo>
                <a:lnTo>
                  <a:pt x="152398" y="4873625"/>
                </a:lnTo>
                <a:cubicBezTo>
                  <a:pt x="68231" y="4873625"/>
                  <a:pt x="0" y="4805394"/>
                  <a:pt x="0" y="4721227"/>
                </a:cubicBezTo>
                <a:lnTo>
                  <a:pt x="0" y="152398"/>
                </a:lnTo>
                <a:cubicBezTo>
                  <a:pt x="0" y="68287"/>
                  <a:pt x="68287" y="0"/>
                  <a:pt x="152398" y="0"/>
                </a:cubicBezTo>
                <a:close/>
              </a:path>
            </a:pathLst>
          </a:custGeom>
          <a:gradFill flip="none" rotWithShape="1">
            <a:gsLst>
              <a:gs pos="0">
                <a:srgbClr val="161B22"/>
              </a:gs>
              <a:gs pos="100000">
                <a:srgbClr val="0D1117"/>
              </a:gs>
            </a:gsLst>
            <a:lin ang="2700000" scaled="1"/>
          </a:gradFill>
          <a:ln w="8467">
            <a:solidFill>
              <a:srgbClr val="30363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419725" y="1949451"/>
            <a:ext cx="23145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Channel Distribution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5419725" y="2216153"/>
            <a:ext cx="2286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B94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Revenue contribution by sales channel</a:t>
            </a:r>
            <a:endParaRPr lang="en-US" sz="1600" dirty="0"/>
          </a:p>
        </p:txBody>
      </p:sp>
      <p:pic>
        <p:nvPicPr>
          <p:cNvPr id="43" name="Image 0" descr="https://kimi-img.moonshot.cn/pub/slides/26-02-18-02:11:47-d6aauoq23rd347h49jv0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419725" y="2559053"/>
            <a:ext cx="6191250" cy="3048000"/>
          </a:xfrm>
          <a:prstGeom prst="roundRect">
            <a:avLst>
              <a:gd name="adj" fmla="val 0"/>
            </a:avLst>
          </a:prstGeom>
        </p:spPr>
      </p:pic>
      <p:sp>
        <p:nvSpPr>
          <p:cNvPr id="44" name="TextBox 43">
            <a:extLst>
              <a:ext uri="{FF2B5EF4-FFF2-40B4-BE49-F238E27FC236}">
                <a16:creationId xmlns:a16="http://schemas.microsoft.com/office/drawing/2014/main" id="{4F6B6C3F-C09E-1651-BBAE-7D85FFDEC2B3}"/>
              </a:ext>
            </a:extLst>
          </p:cNvPr>
          <p:cNvSpPr txBox="1"/>
          <p:nvPr/>
        </p:nvSpPr>
        <p:spPr>
          <a:xfrm>
            <a:off x="9575264" y="161925"/>
            <a:ext cx="26161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ssharma9663@gmail.com</a:t>
            </a:r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8100" cy="304800"/>
          </a:xfrm>
          <a:custGeom>
            <a:avLst/>
            <a:gdLst/>
            <a:ahLst/>
            <a:cxnLst/>
            <a:rect l="l" t="t" r="r" b="b"/>
            <a:pathLst>
              <a:path w="38100" h="304800">
                <a:moveTo>
                  <a:pt x="19050" y="0"/>
                </a:moveTo>
                <a:lnTo>
                  <a:pt x="19050" y="0"/>
                </a:lnTo>
                <a:cubicBezTo>
                  <a:pt x="29564" y="0"/>
                  <a:pt x="38100" y="8536"/>
                  <a:pt x="38100" y="19050"/>
                </a:cubicBezTo>
                <a:lnTo>
                  <a:pt x="38100" y="285750"/>
                </a:lnTo>
                <a:cubicBezTo>
                  <a:pt x="38100" y="296264"/>
                  <a:pt x="29564" y="304800"/>
                  <a:pt x="19050" y="304800"/>
                </a:cubicBezTo>
                <a:lnTo>
                  <a:pt x="19050" y="304800"/>
                </a:lnTo>
                <a:cubicBezTo>
                  <a:pt x="8536" y="304800"/>
                  <a:pt x="0" y="296264"/>
                  <a:pt x="0" y="285750"/>
                </a:cubicBezTo>
                <a:lnTo>
                  <a:pt x="0" y="19050"/>
                </a:lnTo>
                <a:cubicBezTo>
                  <a:pt x="0" y="8536"/>
                  <a:pt x="8536" y="0"/>
                  <a:pt x="19050" y="0"/>
                </a:cubicBezTo>
                <a:close/>
              </a:path>
            </a:pathLst>
          </a:custGeom>
          <a:gradFill flip="none" rotWithShape="1">
            <a:gsLst>
              <a:gs pos="0">
                <a:srgbClr val="F85149"/>
              </a:gs>
              <a:gs pos="0">
                <a:srgbClr val="FFFFFF"/>
              </a:gs>
              <a:gs pos="100000">
                <a:srgbClr val="D29922"/>
              </a:gs>
            </a:gsLst>
            <a:lin ang="5400000" scaled="1"/>
          </a:gradFill>
          <a:ln/>
        </p:spPr>
      </p:sp>
      <p:sp>
        <p:nvSpPr>
          <p:cNvPr id="3" name="Text 1"/>
          <p:cNvSpPr/>
          <p:nvPr/>
        </p:nvSpPr>
        <p:spPr>
          <a:xfrm>
            <a:off x="533400" y="438150"/>
            <a:ext cx="1752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kern="0" spc="210" dirty="0">
                <a:solidFill>
                  <a:srgbClr val="F8514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Critical Analysis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7620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E6EDF3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Pain Points &amp; Gaps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81000" y="1295400"/>
            <a:ext cx="11515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8B94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Identified vulnerabilities requiring immediate strategic intervention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84175" y="1755775"/>
            <a:ext cx="5597525" cy="4006850"/>
          </a:xfrm>
          <a:custGeom>
            <a:avLst/>
            <a:gdLst/>
            <a:ahLst/>
            <a:cxnLst/>
            <a:rect l="l" t="t" r="r" b="b"/>
            <a:pathLst>
              <a:path w="5597525" h="4006850">
                <a:moveTo>
                  <a:pt x="152381" y="0"/>
                </a:moveTo>
                <a:lnTo>
                  <a:pt x="5445144" y="0"/>
                </a:lnTo>
                <a:cubicBezTo>
                  <a:pt x="5529302" y="0"/>
                  <a:pt x="5597525" y="68223"/>
                  <a:pt x="5597525" y="152381"/>
                </a:cubicBezTo>
                <a:lnTo>
                  <a:pt x="5597525" y="3854469"/>
                </a:lnTo>
                <a:cubicBezTo>
                  <a:pt x="5597525" y="3938627"/>
                  <a:pt x="5529302" y="4006850"/>
                  <a:pt x="5445144" y="4006850"/>
                </a:cubicBezTo>
                <a:lnTo>
                  <a:pt x="152381" y="4006850"/>
                </a:lnTo>
                <a:cubicBezTo>
                  <a:pt x="68223" y="4006850"/>
                  <a:pt x="0" y="3938627"/>
                  <a:pt x="0" y="3854469"/>
                </a:cubicBezTo>
                <a:lnTo>
                  <a:pt x="0" y="152381"/>
                </a:lnTo>
                <a:cubicBezTo>
                  <a:pt x="0" y="68279"/>
                  <a:pt x="68279" y="0"/>
                  <a:pt x="152381" y="0"/>
                </a:cubicBezTo>
                <a:close/>
              </a:path>
            </a:pathLst>
          </a:custGeom>
          <a:gradFill flip="none" rotWithShape="1">
            <a:gsLst>
              <a:gs pos="0">
                <a:srgbClr val="161B22"/>
              </a:gs>
              <a:gs pos="100000">
                <a:srgbClr val="0D1117"/>
              </a:gs>
            </a:gsLst>
            <a:lin ang="2700000" scaled="1"/>
          </a:gradFill>
          <a:ln w="8467">
            <a:solidFill>
              <a:srgbClr val="F85149">
                <a:alpha val="50196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15950" y="1987553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14300" y="0"/>
                </a:moveTo>
                <a:lnTo>
                  <a:pt x="495300" y="0"/>
                </a:lnTo>
                <a:cubicBezTo>
                  <a:pt x="558384" y="0"/>
                  <a:pt x="609600" y="51216"/>
                  <a:pt x="609600" y="114300"/>
                </a:cubicBezTo>
                <a:lnTo>
                  <a:pt x="609600" y="495300"/>
                </a:lnTo>
                <a:cubicBezTo>
                  <a:pt x="609600" y="558384"/>
                  <a:pt x="558384" y="609600"/>
                  <a:pt x="495300" y="609600"/>
                </a:cubicBezTo>
                <a:lnTo>
                  <a:pt x="114300" y="609600"/>
                </a:lnTo>
                <a:cubicBezTo>
                  <a:pt x="51216" y="609600"/>
                  <a:pt x="0" y="558384"/>
                  <a:pt x="0" y="495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F85149">
              <a:alpha val="2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815975" y="2149478"/>
            <a:ext cx="214313" cy="285750"/>
          </a:xfrm>
          <a:custGeom>
            <a:avLst/>
            <a:gdLst/>
            <a:ahLst/>
            <a:cxnLst/>
            <a:rect l="l" t="t" r="r" b="b"/>
            <a:pathLst>
              <a:path w="214313" h="285750">
                <a:moveTo>
                  <a:pt x="0" y="35719"/>
                </a:moveTo>
                <a:cubicBezTo>
                  <a:pt x="0" y="16018"/>
                  <a:pt x="16018" y="0"/>
                  <a:pt x="35719" y="0"/>
                </a:cubicBezTo>
                <a:lnTo>
                  <a:pt x="119156" y="0"/>
                </a:lnTo>
                <a:cubicBezTo>
                  <a:pt x="128643" y="0"/>
                  <a:pt x="137740" y="3739"/>
                  <a:pt x="144438" y="10437"/>
                </a:cubicBezTo>
                <a:lnTo>
                  <a:pt x="203876" y="69931"/>
                </a:lnTo>
                <a:cubicBezTo>
                  <a:pt x="210573" y="76628"/>
                  <a:pt x="214313" y="85725"/>
                  <a:pt x="214313" y="95213"/>
                </a:cubicBezTo>
                <a:lnTo>
                  <a:pt x="214313" y="250031"/>
                </a:lnTo>
                <a:cubicBezTo>
                  <a:pt x="214313" y="269732"/>
                  <a:pt x="198295" y="285750"/>
                  <a:pt x="178594" y="285750"/>
                </a:cubicBezTo>
                <a:lnTo>
                  <a:pt x="35719" y="285750"/>
                </a:lnTo>
                <a:cubicBezTo>
                  <a:pt x="16018" y="285750"/>
                  <a:pt x="0" y="269732"/>
                  <a:pt x="0" y="250031"/>
                </a:cubicBezTo>
                <a:lnTo>
                  <a:pt x="0" y="35719"/>
                </a:lnTo>
                <a:close/>
                <a:moveTo>
                  <a:pt x="116086" y="32649"/>
                </a:moveTo>
                <a:lnTo>
                  <a:pt x="116086" y="84832"/>
                </a:lnTo>
                <a:cubicBezTo>
                  <a:pt x="116086" y="92255"/>
                  <a:pt x="122058" y="98227"/>
                  <a:pt x="129480" y="98227"/>
                </a:cubicBezTo>
                <a:lnTo>
                  <a:pt x="181663" y="98227"/>
                </a:lnTo>
                <a:lnTo>
                  <a:pt x="116086" y="32649"/>
                </a:lnTo>
                <a:close/>
                <a:moveTo>
                  <a:pt x="66973" y="142875"/>
                </a:moveTo>
                <a:cubicBezTo>
                  <a:pt x="59550" y="142875"/>
                  <a:pt x="53578" y="148847"/>
                  <a:pt x="53578" y="156270"/>
                </a:cubicBezTo>
                <a:cubicBezTo>
                  <a:pt x="53578" y="163692"/>
                  <a:pt x="59550" y="169664"/>
                  <a:pt x="66973" y="169664"/>
                </a:cubicBezTo>
                <a:lnTo>
                  <a:pt x="147340" y="169664"/>
                </a:lnTo>
                <a:cubicBezTo>
                  <a:pt x="154763" y="169664"/>
                  <a:pt x="160734" y="163692"/>
                  <a:pt x="160734" y="156270"/>
                </a:cubicBezTo>
                <a:cubicBezTo>
                  <a:pt x="160734" y="148847"/>
                  <a:pt x="154763" y="142875"/>
                  <a:pt x="147340" y="142875"/>
                </a:cubicBezTo>
                <a:lnTo>
                  <a:pt x="66973" y="142875"/>
                </a:lnTo>
                <a:close/>
                <a:moveTo>
                  <a:pt x="66973" y="196453"/>
                </a:moveTo>
                <a:cubicBezTo>
                  <a:pt x="59550" y="196453"/>
                  <a:pt x="53578" y="202425"/>
                  <a:pt x="53578" y="209848"/>
                </a:cubicBezTo>
                <a:cubicBezTo>
                  <a:pt x="53578" y="217270"/>
                  <a:pt x="59550" y="223242"/>
                  <a:pt x="66973" y="223242"/>
                </a:cubicBezTo>
                <a:lnTo>
                  <a:pt x="147340" y="223242"/>
                </a:lnTo>
                <a:cubicBezTo>
                  <a:pt x="154763" y="223242"/>
                  <a:pt x="160734" y="217270"/>
                  <a:pt x="160734" y="209848"/>
                </a:cubicBezTo>
                <a:cubicBezTo>
                  <a:pt x="160734" y="202425"/>
                  <a:pt x="154763" y="196453"/>
                  <a:pt x="147340" y="196453"/>
                </a:cubicBezTo>
                <a:lnTo>
                  <a:pt x="66973" y="196453"/>
                </a:lnTo>
                <a:close/>
              </a:path>
            </a:pathLst>
          </a:custGeom>
          <a:solidFill>
            <a:srgbClr val="F85149"/>
          </a:solidFill>
          <a:ln/>
        </p:spPr>
      </p:sp>
      <p:sp>
        <p:nvSpPr>
          <p:cNvPr id="9" name="Shape 7"/>
          <p:cNvSpPr/>
          <p:nvPr/>
        </p:nvSpPr>
        <p:spPr>
          <a:xfrm>
            <a:off x="1377950" y="1987553"/>
            <a:ext cx="695325" cy="228600"/>
          </a:xfrm>
          <a:custGeom>
            <a:avLst/>
            <a:gdLst/>
            <a:ahLst/>
            <a:cxnLst/>
            <a:rect l="l" t="t" r="r" b="b"/>
            <a:pathLst>
              <a:path w="695325" h="228600">
                <a:moveTo>
                  <a:pt x="114300" y="0"/>
                </a:moveTo>
                <a:lnTo>
                  <a:pt x="581025" y="0"/>
                </a:lnTo>
                <a:cubicBezTo>
                  <a:pt x="644109" y="0"/>
                  <a:pt x="695325" y="51216"/>
                  <a:pt x="695325" y="114300"/>
                </a:cubicBezTo>
                <a:lnTo>
                  <a:pt x="695325" y="114300"/>
                </a:lnTo>
                <a:cubicBezTo>
                  <a:pt x="695325" y="177384"/>
                  <a:pt x="644109" y="228600"/>
                  <a:pt x="581025" y="228600"/>
                </a:cubicBezTo>
                <a:lnTo>
                  <a:pt x="114300" y="228600"/>
                </a:lnTo>
                <a:cubicBezTo>
                  <a:pt x="51216" y="228600"/>
                  <a:pt x="0" y="177384"/>
                  <a:pt x="0" y="114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F85149">
              <a:alpha val="2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1377950" y="1987553"/>
            <a:ext cx="752475" cy="22860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F8514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CRITICAL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149872" y="2025653"/>
            <a:ext cx="6191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8B94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15% Impact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377950" y="2292353"/>
            <a:ext cx="23526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Documentation Issues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19125" y="2790828"/>
            <a:ext cx="5121275" cy="806450"/>
          </a:xfrm>
          <a:custGeom>
            <a:avLst/>
            <a:gdLst/>
            <a:ahLst/>
            <a:cxnLst/>
            <a:rect l="l" t="t" r="r" b="b"/>
            <a:pathLst>
              <a:path w="5121275" h="806450">
                <a:moveTo>
                  <a:pt x="76201" y="0"/>
                </a:moveTo>
                <a:lnTo>
                  <a:pt x="5045074" y="0"/>
                </a:lnTo>
                <a:cubicBezTo>
                  <a:pt x="5087158" y="0"/>
                  <a:pt x="5121275" y="34117"/>
                  <a:pt x="5121275" y="76201"/>
                </a:cubicBezTo>
                <a:lnTo>
                  <a:pt x="5121275" y="730249"/>
                </a:lnTo>
                <a:cubicBezTo>
                  <a:pt x="5121275" y="772333"/>
                  <a:pt x="5087158" y="806450"/>
                  <a:pt x="5045074" y="806450"/>
                </a:cubicBezTo>
                <a:lnTo>
                  <a:pt x="76201" y="806450"/>
                </a:lnTo>
                <a:cubicBezTo>
                  <a:pt x="34145" y="806450"/>
                  <a:pt x="0" y="772305"/>
                  <a:pt x="0" y="730249"/>
                </a:cubicBezTo>
                <a:lnTo>
                  <a:pt x="0" y="76201"/>
                </a:lnTo>
                <a:cubicBezTo>
                  <a:pt x="0" y="34145"/>
                  <a:pt x="34145" y="0"/>
                  <a:pt x="76201" y="0"/>
                </a:cubicBezTo>
                <a:close/>
              </a:path>
            </a:pathLst>
          </a:custGeom>
          <a:solidFill>
            <a:srgbClr val="0D1117"/>
          </a:solidFill>
          <a:ln w="8467">
            <a:solidFill>
              <a:srgbClr val="21262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93750" y="2984502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76200" y="40481"/>
                </a:moveTo>
                <a:cubicBezTo>
                  <a:pt x="80159" y="40481"/>
                  <a:pt x="83344" y="43666"/>
                  <a:pt x="83344" y="47625"/>
                </a:cubicBezTo>
                <a:lnTo>
                  <a:pt x="83344" y="80962"/>
                </a:lnTo>
                <a:cubicBezTo>
                  <a:pt x="83344" y="84921"/>
                  <a:pt x="80159" y="88106"/>
                  <a:pt x="76200" y="88106"/>
                </a:cubicBezTo>
                <a:cubicBezTo>
                  <a:pt x="72241" y="88106"/>
                  <a:pt x="69056" y="84921"/>
                  <a:pt x="69056" y="80962"/>
                </a:cubicBezTo>
                <a:lnTo>
                  <a:pt x="69056" y="47625"/>
                </a:lnTo>
                <a:cubicBezTo>
                  <a:pt x="69056" y="43666"/>
                  <a:pt x="72241" y="40481"/>
                  <a:pt x="76200" y="40481"/>
                </a:cubicBezTo>
                <a:close/>
                <a:moveTo>
                  <a:pt x="68253" y="104775"/>
                </a:moveTo>
                <a:cubicBezTo>
                  <a:pt x="68072" y="101825"/>
                  <a:pt x="69543" y="99018"/>
                  <a:pt x="72072" y="97489"/>
                </a:cubicBezTo>
                <a:cubicBezTo>
                  <a:pt x="74601" y="95959"/>
                  <a:pt x="77770" y="95959"/>
                  <a:pt x="80298" y="97489"/>
                </a:cubicBezTo>
                <a:cubicBezTo>
                  <a:pt x="82827" y="99018"/>
                  <a:pt x="84298" y="101825"/>
                  <a:pt x="84118" y="104775"/>
                </a:cubicBezTo>
                <a:cubicBezTo>
                  <a:pt x="84298" y="107725"/>
                  <a:pt x="82827" y="110532"/>
                  <a:pt x="80298" y="112061"/>
                </a:cubicBezTo>
                <a:cubicBezTo>
                  <a:pt x="77770" y="113591"/>
                  <a:pt x="74601" y="113591"/>
                  <a:pt x="72072" y="112061"/>
                </a:cubicBezTo>
                <a:cubicBezTo>
                  <a:pt x="69543" y="110532"/>
                  <a:pt x="68072" y="107725"/>
                  <a:pt x="68253" y="104775"/>
                </a:cubicBezTo>
                <a:close/>
              </a:path>
            </a:pathLst>
          </a:custGeom>
          <a:solidFill>
            <a:srgbClr val="F85149"/>
          </a:solidFill>
          <a:ln/>
        </p:spPr>
      </p:sp>
      <p:sp>
        <p:nvSpPr>
          <p:cNvPr id="15" name="Text 13"/>
          <p:cNvSpPr/>
          <p:nvPr/>
        </p:nvSpPr>
        <p:spPr>
          <a:xfrm>
            <a:off x="1079500" y="2946402"/>
            <a:ext cx="17811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6EDF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Manual Processing Delays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74700" y="3251202"/>
            <a:ext cx="4876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B94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Paper-based customs documentation causing 15% of all shipment delays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19125" y="3756025"/>
            <a:ext cx="5121275" cy="806450"/>
          </a:xfrm>
          <a:custGeom>
            <a:avLst/>
            <a:gdLst/>
            <a:ahLst/>
            <a:cxnLst/>
            <a:rect l="l" t="t" r="r" b="b"/>
            <a:pathLst>
              <a:path w="5121275" h="806450">
                <a:moveTo>
                  <a:pt x="76201" y="0"/>
                </a:moveTo>
                <a:lnTo>
                  <a:pt x="5045074" y="0"/>
                </a:lnTo>
                <a:cubicBezTo>
                  <a:pt x="5087158" y="0"/>
                  <a:pt x="5121275" y="34117"/>
                  <a:pt x="5121275" y="76201"/>
                </a:cubicBezTo>
                <a:lnTo>
                  <a:pt x="5121275" y="730249"/>
                </a:lnTo>
                <a:cubicBezTo>
                  <a:pt x="5121275" y="772333"/>
                  <a:pt x="5087158" y="806450"/>
                  <a:pt x="5045074" y="806450"/>
                </a:cubicBezTo>
                <a:lnTo>
                  <a:pt x="76201" y="806450"/>
                </a:lnTo>
                <a:cubicBezTo>
                  <a:pt x="34145" y="806450"/>
                  <a:pt x="0" y="772305"/>
                  <a:pt x="0" y="730249"/>
                </a:cubicBezTo>
                <a:lnTo>
                  <a:pt x="0" y="76201"/>
                </a:lnTo>
                <a:cubicBezTo>
                  <a:pt x="0" y="34145"/>
                  <a:pt x="34145" y="0"/>
                  <a:pt x="76201" y="0"/>
                </a:cubicBezTo>
                <a:close/>
              </a:path>
            </a:pathLst>
          </a:custGeom>
          <a:solidFill>
            <a:srgbClr val="0D1117"/>
          </a:solidFill>
          <a:ln w="8467">
            <a:solidFill>
              <a:srgbClr val="21262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93750" y="3949703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0"/>
                </a:moveTo>
                <a:cubicBezTo>
                  <a:pt x="118256" y="0"/>
                  <a:pt x="152400" y="34144"/>
                  <a:pt x="152400" y="76200"/>
                </a:cubicBezTo>
                <a:cubicBezTo>
                  <a:pt x="152400" y="118256"/>
                  <a:pt x="118256" y="152400"/>
                  <a:pt x="76200" y="152400"/>
                </a:cubicBezTo>
                <a:cubicBezTo>
                  <a:pt x="34144" y="152400"/>
                  <a:pt x="0" y="118256"/>
                  <a:pt x="0" y="76200"/>
                </a:cubicBezTo>
                <a:cubicBezTo>
                  <a:pt x="0" y="34144"/>
                  <a:pt x="34144" y="0"/>
                  <a:pt x="76200" y="0"/>
                </a:cubicBezTo>
                <a:close/>
                <a:moveTo>
                  <a:pt x="69056" y="35719"/>
                </a:moveTo>
                <a:lnTo>
                  <a:pt x="69056" y="76200"/>
                </a:lnTo>
                <a:cubicBezTo>
                  <a:pt x="69056" y="78581"/>
                  <a:pt x="70247" y="80814"/>
                  <a:pt x="72241" y="82153"/>
                </a:cubicBezTo>
                <a:lnTo>
                  <a:pt x="100816" y="101203"/>
                </a:lnTo>
                <a:cubicBezTo>
                  <a:pt x="104090" y="103406"/>
                  <a:pt x="108525" y="102513"/>
                  <a:pt x="110728" y="99209"/>
                </a:cubicBezTo>
                <a:cubicBezTo>
                  <a:pt x="112931" y="95905"/>
                  <a:pt x="112038" y="91500"/>
                  <a:pt x="108734" y="89297"/>
                </a:cubicBezTo>
                <a:lnTo>
                  <a:pt x="83344" y="72390"/>
                </a:lnTo>
                <a:lnTo>
                  <a:pt x="83344" y="35719"/>
                </a:lnTo>
                <a:cubicBezTo>
                  <a:pt x="83344" y="31760"/>
                  <a:pt x="80159" y="28575"/>
                  <a:pt x="76200" y="28575"/>
                </a:cubicBezTo>
                <a:cubicBezTo>
                  <a:pt x="72241" y="28575"/>
                  <a:pt x="69056" y="31760"/>
                  <a:pt x="69056" y="35719"/>
                </a:cubicBezTo>
                <a:close/>
              </a:path>
            </a:pathLst>
          </a:custGeom>
          <a:solidFill>
            <a:srgbClr val="D29922"/>
          </a:solidFill>
          <a:ln/>
        </p:spPr>
      </p:sp>
      <p:sp>
        <p:nvSpPr>
          <p:cNvPr id="19" name="Text 17"/>
          <p:cNvSpPr/>
          <p:nvPr/>
        </p:nvSpPr>
        <p:spPr>
          <a:xfrm>
            <a:off x="1079500" y="3911603"/>
            <a:ext cx="16668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6EDF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Average Delay: 3.2 Days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74700" y="4216403"/>
            <a:ext cx="4876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B94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Per shipment impact on delivery timelines and customer satisfaction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19125" y="4721227"/>
            <a:ext cx="5121275" cy="806450"/>
          </a:xfrm>
          <a:custGeom>
            <a:avLst/>
            <a:gdLst/>
            <a:ahLst/>
            <a:cxnLst/>
            <a:rect l="l" t="t" r="r" b="b"/>
            <a:pathLst>
              <a:path w="5121275" h="806450">
                <a:moveTo>
                  <a:pt x="76201" y="0"/>
                </a:moveTo>
                <a:lnTo>
                  <a:pt x="5045074" y="0"/>
                </a:lnTo>
                <a:cubicBezTo>
                  <a:pt x="5087158" y="0"/>
                  <a:pt x="5121275" y="34117"/>
                  <a:pt x="5121275" y="76201"/>
                </a:cubicBezTo>
                <a:lnTo>
                  <a:pt x="5121275" y="730249"/>
                </a:lnTo>
                <a:cubicBezTo>
                  <a:pt x="5121275" y="772333"/>
                  <a:pt x="5087158" y="806450"/>
                  <a:pt x="5045074" y="806450"/>
                </a:cubicBezTo>
                <a:lnTo>
                  <a:pt x="76201" y="806450"/>
                </a:lnTo>
                <a:cubicBezTo>
                  <a:pt x="34145" y="806450"/>
                  <a:pt x="0" y="772305"/>
                  <a:pt x="0" y="730249"/>
                </a:cubicBezTo>
                <a:lnTo>
                  <a:pt x="0" y="76201"/>
                </a:lnTo>
                <a:cubicBezTo>
                  <a:pt x="0" y="34145"/>
                  <a:pt x="34145" y="0"/>
                  <a:pt x="76201" y="0"/>
                </a:cubicBezTo>
                <a:close/>
              </a:path>
            </a:pathLst>
          </a:custGeom>
          <a:solidFill>
            <a:srgbClr val="0D1117"/>
          </a:solidFill>
          <a:ln w="8467">
            <a:solidFill>
              <a:srgbClr val="21262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22325" y="4914900"/>
            <a:ext cx="95250" cy="152400"/>
          </a:xfrm>
          <a:custGeom>
            <a:avLst/>
            <a:gdLst/>
            <a:ahLst/>
            <a:cxnLst/>
            <a:rect l="l" t="t" r="r" b="b"/>
            <a:pathLst>
              <a:path w="95250" h="152400">
                <a:moveTo>
                  <a:pt x="40481" y="7144"/>
                </a:moveTo>
                <a:cubicBezTo>
                  <a:pt x="40481" y="3185"/>
                  <a:pt x="43666" y="0"/>
                  <a:pt x="47625" y="0"/>
                </a:cubicBezTo>
                <a:cubicBezTo>
                  <a:pt x="51584" y="0"/>
                  <a:pt x="54769" y="3185"/>
                  <a:pt x="54769" y="7144"/>
                </a:cubicBezTo>
                <a:lnTo>
                  <a:pt x="54769" y="19050"/>
                </a:lnTo>
                <a:lnTo>
                  <a:pt x="71438" y="19050"/>
                </a:lnTo>
                <a:cubicBezTo>
                  <a:pt x="76706" y="19050"/>
                  <a:pt x="80962" y="23306"/>
                  <a:pt x="80962" y="28575"/>
                </a:cubicBezTo>
                <a:cubicBezTo>
                  <a:pt x="80962" y="33844"/>
                  <a:pt x="76706" y="38100"/>
                  <a:pt x="71438" y="38100"/>
                </a:cubicBezTo>
                <a:lnTo>
                  <a:pt x="37237" y="38100"/>
                </a:lnTo>
                <a:cubicBezTo>
                  <a:pt x="29825" y="38100"/>
                  <a:pt x="23813" y="44113"/>
                  <a:pt x="23813" y="51524"/>
                </a:cubicBezTo>
                <a:cubicBezTo>
                  <a:pt x="23813" y="58222"/>
                  <a:pt x="28724" y="63877"/>
                  <a:pt x="35332" y="64830"/>
                </a:cubicBezTo>
                <a:lnTo>
                  <a:pt x="62597" y="68729"/>
                </a:lnTo>
                <a:cubicBezTo>
                  <a:pt x="78611" y="71021"/>
                  <a:pt x="90488" y="84713"/>
                  <a:pt x="90488" y="100876"/>
                </a:cubicBezTo>
                <a:cubicBezTo>
                  <a:pt x="90488" y="118824"/>
                  <a:pt x="75932" y="133350"/>
                  <a:pt x="58013" y="133350"/>
                </a:cubicBezTo>
                <a:lnTo>
                  <a:pt x="54769" y="133350"/>
                </a:lnTo>
                <a:lnTo>
                  <a:pt x="54769" y="145256"/>
                </a:lnTo>
                <a:cubicBezTo>
                  <a:pt x="54769" y="149215"/>
                  <a:pt x="51584" y="152400"/>
                  <a:pt x="47625" y="152400"/>
                </a:cubicBezTo>
                <a:cubicBezTo>
                  <a:pt x="43666" y="152400"/>
                  <a:pt x="40481" y="149215"/>
                  <a:pt x="40481" y="145256"/>
                </a:cubicBezTo>
                <a:lnTo>
                  <a:pt x="40481" y="133350"/>
                </a:lnTo>
                <a:lnTo>
                  <a:pt x="19050" y="133350"/>
                </a:lnTo>
                <a:cubicBezTo>
                  <a:pt x="13781" y="133350"/>
                  <a:pt x="9525" y="129094"/>
                  <a:pt x="9525" y="123825"/>
                </a:cubicBezTo>
                <a:cubicBezTo>
                  <a:pt x="9525" y="118556"/>
                  <a:pt x="13781" y="114300"/>
                  <a:pt x="19050" y="114300"/>
                </a:cubicBezTo>
                <a:lnTo>
                  <a:pt x="58013" y="114300"/>
                </a:lnTo>
                <a:cubicBezTo>
                  <a:pt x="65425" y="114300"/>
                  <a:pt x="71438" y="108287"/>
                  <a:pt x="71438" y="100876"/>
                </a:cubicBezTo>
                <a:cubicBezTo>
                  <a:pt x="71438" y="94178"/>
                  <a:pt x="66526" y="88523"/>
                  <a:pt x="59918" y="87570"/>
                </a:cubicBezTo>
                <a:lnTo>
                  <a:pt x="32653" y="83671"/>
                </a:lnTo>
                <a:cubicBezTo>
                  <a:pt x="16639" y="81409"/>
                  <a:pt x="4763" y="67687"/>
                  <a:pt x="4763" y="51524"/>
                </a:cubicBezTo>
                <a:cubicBezTo>
                  <a:pt x="4763" y="33605"/>
                  <a:pt x="19318" y="19050"/>
                  <a:pt x="37237" y="19050"/>
                </a:cubicBezTo>
                <a:lnTo>
                  <a:pt x="40481" y="19050"/>
                </a:lnTo>
                <a:lnTo>
                  <a:pt x="40481" y="7144"/>
                </a:lnTo>
                <a:close/>
              </a:path>
            </a:pathLst>
          </a:custGeom>
          <a:solidFill>
            <a:srgbClr val="D29922"/>
          </a:solidFill>
          <a:ln/>
        </p:spPr>
      </p:sp>
      <p:sp>
        <p:nvSpPr>
          <p:cNvPr id="23" name="Text 21"/>
          <p:cNvSpPr/>
          <p:nvPr/>
        </p:nvSpPr>
        <p:spPr>
          <a:xfrm>
            <a:off x="1079500" y="4876800"/>
            <a:ext cx="19240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6EDF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Cost Impact: $2.4M/Quarter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74700" y="5181600"/>
            <a:ext cx="4876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B94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Storage fees, expedited shipping, and penalty costs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213475" y="1755775"/>
            <a:ext cx="5597525" cy="4006850"/>
          </a:xfrm>
          <a:custGeom>
            <a:avLst/>
            <a:gdLst/>
            <a:ahLst/>
            <a:cxnLst/>
            <a:rect l="l" t="t" r="r" b="b"/>
            <a:pathLst>
              <a:path w="5597525" h="4006850">
                <a:moveTo>
                  <a:pt x="152381" y="0"/>
                </a:moveTo>
                <a:lnTo>
                  <a:pt x="5445144" y="0"/>
                </a:lnTo>
                <a:cubicBezTo>
                  <a:pt x="5529302" y="0"/>
                  <a:pt x="5597525" y="68223"/>
                  <a:pt x="5597525" y="152381"/>
                </a:cubicBezTo>
                <a:lnTo>
                  <a:pt x="5597525" y="3854469"/>
                </a:lnTo>
                <a:cubicBezTo>
                  <a:pt x="5597525" y="3938627"/>
                  <a:pt x="5529302" y="4006850"/>
                  <a:pt x="5445144" y="4006850"/>
                </a:cubicBezTo>
                <a:lnTo>
                  <a:pt x="152381" y="4006850"/>
                </a:lnTo>
                <a:cubicBezTo>
                  <a:pt x="68223" y="4006850"/>
                  <a:pt x="0" y="3938627"/>
                  <a:pt x="0" y="3854469"/>
                </a:cubicBezTo>
                <a:lnTo>
                  <a:pt x="0" y="152381"/>
                </a:lnTo>
                <a:cubicBezTo>
                  <a:pt x="0" y="68279"/>
                  <a:pt x="68279" y="0"/>
                  <a:pt x="152381" y="0"/>
                </a:cubicBezTo>
                <a:close/>
              </a:path>
            </a:pathLst>
          </a:custGeom>
          <a:gradFill flip="none" rotWithShape="1">
            <a:gsLst>
              <a:gs pos="0">
                <a:srgbClr val="161B22"/>
              </a:gs>
              <a:gs pos="100000">
                <a:srgbClr val="0D1117"/>
              </a:gs>
            </a:gsLst>
            <a:lin ang="2700000" scaled="1"/>
          </a:gradFill>
          <a:ln w="8467">
            <a:solidFill>
              <a:srgbClr val="D29922">
                <a:alpha val="50196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45250" y="1987553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14300" y="0"/>
                </a:moveTo>
                <a:lnTo>
                  <a:pt x="495300" y="0"/>
                </a:lnTo>
                <a:cubicBezTo>
                  <a:pt x="558384" y="0"/>
                  <a:pt x="609600" y="51216"/>
                  <a:pt x="609600" y="114300"/>
                </a:cubicBezTo>
                <a:lnTo>
                  <a:pt x="609600" y="495300"/>
                </a:lnTo>
                <a:cubicBezTo>
                  <a:pt x="609600" y="558384"/>
                  <a:pt x="558384" y="609600"/>
                  <a:pt x="495300" y="609600"/>
                </a:cubicBezTo>
                <a:lnTo>
                  <a:pt x="114300" y="609600"/>
                </a:lnTo>
                <a:cubicBezTo>
                  <a:pt x="51216" y="609600"/>
                  <a:pt x="0" y="558384"/>
                  <a:pt x="0" y="495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D29922">
              <a:alpha val="20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6591697" y="2149478"/>
            <a:ext cx="321469" cy="285750"/>
          </a:xfrm>
          <a:custGeom>
            <a:avLst/>
            <a:gdLst/>
            <a:ahLst/>
            <a:cxnLst/>
            <a:rect l="l" t="t" r="r" b="b"/>
            <a:pathLst>
              <a:path w="321469" h="285750">
                <a:moveTo>
                  <a:pt x="107156" y="53578"/>
                </a:moveTo>
                <a:cubicBezTo>
                  <a:pt x="107156" y="23999"/>
                  <a:pt x="131155" y="0"/>
                  <a:pt x="160734" y="0"/>
                </a:cubicBezTo>
                <a:cubicBezTo>
                  <a:pt x="190314" y="0"/>
                  <a:pt x="214313" y="23999"/>
                  <a:pt x="214313" y="53578"/>
                </a:cubicBezTo>
                <a:lnTo>
                  <a:pt x="214313" y="55587"/>
                </a:lnTo>
                <a:cubicBezTo>
                  <a:pt x="214313" y="64350"/>
                  <a:pt x="207225" y="71438"/>
                  <a:pt x="198462" y="71438"/>
                </a:cubicBezTo>
                <a:lnTo>
                  <a:pt x="123062" y="71438"/>
                </a:lnTo>
                <a:cubicBezTo>
                  <a:pt x="114300" y="71438"/>
                  <a:pt x="107212" y="64350"/>
                  <a:pt x="107212" y="55587"/>
                </a:cubicBezTo>
                <a:lnTo>
                  <a:pt x="107212" y="53578"/>
                </a:lnTo>
                <a:close/>
                <a:moveTo>
                  <a:pt x="300038" y="60722"/>
                </a:moveTo>
                <a:cubicBezTo>
                  <a:pt x="305953" y="68591"/>
                  <a:pt x="304335" y="79809"/>
                  <a:pt x="296466" y="85725"/>
                </a:cubicBezTo>
                <a:lnTo>
                  <a:pt x="241883" y="126634"/>
                </a:lnTo>
                <a:cubicBezTo>
                  <a:pt x="244841" y="131601"/>
                  <a:pt x="247073" y="137071"/>
                  <a:pt x="248469" y="142875"/>
                </a:cubicBezTo>
                <a:lnTo>
                  <a:pt x="303609" y="142875"/>
                </a:lnTo>
                <a:cubicBezTo>
                  <a:pt x="313488" y="142875"/>
                  <a:pt x="321469" y="150856"/>
                  <a:pt x="321469" y="160734"/>
                </a:cubicBezTo>
                <a:cubicBezTo>
                  <a:pt x="321469" y="170613"/>
                  <a:pt x="313488" y="178594"/>
                  <a:pt x="303609" y="178594"/>
                </a:cubicBezTo>
                <a:lnTo>
                  <a:pt x="250031" y="178594"/>
                </a:lnTo>
                <a:lnTo>
                  <a:pt x="250031" y="196453"/>
                </a:lnTo>
                <a:cubicBezTo>
                  <a:pt x="250031" y="197904"/>
                  <a:pt x="249975" y="199411"/>
                  <a:pt x="249920" y="200862"/>
                </a:cubicBezTo>
                <a:lnTo>
                  <a:pt x="296466" y="235744"/>
                </a:lnTo>
                <a:cubicBezTo>
                  <a:pt x="304335" y="241660"/>
                  <a:pt x="305953" y="252878"/>
                  <a:pt x="300038" y="260747"/>
                </a:cubicBezTo>
                <a:cubicBezTo>
                  <a:pt x="294122" y="268616"/>
                  <a:pt x="282904" y="270235"/>
                  <a:pt x="275034" y="264319"/>
                </a:cubicBezTo>
                <a:lnTo>
                  <a:pt x="239818" y="237920"/>
                </a:lnTo>
                <a:cubicBezTo>
                  <a:pt x="226870" y="262589"/>
                  <a:pt x="202704" y="280448"/>
                  <a:pt x="174129" y="284745"/>
                </a:cubicBezTo>
                <a:lnTo>
                  <a:pt x="174129" y="156270"/>
                </a:lnTo>
                <a:cubicBezTo>
                  <a:pt x="174129" y="148847"/>
                  <a:pt x="168157" y="142875"/>
                  <a:pt x="160734" y="142875"/>
                </a:cubicBezTo>
                <a:cubicBezTo>
                  <a:pt x="153312" y="142875"/>
                  <a:pt x="147340" y="148847"/>
                  <a:pt x="147340" y="156270"/>
                </a:cubicBezTo>
                <a:lnTo>
                  <a:pt x="147340" y="284745"/>
                </a:lnTo>
                <a:cubicBezTo>
                  <a:pt x="118765" y="280448"/>
                  <a:pt x="94599" y="262589"/>
                  <a:pt x="81651" y="237920"/>
                </a:cubicBezTo>
                <a:lnTo>
                  <a:pt x="46434" y="264319"/>
                </a:lnTo>
                <a:cubicBezTo>
                  <a:pt x="38565" y="270235"/>
                  <a:pt x="27347" y="268616"/>
                  <a:pt x="21431" y="260747"/>
                </a:cubicBezTo>
                <a:cubicBezTo>
                  <a:pt x="15515" y="252878"/>
                  <a:pt x="17134" y="241660"/>
                  <a:pt x="25003" y="235744"/>
                </a:cubicBezTo>
                <a:lnTo>
                  <a:pt x="71549" y="200862"/>
                </a:lnTo>
                <a:cubicBezTo>
                  <a:pt x="71493" y="199411"/>
                  <a:pt x="71438" y="197960"/>
                  <a:pt x="71438" y="196453"/>
                </a:cubicBezTo>
                <a:lnTo>
                  <a:pt x="71438" y="178594"/>
                </a:lnTo>
                <a:lnTo>
                  <a:pt x="17859" y="178594"/>
                </a:lnTo>
                <a:cubicBezTo>
                  <a:pt x="7981" y="178594"/>
                  <a:pt x="0" y="170613"/>
                  <a:pt x="0" y="160734"/>
                </a:cubicBezTo>
                <a:cubicBezTo>
                  <a:pt x="0" y="150856"/>
                  <a:pt x="7981" y="142875"/>
                  <a:pt x="17859" y="142875"/>
                </a:cubicBezTo>
                <a:lnTo>
                  <a:pt x="73000" y="142875"/>
                </a:lnTo>
                <a:cubicBezTo>
                  <a:pt x="74395" y="137071"/>
                  <a:pt x="76628" y="131601"/>
                  <a:pt x="79586" y="126634"/>
                </a:cubicBezTo>
                <a:lnTo>
                  <a:pt x="25003" y="85725"/>
                </a:lnTo>
                <a:cubicBezTo>
                  <a:pt x="17134" y="79809"/>
                  <a:pt x="15515" y="68591"/>
                  <a:pt x="21431" y="60722"/>
                </a:cubicBezTo>
                <a:cubicBezTo>
                  <a:pt x="27347" y="52853"/>
                  <a:pt x="38565" y="51234"/>
                  <a:pt x="46434" y="57150"/>
                </a:cubicBezTo>
                <a:lnTo>
                  <a:pt x="107156" y="102691"/>
                </a:lnTo>
                <a:cubicBezTo>
                  <a:pt x="114021" y="99845"/>
                  <a:pt x="121555" y="98227"/>
                  <a:pt x="129480" y="98227"/>
                </a:cubicBezTo>
                <a:lnTo>
                  <a:pt x="191988" y="98227"/>
                </a:lnTo>
                <a:cubicBezTo>
                  <a:pt x="199913" y="98227"/>
                  <a:pt x="207448" y="99789"/>
                  <a:pt x="214313" y="102691"/>
                </a:cubicBezTo>
                <a:lnTo>
                  <a:pt x="275034" y="57150"/>
                </a:lnTo>
                <a:cubicBezTo>
                  <a:pt x="282904" y="51234"/>
                  <a:pt x="294122" y="52853"/>
                  <a:pt x="300038" y="60722"/>
                </a:cubicBezTo>
                <a:close/>
              </a:path>
            </a:pathLst>
          </a:custGeom>
          <a:solidFill>
            <a:srgbClr val="D29922"/>
          </a:solidFill>
          <a:ln/>
        </p:spPr>
      </p:sp>
      <p:sp>
        <p:nvSpPr>
          <p:cNvPr id="28" name="Shape 26"/>
          <p:cNvSpPr/>
          <p:nvPr/>
        </p:nvSpPr>
        <p:spPr>
          <a:xfrm>
            <a:off x="7207250" y="1987553"/>
            <a:ext cx="1000125" cy="228600"/>
          </a:xfrm>
          <a:custGeom>
            <a:avLst/>
            <a:gdLst/>
            <a:ahLst/>
            <a:cxnLst/>
            <a:rect l="l" t="t" r="r" b="b"/>
            <a:pathLst>
              <a:path w="1000125" h="228600">
                <a:moveTo>
                  <a:pt x="114300" y="0"/>
                </a:moveTo>
                <a:lnTo>
                  <a:pt x="885825" y="0"/>
                </a:lnTo>
                <a:cubicBezTo>
                  <a:pt x="948909" y="0"/>
                  <a:pt x="1000125" y="51216"/>
                  <a:pt x="1000125" y="114300"/>
                </a:cubicBezTo>
                <a:lnTo>
                  <a:pt x="1000125" y="114300"/>
                </a:lnTo>
                <a:cubicBezTo>
                  <a:pt x="1000125" y="177384"/>
                  <a:pt x="948909" y="228600"/>
                  <a:pt x="885825" y="228600"/>
                </a:cubicBezTo>
                <a:lnTo>
                  <a:pt x="114300" y="228600"/>
                </a:lnTo>
                <a:cubicBezTo>
                  <a:pt x="51216" y="228600"/>
                  <a:pt x="0" y="177384"/>
                  <a:pt x="0" y="114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D29922">
              <a:alpha val="20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7207250" y="1987553"/>
            <a:ext cx="1057275" cy="22860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D2992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HIGH PRIORITY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8280003" y="2025653"/>
            <a:ext cx="9048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8B94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3.8% Defect Rate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7207250" y="2292353"/>
            <a:ext cx="24098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Wearables Quality Gap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448425" y="2790828"/>
            <a:ext cx="5121275" cy="806450"/>
          </a:xfrm>
          <a:custGeom>
            <a:avLst/>
            <a:gdLst/>
            <a:ahLst/>
            <a:cxnLst/>
            <a:rect l="l" t="t" r="r" b="b"/>
            <a:pathLst>
              <a:path w="5121275" h="806450">
                <a:moveTo>
                  <a:pt x="76201" y="0"/>
                </a:moveTo>
                <a:lnTo>
                  <a:pt x="5045074" y="0"/>
                </a:lnTo>
                <a:cubicBezTo>
                  <a:pt x="5087158" y="0"/>
                  <a:pt x="5121275" y="34117"/>
                  <a:pt x="5121275" y="76201"/>
                </a:cubicBezTo>
                <a:lnTo>
                  <a:pt x="5121275" y="730249"/>
                </a:lnTo>
                <a:cubicBezTo>
                  <a:pt x="5121275" y="772333"/>
                  <a:pt x="5087158" y="806450"/>
                  <a:pt x="5045074" y="806450"/>
                </a:cubicBezTo>
                <a:lnTo>
                  <a:pt x="76201" y="806450"/>
                </a:lnTo>
                <a:cubicBezTo>
                  <a:pt x="34145" y="806450"/>
                  <a:pt x="0" y="772305"/>
                  <a:pt x="0" y="730249"/>
                </a:cubicBezTo>
                <a:lnTo>
                  <a:pt x="0" y="76201"/>
                </a:lnTo>
                <a:cubicBezTo>
                  <a:pt x="0" y="34145"/>
                  <a:pt x="34145" y="0"/>
                  <a:pt x="76201" y="0"/>
                </a:cubicBezTo>
                <a:close/>
              </a:path>
            </a:pathLst>
          </a:custGeom>
          <a:solidFill>
            <a:srgbClr val="0D1117"/>
          </a:solidFill>
          <a:ln w="8467">
            <a:solidFill>
              <a:srgbClr val="21262D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623050" y="2984502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9616" y="68014"/>
                </a:moveTo>
                <a:cubicBezTo>
                  <a:pt x="23574" y="40332"/>
                  <a:pt x="47417" y="19050"/>
                  <a:pt x="76200" y="19050"/>
                </a:cubicBezTo>
                <a:cubicBezTo>
                  <a:pt x="91976" y="19050"/>
                  <a:pt x="106263" y="25450"/>
                  <a:pt x="116622" y="35778"/>
                </a:cubicBezTo>
                <a:cubicBezTo>
                  <a:pt x="116681" y="35838"/>
                  <a:pt x="116741" y="35897"/>
                  <a:pt x="116800" y="35957"/>
                </a:cubicBezTo>
                <a:lnTo>
                  <a:pt x="119063" y="38100"/>
                </a:lnTo>
                <a:lnTo>
                  <a:pt x="104805" y="38100"/>
                </a:lnTo>
                <a:cubicBezTo>
                  <a:pt x="99536" y="38100"/>
                  <a:pt x="95280" y="42356"/>
                  <a:pt x="95280" y="47625"/>
                </a:cubicBezTo>
                <a:cubicBezTo>
                  <a:pt x="95280" y="52894"/>
                  <a:pt x="99536" y="57150"/>
                  <a:pt x="104805" y="57150"/>
                </a:cubicBezTo>
                <a:lnTo>
                  <a:pt x="142905" y="57150"/>
                </a:lnTo>
                <a:cubicBezTo>
                  <a:pt x="148173" y="57150"/>
                  <a:pt x="152430" y="52894"/>
                  <a:pt x="152430" y="47625"/>
                </a:cubicBezTo>
                <a:lnTo>
                  <a:pt x="152430" y="9525"/>
                </a:lnTo>
                <a:cubicBezTo>
                  <a:pt x="152430" y="4256"/>
                  <a:pt x="148173" y="0"/>
                  <a:pt x="142905" y="0"/>
                </a:cubicBezTo>
                <a:cubicBezTo>
                  <a:pt x="137636" y="0"/>
                  <a:pt x="133380" y="4256"/>
                  <a:pt x="133380" y="9525"/>
                </a:cubicBezTo>
                <a:lnTo>
                  <a:pt x="133380" y="25420"/>
                </a:lnTo>
                <a:lnTo>
                  <a:pt x="130016" y="22235"/>
                </a:lnTo>
                <a:cubicBezTo>
                  <a:pt x="116235" y="8513"/>
                  <a:pt x="97185" y="0"/>
                  <a:pt x="76200" y="0"/>
                </a:cubicBezTo>
                <a:cubicBezTo>
                  <a:pt x="37802" y="0"/>
                  <a:pt x="6042" y="28396"/>
                  <a:pt x="774" y="65336"/>
                </a:cubicBezTo>
                <a:cubicBezTo>
                  <a:pt x="30" y="70545"/>
                  <a:pt x="3631" y="75367"/>
                  <a:pt x="8840" y="76111"/>
                </a:cubicBezTo>
                <a:cubicBezTo>
                  <a:pt x="14049" y="76855"/>
                  <a:pt x="18871" y="73223"/>
                  <a:pt x="19616" y="68044"/>
                </a:cubicBezTo>
                <a:close/>
                <a:moveTo>
                  <a:pt x="151626" y="87064"/>
                </a:moveTo>
                <a:cubicBezTo>
                  <a:pt x="152370" y="81855"/>
                  <a:pt x="148739" y="77033"/>
                  <a:pt x="143560" y="76289"/>
                </a:cubicBezTo>
                <a:cubicBezTo>
                  <a:pt x="138380" y="75545"/>
                  <a:pt x="133529" y="79177"/>
                  <a:pt x="132784" y="84356"/>
                </a:cubicBezTo>
                <a:cubicBezTo>
                  <a:pt x="128826" y="112038"/>
                  <a:pt x="104983" y="133320"/>
                  <a:pt x="76200" y="133320"/>
                </a:cubicBezTo>
                <a:cubicBezTo>
                  <a:pt x="60424" y="133320"/>
                  <a:pt x="46137" y="126921"/>
                  <a:pt x="35778" y="116592"/>
                </a:cubicBezTo>
                <a:cubicBezTo>
                  <a:pt x="35719" y="116532"/>
                  <a:pt x="35659" y="116473"/>
                  <a:pt x="35600" y="116413"/>
                </a:cubicBezTo>
                <a:lnTo>
                  <a:pt x="33337" y="114270"/>
                </a:lnTo>
                <a:lnTo>
                  <a:pt x="47595" y="114270"/>
                </a:lnTo>
                <a:cubicBezTo>
                  <a:pt x="52864" y="114270"/>
                  <a:pt x="57120" y="110014"/>
                  <a:pt x="57120" y="104745"/>
                </a:cubicBezTo>
                <a:cubicBezTo>
                  <a:pt x="57120" y="99477"/>
                  <a:pt x="52864" y="95220"/>
                  <a:pt x="47595" y="95220"/>
                </a:cubicBezTo>
                <a:lnTo>
                  <a:pt x="9525" y="95250"/>
                </a:lnTo>
                <a:cubicBezTo>
                  <a:pt x="6995" y="95250"/>
                  <a:pt x="4554" y="96262"/>
                  <a:pt x="2768" y="98078"/>
                </a:cubicBezTo>
                <a:cubicBezTo>
                  <a:pt x="982" y="99893"/>
                  <a:pt x="-30" y="102304"/>
                  <a:pt x="0" y="104864"/>
                </a:cubicBezTo>
                <a:lnTo>
                  <a:pt x="298" y="142667"/>
                </a:lnTo>
                <a:cubicBezTo>
                  <a:pt x="327" y="147935"/>
                  <a:pt x="4643" y="152162"/>
                  <a:pt x="9912" y="152102"/>
                </a:cubicBezTo>
                <a:cubicBezTo>
                  <a:pt x="15180" y="152043"/>
                  <a:pt x="19407" y="147757"/>
                  <a:pt x="19348" y="142488"/>
                </a:cubicBezTo>
                <a:lnTo>
                  <a:pt x="19229" y="127159"/>
                </a:lnTo>
                <a:lnTo>
                  <a:pt x="22414" y="130165"/>
                </a:lnTo>
                <a:cubicBezTo>
                  <a:pt x="36195" y="143887"/>
                  <a:pt x="55215" y="152400"/>
                  <a:pt x="76200" y="152400"/>
                </a:cubicBezTo>
                <a:cubicBezTo>
                  <a:pt x="114598" y="152400"/>
                  <a:pt x="146358" y="124004"/>
                  <a:pt x="151626" y="87064"/>
                </a:cubicBezTo>
                <a:close/>
              </a:path>
            </a:pathLst>
          </a:custGeom>
          <a:solidFill>
            <a:srgbClr val="D29922"/>
          </a:solidFill>
          <a:ln/>
        </p:spPr>
      </p:sp>
      <p:sp>
        <p:nvSpPr>
          <p:cNvPr id="34" name="Text 32"/>
          <p:cNvSpPr/>
          <p:nvPr/>
        </p:nvSpPr>
        <p:spPr>
          <a:xfrm>
            <a:off x="6908800" y="2946402"/>
            <a:ext cx="1447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6EDF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Galaxy Watch Series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604000" y="3251202"/>
            <a:ext cx="4876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B94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Display connectivity issues and battery performance below spec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448425" y="3756025"/>
            <a:ext cx="5121275" cy="806450"/>
          </a:xfrm>
          <a:custGeom>
            <a:avLst/>
            <a:gdLst/>
            <a:ahLst/>
            <a:cxnLst/>
            <a:rect l="l" t="t" r="r" b="b"/>
            <a:pathLst>
              <a:path w="5121275" h="806450">
                <a:moveTo>
                  <a:pt x="76201" y="0"/>
                </a:moveTo>
                <a:lnTo>
                  <a:pt x="5045074" y="0"/>
                </a:lnTo>
                <a:cubicBezTo>
                  <a:pt x="5087158" y="0"/>
                  <a:pt x="5121275" y="34117"/>
                  <a:pt x="5121275" y="76201"/>
                </a:cubicBezTo>
                <a:lnTo>
                  <a:pt x="5121275" y="730249"/>
                </a:lnTo>
                <a:cubicBezTo>
                  <a:pt x="5121275" y="772333"/>
                  <a:pt x="5087158" y="806450"/>
                  <a:pt x="5045074" y="806450"/>
                </a:cubicBezTo>
                <a:lnTo>
                  <a:pt x="76201" y="806450"/>
                </a:lnTo>
                <a:cubicBezTo>
                  <a:pt x="34145" y="806450"/>
                  <a:pt x="0" y="772305"/>
                  <a:pt x="0" y="730249"/>
                </a:cubicBezTo>
                <a:lnTo>
                  <a:pt x="0" y="76201"/>
                </a:lnTo>
                <a:cubicBezTo>
                  <a:pt x="0" y="34145"/>
                  <a:pt x="34145" y="0"/>
                  <a:pt x="76201" y="0"/>
                </a:cubicBezTo>
                <a:close/>
              </a:path>
            </a:pathLst>
          </a:custGeom>
          <a:solidFill>
            <a:srgbClr val="0D1117"/>
          </a:solidFill>
          <a:ln w="8467">
            <a:solidFill>
              <a:srgbClr val="21262D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632575" y="3949703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9050" y="66675"/>
                </a:moveTo>
                <a:cubicBezTo>
                  <a:pt x="19050" y="40362"/>
                  <a:pt x="40362" y="19050"/>
                  <a:pt x="66675" y="19050"/>
                </a:cubicBezTo>
                <a:cubicBezTo>
                  <a:pt x="92988" y="19050"/>
                  <a:pt x="114300" y="40362"/>
                  <a:pt x="114300" y="66675"/>
                </a:cubicBezTo>
                <a:lnTo>
                  <a:pt x="114300" y="77837"/>
                </a:lnTo>
                <a:cubicBezTo>
                  <a:pt x="111323" y="76795"/>
                  <a:pt x="108109" y="76200"/>
                  <a:pt x="104775" y="76200"/>
                </a:cubicBezTo>
                <a:lnTo>
                  <a:pt x="100013" y="76200"/>
                </a:lnTo>
                <a:cubicBezTo>
                  <a:pt x="92125" y="76200"/>
                  <a:pt x="85725" y="82600"/>
                  <a:pt x="85725" y="90488"/>
                </a:cubicBezTo>
                <a:lnTo>
                  <a:pt x="85725" y="128588"/>
                </a:lnTo>
                <a:cubicBezTo>
                  <a:pt x="85725" y="136475"/>
                  <a:pt x="92125" y="142875"/>
                  <a:pt x="100013" y="142875"/>
                </a:cubicBezTo>
                <a:lnTo>
                  <a:pt x="104775" y="142875"/>
                </a:lnTo>
                <a:cubicBezTo>
                  <a:pt x="120551" y="142875"/>
                  <a:pt x="133350" y="130076"/>
                  <a:pt x="133350" y="114300"/>
                </a:cubicBezTo>
                <a:lnTo>
                  <a:pt x="133350" y="66675"/>
                </a:lnTo>
                <a:cubicBezTo>
                  <a:pt x="133350" y="29855"/>
                  <a:pt x="103495" y="0"/>
                  <a:pt x="66675" y="0"/>
                </a:cubicBezTo>
                <a:cubicBezTo>
                  <a:pt x="29855" y="0"/>
                  <a:pt x="0" y="29855"/>
                  <a:pt x="0" y="66675"/>
                </a:cubicBezTo>
                <a:lnTo>
                  <a:pt x="0" y="114300"/>
                </a:lnTo>
                <a:cubicBezTo>
                  <a:pt x="0" y="130076"/>
                  <a:pt x="12799" y="142875"/>
                  <a:pt x="28575" y="142875"/>
                </a:cubicBezTo>
                <a:lnTo>
                  <a:pt x="33338" y="142875"/>
                </a:lnTo>
                <a:cubicBezTo>
                  <a:pt x="41225" y="142875"/>
                  <a:pt x="47625" y="136475"/>
                  <a:pt x="47625" y="128588"/>
                </a:cubicBezTo>
                <a:lnTo>
                  <a:pt x="47625" y="90488"/>
                </a:lnTo>
                <a:cubicBezTo>
                  <a:pt x="47625" y="82600"/>
                  <a:pt x="41225" y="76200"/>
                  <a:pt x="33338" y="76200"/>
                </a:cubicBezTo>
                <a:lnTo>
                  <a:pt x="28575" y="76200"/>
                </a:lnTo>
                <a:cubicBezTo>
                  <a:pt x="25241" y="76200"/>
                  <a:pt x="22027" y="76766"/>
                  <a:pt x="19050" y="77837"/>
                </a:cubicBezTo>
                <a:lnTo>
                  <a:pt x="19050" y="66675"/>
                </a:lnTo>
                <a:close/>
              </a:path>
            </a:pathLst>
          </a:custGeom>
          <a:solidFill>
            <a:srgbClr val="D29922"/>
          </a:solidFill>
          <a:ln/>
        </p:spPr>
      </p:sp>
      <p:sp>
        <p:nvSpPr>
          <p:cNvPr id="38" name="Text 36"/>
          <p:cNvSpPr/>
          <p:nvPr/>
        </p:nvSpPr>
        <p:spPr>
          <a:xfrm>
            <a:off x="6908800" y="3911603"/>
            <a:ext cx="8858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6EDF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Galaxy Buds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6604000" y="4216403"/>
            <a:ext cx="4876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B94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Audio quality inconsistencies and charging case defects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448425" y="4721227"/>
            <a:ext cx="5121275" cy="806450"/>
          </a:xfrm>
          <a:custGeom>
            <a:avLst/>
            <a:gdLst/>
            <a:ahLst/>
            <a:cxnLst/>
            <a:rect l="l" t="t" r="r" b="b"/>
            <a:pathLst>
              <a:path w="5121275" h="806450">
                <a:moveTo>
                  <a:pt x="76201" y="0"/>
                </a:moveTo>
                <a:lnTo>
                  <a:pt x="5045074" y="0"/>
                </a:lnTo>
                <a:cubicBezTo>
                  <a:pt x="5087158" y="0"/>
                  <a:pt x="5121275" y="34117"/>
                  <a:pt x="5121275" y="76201"/>
                </a:cubicBezTo>
                <a:lnTo>
                  <a:pt x="5121275" y="730249"/>
                </a:lnTo>
                <a:cubicBezTo>
                  <a:pt x="5121275" y="772333"/>
                  <a:pt x="5087158" y="806450"/>
                  <a:pt x="5045074" y="806450"/>
                </a:cubicBezTo>
                <a:lnTo>
                  <a:pt x="76201" y="806450"/>
                </a:lnTo>
                <a:cubicBezTo>
                  <a:pt x="34145" y="806450"/>
                  <a:pt x="0" y="772305"/>
                  <a:pt x="0" y="730249"/>
                </a:cubicBezTo>
                <a:lnTo>
                  <a:pt x="0" y="76201"/>
                </a:lnTo>
                <a:cubicBezTo>
                  <a:pt x="0" y="34145"/>
                  <a:pt x="34145" y="0"/>
                  <a:pt x="76201" y="0"/>
                </a:cubicBezTo>
                <a:close/>
              </a:path>
            </a:pathLst>
          </a:custGeom>
          <a:solidFill>
            <a:srgbClr val="0D1117"/>
          </a:solidFill>
          <a:ln w="8467">
            <a:solidFill>
              <a:srgbClr val="21262D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623050" y="49149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9050" y="19050"/>
                </a:moveTo>
                <a:cubicBezTo>
                  <a:pt x="19050" y="13781"/>
                  <a:pt x="14794" y="9525"/>
                  <a:pt x="9525" y="9525"/>
                </a:cubicBezTo>
                <a:cubicBezTo>
                  <a:pt x="4256" y="9525"/>
                  <a:pt x="0" y="13781"/>
                  <a:pt x="0" y="19050"/>
                </a:cubicBezTo>
                <a:lnTo>
                  <a:pt x="0" y="119062"/>
                </a:lnTo>
                <a:cubicBezTo>
                  <a:pt x="0" y="132219"/>
                  <a:pt x="10656" y="142875"/>
                  <a:pt x="23813" y="142875"/>
                </a:cubicBezTo>
                <a:lnTo>
                  <a:pt x="142875" y="142875"/>
                </a:lnTo>
                <a:cubicBezTo>
                  <a:pt x="148144" y="142875"/>
                  <a:pt x="152400" y="138619"/>
                  <a:pt x="152400" y="133350"/>
                </a:cubicBezTo>
                <a:cubicBezTo>
                  <a:pt x="152400" y="128081"/>
                  <a:pt x="148144" y="123825"/>
                  <a:pt x="142875" y="123825"/>
                </a:cubicBezTo>
                <a:lnTo>
                  <a:pt x="23813" y="123825"/>
                </a:lnTo>
                <a:cubicBezTo>
                  <a:pt x="21193" y="123825"/>
                  <a:pt x="19050" y="121682"/>
                  <a:pt x="19050" y="119062"/>
                </a:cubicBezTo>
                <a:lnTo>
                  <a:pt x="19050" y="19050"/>
                </a:lnTo>
                <a:close/>
                <a:moveTo>
                  <a:pt x="140077" y="44827"/>
                </a:moveTo>
                <a:cubicBezTo>
                  <a:pt x="143798" y="41106"/>
                  <a:pt x="143798" y="35064"/>
                  <a:pt x="140077" y="31343"/>
                </a:cubicBezTo>
                <a:cubicBezTo>
                  <a:pt x="136356" y="27622"/>
                  <a:pt x="130314" y="27622"/>
                  <a:pt x="126593" y="31343"/>
                </a:cubicBezTo>
                <a:lnTo>
                  <a:pt x="95250" y="62716"/>
                </a:lnTo>
                <a:lnTo>
                  <a:pt x="78165" y="45660"/>
                </a:lnTo>
                <a:cubicBezTo>
                  <a:pt x="74444" y="41940"/>
                  <a:pt x="68401" y="41940"/>
                  <a:pt x="64681" y="45660"/>
                </a:cubicBezTo>
                <a:lnTo>
                  <a:pt x="36106" y="74235"/>
                </a:lnTo>
                <a:cubicBezTo>
                  <a:pt x="32385" y="77956"/>
                  <a:pt x="32385" y="83999"/>
                  <a:pt x="36106" y="87719"/>
                </a:cubicBezTo>
                <a:cubicBezTo>
                  <a:pt x="39826" y="91440"/>
                  <a:pt x="45869" y="91440"/>
                  <a:pt x="49590" y="87719"/>
                </a:cubicBezTo>
                <a:lnTo>
                  <a:pt x="71438" y="65871"/>
                </a:lnTo>
                <a:lnTo>
                  <a:pt x="88523" y="82957"/>
                </a:lnTo>
                <a:cubicBezTo>
                  <a:pt x="92244" y="86678"/>
                  <a:pt x="98286" y="86678"/>
                  <a:pt x="102007" y="82957"/>
                </a:cubicBezTo>
                <a:lnTo>
                  <a:pt x="140107" y="44857"/>
                </a:lnTo>
                <a:close/>
              </a:path>
            </a:pathLst>
          </a:custGeom>
          <a:solidFill>
            <a:srgbClr val="F85149"/>
          </a:solidFill>
          <a:ln/>
        </p:spPr>
      </p:sp>
      <p:sp>
        <p:nvSpPr>
          <p:cNvPr id="42" name="Text 40"/>
          <p:cNvSpPr/>
          <p:nvPr/>
        </p:nvSpPr>
        <p:spPr>
          <a:xfrm>
            <a:off x="6908800" y="4876800"/>
            <a:ext cx="12477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6EDF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Return Rate: 8.5%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6604000" y="5181600"/>
            <a:ext cx="4876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B94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Above industry average of 4.2%, impacting brand reputation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384175" y="5921377"/>
            <a:ext cx="11426825" cy="730250"/>
          </a:xfrm>
          <a:custGeom>
            <a:avLst/>
            <a:gdLst/>
            <a:ahLst/>
            <a:cxnLst/>
            <a:rect l="l" t="t" r="r" b="b"/>
            <a:pathLst>
              <a:path w="11426825" h="730250">
                <a:moveTo>
                  <a:pt x="114299" y="0"/>
                </a:moveTo>
                <a:lnTo>
                  <a:pt x="11312526" y="0"/>
                </a:lnTo>
                <a:cubicBezTo>
                  <a:pt x="11375652" y="0"/>
                  <a:pt x="11426825" y="51173"/>
                  <a:pt x="11426825" y="114299"/>
                </a:cubicBezTo>
                <a:lnTo>
                  <a:pt x="11426825" y="615951"/>
                </a:lnTo>
                <a:cubicBezTo>
                  <a:pt x="11426825" y="679077"/>
                  <a:pt x="11375652" y="730250"/>
                  <a:pt x="11312526" y="730250"/>
                </a:cubicBezTo>
                <a:lnTo>
                  <a:pt x="114299" y="730250"/>
                </a:lnTo>
                <a:cubicBezTo>
                  <a:pt x="51216" y="730250"/>
                  <a:pt x="0" y="679034"/>
                  <a:pt x="0" y="615951"/>
                </a:cubicBezTo>
                <a:lnTo>
                  <a:pt x="0" y="114299"/>
                </a:lnTo>
                <a:cubicBezTo>
                  <a:pt x="0" y="51173"/>
                  <a:pt x="51173" y="0"/>
                  <a:pt x="114299" y="0"/>
                </a:cubicBezTo>
                <a:close/>
              </a:path>
            </a:pathLst>
          </a:custGeom>
          <a:gradFill flip="none" rotWithShape="1">
            <a:gsLst>
              <a:gs pos="0">
                <a:srgbClr val="F85149">
                  <a:alpha val="10000"/>
                </a:srgbClr>
              </a:gs>
              <a:gs pos="100000">
                <a:srgbClr val="D29922">
                  <a:alpha val="10000"/>
                </a:srgbClr>
              </a:gs>
            </a:gsLst>
            <a:lin ang="0" scaled="1"/>
          </a:gradFill>
          <a:ln w="8467">
            <a:solidFill>
              <a:srgbClr val="F85149">
                <a:alpha val="30196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68325" y="61722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cubicBezTo>
                  <a:pt x="120863" y="0"/>
                  <a:pt x="126891" y="3617"/>
                  <a:pt x="130016" y="9376"/>
                </a:cubicBezTo>
                <a:lnTo>
                  <a:pt x="226457" y="187970"/>
                </a:lnTo>
                <a:cubicBezTo>
                  <a:pt x="229448" y="193506"/>
                  <a:pt x="229314" y="200204"/>
                  <a:pt x="226100" y="205606"/>
                </a:cubicBezTo>
                <a:cubicBezTo>
                  <a:pt x="222885" y="211009"/>
                  <a:pt x="217036" y="214313"/>
                  <a:pt x="210741" y="214313"/>
                </a:cubicBezTo>
                <a:lnTo>
                  <a:pt x="17859" y="214313"/>
                </a:lnTo>
                <a:cubicBezTo>
                  <a:pt x="11564" y="214313"/>
                  <a:pt x="5760" y="211009"/>
                  <a:pt x="2500" y="205606"/>
                </a:cubicBezTo>
                <a:cubicBezTo>
                  <a:pt x="-759" y="200204"/>
                  <a:pt x="-848" y="193506"/>
                  <a:pt x="2143" y="187970"/>
                </a:cubicBezTo>
                <a:lnTo>
                  <a:pt x="98584" y="9376"/>
                </a:lnTo>
                <a:cubicBezTo>
                  <a:pt x="101709" y="3617"/>
                  <a:pt x="107737" y="0"/>
                  <a:pt x="114300" y="0"/>
                </a:cubicBezTo>
                <a:close/>
                <a:moveTo>
                  <a:pt x="114300" y="75009"/>
                </a:moveTo>
                <a:cubicBezTo>
                  <a:pt x="108362" y="75009"/>
                  <a:pt x="103584" y="79787"/>
                  <a:pt x="103584" y="85725"/>
                </a:cubicBezTo>
                <a:lnTo>
                  <a:pt x="103584" y="135731"/>
                </a:lnTo>
                <a:cubicBezTo>
                  <a:pt x="103584" y="141669"/>
                  <a:pt x="108362" y="146447"/>
                  <a:pt x="114300" y="146447"/>
                </a:cubicBezTo>
                <a:cubicBezTo>
                  <a:pt x="120238" y="146447"/>
                  <a:pt x="125016" y="141669"/>
                  <a:pt x="125016" y="135731"/>
                </a:cubicBezTo>
                <a:lnTo>
                  <a:pt x="125016" y="85725"/>
                </a:lnTo>
                <a:cubicBezTo>
                  <a:pt x="125016" y="79787"/>
                  <a:pt x="120238" y="75009"/>
                  <a:pt x="114300" y="75009"/>
                </a:cubicBezTo>
                <a:close/>
                <a:moveTo>
                  <a:pt x="126221" y="171450"/>
                </a:moveTo>
                <a:cubicBezTo>
                  <a:pt x="126492" y="167025"/>
                  <a:pt x="124286" y="162815"/>
                  <a:pt x="120492" y="160521"/>
                </a:cubicBezTo>
                <a:cubicBezTo>
                  <a:pt x="116699" y="158226"/>
                  <a:pt x="111946" y="158226"/>
                  <a:pt x="108152" y="160521"/>
                </a:cubicBezTo>
                <a:cubicBezTo>
                  <a:pt x="104359" y="162815"/>
                  <a:pt x="102152" y="167025"/>
                  <a:pt x="102424" y="171450"/>
                </a:cubicBezTo>
                <a:cubicBezTo>
                  <a:pt x="102152" y="175875"/>
                  <a:pt x="104359" y="180085"/>
                  <a:pt x="108152" y="182379"/>
                </a:cubicBezTo>
                <a:cubicBezTo>
                  <a:pt x="111946" y="184674"/>
                  <a:pt x="116699" y="184674"/>
                  <a:pt x="120492" y="182379"/>
                </a:cubicBezTo>
                <a:cubicBezTo>
                  <a:pt x="124286" y="180085"/>
                  <a:pt x="126492" y="175875"/>
                  <a:pt x="126221" y="171450"/>
                </a:cubicBezTo>
                <a:close/>
              </a:path>
            </a:pathLst>
          </a:custGeom>
          <a:solidFill>
            <a:srgbClr val="F85149"/>
          </a:solidFill>
          <a:ln/>
        </p:spPr>
      </p:sp>
      <p:sp>
        <p:nvSpPr>
          <p:cNvPr id="46" name="Text 44"/>
          <p:cNvSpPr/>
          <p:nvPr/>
        </p:nvSpPr>
        <p:spPr>
          <a:xfrm>
            <a:off x="977900" y="6076950"/>
            <a:ext cx="76009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6EDF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Immediate Action Required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977900" y="6305550"/>
            <a:ext cx="75914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B94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Both issues directly impact customer satisfaction and bottom-line performance. Recommend prioritization in Q1 strategic roadmap.</a:t>
            </a:r>
            <a:endParaRPr lang="en-US" sz="1600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6D23A7F-06E5-4FCF-1090-A82444F175DB}"/>
              </a:ext>
            </a:extLst>
          </p:cNvPr>
          <p:cNvSpPr txBox="1"/>
          <p:nvPr/>
        </p:nvSpPr>
        <p:spPr>
          <a:xfrm>
            <a:off x="9575264" y="161925"/>
            <a:ext cx="26161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ssharma9663@gmail.com</a:t>
            </a:r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8100" cy="304800"/>
          </a:xfrm>
          <a:custGeom>
            <a:avLst/>
            <a:gdLst/>
            <a:ahLst/>
            <a:cxnLst/>
            <a:rect l="l" t="t" r="r" b="b"/>
            <a:pathLst>
              <a:path w="38100" h="304800">
                <a:moveTo>
                  <a:pt x="19050" y="0"/>
                </a:moveTo>
                <a:lnTo>
                  <a:pt x="19050" y="0"/>
                </a:lnTo>
                <a:cubicBezTo>
                  <a:pt x="29564" y="0"/>
                  <a:pt x="38100" y="8536"/>
                  <a:pt x="38100" y="19050"/>
                </a:cubicBezTo>
                <a:lnTo>
                  <a:pt x="38100" y="285750"/>
                </a:lnTo>
                <a:cubicBezTo>
                  <a:pt x="38100" y="296264"/>
                  <a:pt x="29564" y="304800"/>
                  <a:pt x="19050" y="304800"/>
                </a:cubicBezTo>
                <a:lnTo>
                  <a:pt x="19050" y="304800"/>
                </a:lnTo>
                <a:cubicBezTo>
                  <a:pt x="8536" y="304800"/>
                  <a:pt x="0" y="296264"/>
                  <a:pt x="0" y="285750"/>
                </a:cubicBezTo>
                <a:lnTo>
                  <a:pt x="0" y="19050"/>
                </a:lnTo>
                <a:cubicBezTo>
                  <a:pt x="0" y="8536"/>
                  <a:pt x="8536" y="0"/>
                  <a:pt x="19050" y="0"/>
                </a:cubicBezTo>
                <a:close/>
              </a:path>
            </a:pathLst>
          </a:custGeom>
          <a:gradFill flip="none" rotWithShape="1">
            <a:gsLst>
              <a:gs pos="0">
                <a:srgbClr val="58A6FF"/>
              </a:gs>
              <a:gs pos="0">
                <a:srgbClr val="FFFFFF"/>
              </a:gs>
              <a:gs pos="100000">
                <a:srgbClr val="00D9FF"/>
              </a:gs>
            </a:gsLst>
            <a:lin ang="5400000" scaled="1"/>
          </a:gradFill>
          <a:ln/>
        </p:spPr>
      </p:sp>
      <p:sp>
        <p:nvSpPr>
          <p:cNvPr id="3" name="Text 1"/>
          <p:cNvSpPr/>
          <p:nvPr/>
        </p:nvSpPr>
        <p:spPr>
          <a:xfrm>
            <a:off x="533400" y="438150"/>
            <a:ext cx="1219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kern="0" spc="210" dirty="0">
                <a:solidFill>
                  <a:srgbClr val="58A6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Action Plan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7620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E6EDF3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Strategic Recommendations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81000" y="1295400"/>
            <a:ext cx="11515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8B94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Part 1: Immediate Interventions for Critical Issues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84175" y="1755775"/>
            <a:ext cx="5597525" cy="4721225"/>
          </a:xfrm>
          <a:custGeom>
            <a:avLst/>
            <a:gdLst/>
            <a:ahLst/>
            <a:cxnLst/>
            <a:rect l="l" t="t" r="r" b="b"/>
            <a:pathLst>
              <a:path w="5597525" h="4721225">
                <a:moveTo>
                  <a:pt x="152401" y="0"/>
                </a:moveTo>
                <a:lnTo>
                  <a:pt x="5445124" y="0"/>
                </a:lnTo>
                <a:cubicBezTo>
                  <a:pt x="5529293" y="0"/>
                  <a:pt x="5597525" y="68232"/>
                  <a:pt x="5597525" y="152401"/>
                </a:cubicBezTo>
                <a:lnTo>
                  <a:pt x="5597525" y="4568824"/>
                </a:lnTo>
                <a:cubicBezTo>
                  <a:pt x="5597525" y="4652993"/>
                  <a:pt x="5529293" y="4721225"/>
                  <a:pt x="5445124" y="4721225"/>
                </a:cubicBezTo>
                <a:lnTo>
                  <a:pt x="152401" y="4721225"/>
                </a:lnTo>
                <a:cubicBezTo>
                  <a:pt x="68232" y="4721225"/>
                  <a:pt x="0" y="4652993"/>
                  <a:pt x="0" y="4568824"/>
                </a:cubicBezTo>
                <a:lnTo>
                  <a:pt x="0" y="152401"/>
                </a:lnTo>
                <a:cubicBezTo>
                  <a:pt x="0" y="68289"/>
                  <a:pt x="68289" y="0"/>
                  <a:pt x="152401" y="0"/>
                </a:cubicBezTo>
                <a:close/>
              </a:path>
            </a:pathLst>
          </a:custGeom>
          <a:gradFill flip="none" rotWithShape="1">
            <a:gsLst>
              <a:gs pos="0">
                <a:srgbClr val="161B22"/>
              </a:gs>
              <a:gs pos="100000">
                <a:srgbClr val="0D1117"/>
              </a:gs>
            </a:gsLst>
            <a:lin ang="2700000" scaled="1"/>
          </a:gradFill>
          <a:ln w="8467">
            <a:solidFill>
              <a:srgbClr val="58A6FF">
                <a:alpha val="50196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15950" y="1987553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14300" y="0"/>
                </a:moveTo>
                <a:lnTo>
                  <a:pt x="495300" y="0"/>
                </a:lnTo>
                <a:cubicBezTo>
                  <a:pt x="558384" y="0"/>
                  <a:pt x="609600" y="51216"/>
                  <a:pt x="609600" y="114300"/>
                </a:cubicBezTo>
                <a:lnTo>
                  <a:pt x="609600" y="495300"/>
                </a:lnTo>
                <a:cubicBezTo>
                  <a:pt x="609600" y="558384"/>
                  <a:pt x="558384" y="609600"/>
                  <a:pt x="495300" y="609600"/>
                </a:cubicBezTo>
                <a:lnTo>
                  <a:pt x="114300" y="609600"/>
                </a:lnTo>
                <a:cubicBezTo>
                  <a:pt x="51216" y="609600"/>
                  <a:pt x="0" y="558384"/>
                  <a:pt x="0" y="495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gradFill flip="none" rotWithShape="1">
            <a:gsLst>
              <a:gs pos="0">
                <a:srgbClr val="58A6FF"/>
              </a:gs>
              <a:gs pos="100000">
                <a:srgbClr val="00D9FF"/>
              </a:gs>
            </a:gsLst>
            <a:lin ang="2700000" scaled="1"/>
          </a:gradFill>
          <a:ln/>
        </p:spPr>
      </p:sp>
      <p:sp>
        <p:nvSpPr>
          <p:cNvPr id="8" name="Shape 6"/>
          <p:cNvSpPr/>
          <p:nvPr/>
        </p:nvSpPr>
        <p:spPr>
          <a:xfrm>
            <a:off x="744538" y="2149478"/>
            <a:ext cx="357188" cy="285750"/>
          </a:xfrm>
          <a:custGeom>
            <a:avLst/>
            <a:gdLst/>
            <a:ahLst/>
            <a:cxnLst/>
            <a:rect l="l" t="t" r="r" b="b"/>
            <a:pathLst>
              <a:path w="357188" h="285750">
                <a:moveTo>
                  <a:pt x="196453" y="0"/>
                </a:moveTo>
                <a:cubicBezTo>
                  <a:pt x="196453" y="-9878"/>
                  <a:pt x="188472" y="-17859"/>
                  <a:pt x="178594" y="-17859"/>
                </a:cubicBezTo>
                <a:cubicBezTo>
                  <a:pt x="168715" y="-17859"/>
                  <a:pt x="160734" y="-9878"/>
                  <a:pt x="160734" y="0"/>
                </a:cubicBezTo>
                <a:lnTo>
                  <a:pt x="160734" y="35719"/>
                </a:lnTo>
                <a:lnTo>
                  <a:pt x="107156" y="35719"/>
                </a:lnTo>
                <a:cubicBezTo>
                  <a:pt x="77577" y="35719"/>
                  <a:pt x="53578" y="59717"/>
                  <a:pt x="53578" y="89297"/>
                </a:cubicBezTo>
                <a:lnTo>
                  <a:pt x="53578" y="214313"/>
                </a:lnTo>
                <a:cubicBezTo>
                  <a:pt x="53578" y="243892"/>
                  <a:pt x="77577" y="267891"/>
                  <a:pt x="107156" y="267891"/>
                </a:cubicBezTo>
                <a:lnTo>
                  <a:pt x="250031" y="267891"/>
                </a:lnTo>
                <a:cubicBezTo>
                  <a:pt x="279611" y="267891"/>
                  <a:pt x="303609" y="243892"/>
                  <a:pt x="303609" y="214313"/>
                </a:cubicBezTo>
                <a:lnTo>
                  <a:pt x="303609" y="89297"/>
                </a:lnTo>
                <a:cubicBezTo>
                  <a:pt x="303609" y="59717"/>
                  <a:pt x="279611" y="35719"/>
                  <a:pt x="250031" y="35719"/>
                </a:cubicBezTo>
                <a:lnTo>
                  <a:pt x="196453" y="35719"/>
                </a:lnTo>
                <a:lnTo>
                  <a:pt x="196453" y="0"/>
                </a:lnTo>
                <a:close/>
                <a:moveTo>
                  <a:pt x="89297" y="205383"/>
                </a:moveTo>
                <a:cubicBezTo>
                  <a:pt x="89297" y="197960"/>
                  <a:pt x="95269" y="191988"/>
                  <a:pt x="102691" y="191988"/>
                </a:cubicBezTo>
                <a:lnTo>
                  <a:pt x="120551" y="191988"/>
                </a:lnTo>
                <a:cubicBezTo>
                  <a:pt x="127974" y="191988"/>
                  <a:pt x="133945" y="197960"/>
                  <a:pt x="133945" y="205383"/>
                </a:cubicBezTo>
                <a:cubicBezTo>
                  <a:pt x="133945" y="212806"/>
                  <a:pt x="127974" y="218777"/>
                  <a:pt x="120551" y="218777"/>
                </a:cubicBezTo>
                <a:lnTo>
                  <a:pt x="102691" y="218777"/>
                </a:lnTo>
                <a:cubicBezTo>
                  <a:pt x="95269" y="218777"/>
                  <a:pt x="89297" y="212806"/>
                  <a:pt x="89297" y="205383"/>
                </a:cubicBezTo>
                <a:close/>
                <a:moveTo>
                  <a:pt x="156270" y="205383"/>
                </a:moveTo>
                <a:cubicBezTo>
                  <a:pt x="156270" y="197960"/>
                  <a:pt x="162241" y="191988"/>
                  <a:pt x="169664" y="191988"/>
                </a:cubicBezTo>
                <a:lnTo>
                  <a:pt x="187523" y="191988"/>
                </a:lnTo>
                <a:cubicBezTo>
                  <a:pt x="194946" y="191988"/>
                  <a:pt x="200918" y="197960"/>
                  <a:pt x="200918" y="205383"/>
                </a:cubicBezTo>
                <a:cubicBezTo>
                  <a:pt x="200918" y="212806"/>
                  <a:pt x="194946" y="218777"/>
                  <a:pt x="187523" y="218777"/>
                </a:cubicBezTo>
                <a:lnTo>
                  <a:pt x="169664" y="218777"/>
                </a:lnTo>
                <a:cubicBezTo>
                  <a:pt x="162241" y="218777"/>
                  <a:pt x="156270" y="212806"/>
                  <a:pt x="156270" y="205383"/>
                </a:cubicBezTo>
                <a:close/>
                <a:moveTo>
                  <a:pt x="223242" y="205383"/>
                </a:moveTo>
                <a:cubicBezTo>
                  <a:pt x="223242" y="197960"/>
                  <a:pt x="229214" y="191988"/>
                  <a:pt x="236637" y="191988"/>
                </a:cubicBezTo>
                <a:lnTo>
                  <a:pt x="254496" y="191988"/>
                </a:lnTo>
                <a:cubicBezTo>
                  <a:pt x="261919" y="191988"/>
                  <a:pt x="267891" y="197960"/>
                  <a:pt x="267891" y="205383"/>
                </a:cubicBezTo>
                <a:cubicBezTo>
                  <a:pt x="267891" y="212806"/>
                  <a:pt x="261919" y="218777"/>
                  <a:pt x="254496" y="218777"/>
                </a:cubicBezTo>
                <a:lnTo>
                  <a:pt x="236637" y="218777"/>
                </a:lnTo>
                <a:cubicBezTo>
                  <a:pt x="229214" y="218777"/>
                  <a:pt x="223242" y="212806"/>
                  <a:pt x="223242" y="205383"/>
                </a:cubicBezTo>
                <a:close/>
                <a:moveTo>
                  <a:pt x="125016" y="98227"/>
                </a:moveTo>
                <a:cubicBezTo>
                  <a:pt x="139801" y="98227"/>
                  <a:pt x="151805" y="110230"/>
                  <a:pt x="151805" y="125016"/>
                </a:cubicBezTo>
                <a:cubicBezTo>
                  <a:pt x="151805" y="139801"/>
                  <a:pt x="139801" y="151805"/>
                  <a:pt x="125016" y="151805"/>
                </a:cubicBezTo>
                <a:cubicBezTo>
                  <a:pt x="110230" y="151805"/>
                  <a:pt x="98227" y="139801"/>
                  <a:pt x="98227" y="125016"/>
                </a:cubicBezTo>
                <a:cubicBezTo>
                  <a:pt x="98227" y="110230"/>
                  <a:pt x="110230" y="98227"/>
                  <a:pt x="125016" y="98227"/>
                </a:cubicBezTo>
                <a:close/>
                <a:moveTo>
                  <a:pt x="205383" y="125016"/>
                </a:moveTo>
                <a:cubicBezTo>
                  <a:pt x="205383" y="110230"/>
                  <a:pt x="217387" y="98227"/>
                  <a:pt x="232172" y="98227"/>
                </a:cubicBezTo>
                <a:cubicBezTo>
                  <a:pt x="246957" y="98227"/>
                  <a:pt x="258961" y="110230"/>
                  <a:pt x="258961" y="125016"/>
                </a:cubicBezTo>
                <a:cubicBezTo>
                  <a:pt x="258961" y="139801"/>
                  <a:pt x="246957" y="151805"/>
                  <a:pt x="232172" y="151805"/>
                </a:cubicBezTo>
                <a:cubicBezTo>
                  <a:pt x="217387" y="151805"/>
                  <a:pt x="205383" y="139801"/>
                  <a:pt x="205383" y="125016"/>
                </a:cubicBezTo>
                <a:close/>
                <a:moveTo>
                  <a:pt x="35719" y="125016"/>
                </a:moveTo>
                <a:cubicBezTo>
                  <a:pt x="35719" y="115137"/>
                  <a:pt x="27738" y="107156"/>
                  <a:pt x="17859" y="107156"/>
                </a:cubicBezTo>
                <a:cubicBezTo>
                  <a:pt x="7981" y="107156"/>
                  <a:pt x="0" y="115137"/>
                  <a:pt x="0" y="125016"/>
                </a:cubicBezTo>
                <a:lnTo>
                  <a:pt x="0" y="178594"/>
                </a:lnTo>
                <a:cubicBezTo>
                  <a:pt x="0" y="188472"/>
                  <a:pt x="7981" y="196453"/>
                  <a:pt x="17859" y="196453"/>
                </a:cubicBezTo>
                <a:cubicBezTo>
                  <a:pt x="27738" y="196453"/>
                  <a:pt x="35719" y="188472"/>
                  <a:pt x="35719" y="178594"/>
                </a:cubicBezTo>
                <a:lnTo>
                  <a:pt x="35719" y="125016"/>
                </a:lnTo>
                <a:close/>
                <a:moveTo>
                  <a:pt x="339328" y="107156"/>
                </a:moveTo>
                <a:cubicBezTo>
                  <a:pt x="329450" y="107156"/>
                  <a:pt x="321469" y="115137"/>
                  <a:pt x="321469" y="125016"/>
                </a:cubicBezTo>
                <a:lnTo>
                  <a:pt x="321469" y="178594"/>
                </a:lnTo>
                <a:cubicBezTo>
                  <a:pt x="321469" y="188472"/>
                  <a:pt x="329450" y="196453"/>
                  <a:pt x="339328" y="196453"/>
                </a:cubicBezTo>
                <a:cubicBezTo>
                  <a:pt x="349207" y="196453"/>
                  <a:pt x="357188" y="188472"/>
                  <a:pt x="357188" y="178594"/>
                </a:cubicBezTo>
                <a:lnTo>
                  <a:pt x="357188" y="125016"/>
                </a:lnTo>
                <a:cubicBezTo>
                  <a:pt x="357188" y="115137"/>
                  <a:pt x="349207" y="107156"/>
                  <a:pt x="339328" y="107156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1377950" y="1987553"/>
            <a:ext cx="923925" cy="228600"/>
          </a:xfrm>
          <a:custGeom>
            <a:avLst/>
            <a:gdLst/>
            <a:ahLst/>
            <a:cxnLst/>
            <a:rect l="l" t="t" r="r" b="b"/>
            <a:pathLst>
              <a:path w="923925" h="228600">
                <a:moveTo>
                  <a:pt x="114300" y="0"/>
                </a:moveTo>
                <a:lnTo>
                  <a:pt x="809625" y="0"/>
                </a:lnTo>
                <a:cubicBezTo>
                  <a:pt x="872709" y="0"/>
                  <a:pt x="923925" y="51216"/>
                  <a:pt x="923925" y="114300"/>
                </a:cubicBezTo>
                <a:lnTo>
                  <a:pt x="923925" y="114300"/>
                </a:lnTo>
                <a:cubicBezTo>
                  <a:pt x="923925" y="177384"/>
                  <a:pt x="872709" y="228600"/>
                  <a:pt x="809625" y="228600"/>
                </a:cubicBezTo>
                <a:lnTo>
                  <a:pt x="114300" y="228600"/>
                </a:lnTo>
                <a:cubicBezTo>
                  <a:pt x="51216" y="228600"/>
                  <a:pt x="0" y="177384"/>
                  <a:pt x="0" y="114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58A6FF">
              <a:alpha val="2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1377950" y="1987553"/>
            <a:ext cx="981075" cy="22860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58A6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AI-POWERED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381151" y="2025653"/>
            <a:ext cx="9906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00D9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Q1 Implementation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377950" y="2292353"/>
            <a:ext cx="44862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AI-Automated Documentation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19125" y="2790828"/>
            <a:ext cx="5121275" cy="806450"/>
          </a:xfrm>
          <a:custGeom>
            <a:avLst/>
            <a:gdLst/>
            <a:ahLst/>
            <a:cxnLst/>
            <a:rect l="l" t="t" r="r" b="b"/>
            <a:pathLst>
              <a:path w="5121275" h="806450">
                <a:moveTo>
                  <a:pt x="76201" y="0"/>
                </a:moveTo>
                <a:lnTo>
                  <a:pt x="5045074" y="0"/>
                </a:lnTo>
                <a:cubicBezTo>
                  <a:pt x="5087158" y="0"/>
                  <a:pt x="5121275" y="34117"/>
                  <a:pt x="5121275" y="76201"/>
                </a:cubicBezTo>
                <a:lnTo>
                  <a:pt x="5121275" y="730249"/>
                </a:lnTo>
                <a:cubicBezTo>
                  <a:pt x="5121275" y="772333"/>
                  <a:pt x="5087158" y="806450"/>
                  <a:pt x="5045074" y="806450"/>
                </a:cubicBezTo>
                <a:lnTo>
                  <a:pt x="76201" y="806450"/>
                </a:lnTo>
                <a:cubicBezTo>
                  <a:pt x="34145" y="806450"/>
                  <a:pt x="0" y="772305"/>
                  <a:pt x="0" y="730249"/>
                </a:cubicBezTo>
                <a:lnTo>
                  <a:pt x="0" y="76201"/>
                </a:lnTo>
                <a:cubicBezTo>
                  <a:pt x="0" y="34145"/>
                  <a:pt x="34145" y="0"/>
                  <a:pt x="76201" y="0"/>
                </a:cubicBezTo>
                <a:close/>
              </a:path>
            </a:pathLst>
          </a:custGeom>
          <a:solidFill>
            <a:srgbClr val="0D1117"/>
          </a:solidFill>
          <a:ln w="8467">
            <a:solidFill>
              <a:srgbClr val="21262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93750" y="2984502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33350" y="76200"/>
                </a:moveTo>
                <a:cubicBezTo>
                  <a:pt x="133350" y="44658"/>
                  <a:pt x="107742" y="19050"/>
                  <a:pt x="76200" y="19050"/>
                </a:cubicBezTo>
                <a:cubicBezTo>
                  <a:pt x="44658" y="19050"/>
                  <a:pt x="19050" y="44658"/>
                  <a:pt x="19050" y="76200"/>
                </a:cubicBezTo>
                <a:cubicBezTo>
                  <a:pt x="19050" y="107742"/>
                  <a:pt x="44658" y="133350"/>
                  <a:pt x="76200" y="133350"/>
                </a:cubicBezTo>
                <a:cubicBezTo>
                  <a:pt x="107742" y="133350"/>
                  <a:pt x="133350" y="107742"/>
                  <a:pt x="133350" y="76200"/>
                </a:cubicBezTo>
                <a:close/>
                <a:moveTo>
                  <a:pt x="0" y="76200"/>
                </a:moveTo>
                <a:cubicBezTo>
                  <a:pt x="0" y="34144"/>
                  <a:pt x="34144" y="0"/>
                  <a:pt x="76200" y="0"/>
                </a:cubicBezTo>
                <a:cubicBezTo>
                  <a:pt x="118256" y="0"/>
                  <a:pt x="152400" y="34144"/>
                  <a:pt x="152400" y="76200"/>
                </a:cubicBezTo>
                <a:cubicBezTo>
                  <a:pt x="152400" y="118256"/>
                  <a:pt x="118256" y="152400"/>
                  <a:pt x="76200" y="152400"/>
                </a:cubicBezTo>
                <a:cubicBezTo>
                  <a:pt x="34144" y="152400"/>
                  <a:pt x="0" y="118256"/>
                  <a:pt x="0" y="76200"/>
                </a:cubicBezTo>
                <a:close/>
                <a:moveTo>
                  <a:pt x="76200" y="100013"/>
                </a:moveTo>
                <a:cubicBezTo>
                  <a:pt x="89342" y="100013"/>
                  <a:pt x="100013" y="89342"/>
                  <a:pt x="100013" y="76200"/>
                </a:cubicBezTo>
                <a:cubicBezTo>
                  <a:pt x="100013" y="63058"/>
                  <a:pt x="89342" y="52388"/>
                  <a:pt x="76200" y="52388"/>
                </a:cubicBezTo>
                <a:cubicBezTo>
                  <a:pt x="63058" y="52388"/>
                  <a:pt x="52388" y="63058"/>
                  <a:pt x="52388" y="76200"/>
                </a:cubicBezTo>
                <a:cubicBezTo>
                  <a:pt x="52388" y="89342"/>
                  <a:pt x="63058" y="100013"/>
                  <a:pt x="76200" y="100013"/>
                </a:cubicBezTo>
                <a:close/>
                <a:moveTo>
                  <a:pt x="76200" y="33338"/>
                </a:moveTo>
                <a:cubicBezTo>
                  <a:pt x="99856" y="33338"/>
                  <a:pt x="119062" y="52544"/>
                  <a:pt x="119062" y="76200"/>
                </a:cubicBezTo>
                <a:cubicBezTo>
                  <a:pt x="119062" y="99856"/>
                  <a:pt x="99856" y="119062"/>
                  <a:pt x="76200" y="119062"/>
                </a:cubicBezTo>
                <a:cubicBezTo>
                  <a:pt x="52544" y="119062"/>
                  <a:pt x="33338" y="99856"/>
                  <a:pt x="33338" y="76200"/>
                </a:cubicBezTo>
                <a:cubicBezTo>
                  <a:pt x="33338" y="52544"/>
                  <a:pt x="52544" y="33338"/>
                  <a:pt x="76200" y="33338"/>
                </a:cubicBezTo>
                <a:close/>
                <a:moveTo>
                  <a:pt x="66675" y="76200"/>
                </a:moveTo>
                <a:cubicBezTo>
                  <a:pt x="66675" y="70943"/>
                  <a:pt x="70943" y="66675"/>
                  <a:pt x="76200" y="66675"/>
                </a:cubicBezTo>
                <a:cubicBezTo>
                  <a:pt x="81457" y="66675"/>
                  <a:pt x="85725" y="70943"/>
                  <a:pt x="85725" y="76200"/>
                </a:cubicBezTo>
                <a:cubicBezTo>
                  <a:pt x="85725" y="81457"/>
                  <a:pt x="81457" y="85725"/>
                  <a:pt x="76200" y="85725"/>
                </a:cubicBezTo>
                <a:cubicBezTo>
                  <a:pt x="70943" y="85725"/>
                  <a:pt x="66675" y="81457"/>
                  <a:pt x="66675" y="76200"/>
                </a:cubicBezTo>
                <a:close/>
              </a:path>
            </a:pathLst>
          </a:custGeom>
          <a:solidFill>
            <a:srgbClr val="58A6FF"/>
          </a:solidFill>
          <a:ln/>
        </p:spPr>
      </p:sp>
      <p:sp>
        <p:nvSpPr>
          <p:cNvPr id="15" name="Text 13"/>
          <p:cNvSpPr/>
          <p:nvPr/>
        </p:nvSpPr>
        <p:spPr>
          <a:xfrm>
            <a:off x="1079500" y="2946402"/>
            <a:ext cx="704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6EDF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Objective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74700" y="3251202"/>
            <a:ext cx="4876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B94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Eliminate 15% documentation-related delays through intelligent automation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19125" y="3756025"/>
            <a:ext cx="5121275" cy="1263650"/>
          </a:xfrm>
          <a:custGeom>
            <a:avLst/>
            <a:gdLst/>
            <a:ahLst/>
            <a:cxnLst/>
            <a:rect l="l" t="t" r="r" b="b"/>
            <a:pathLst>
              <a:path w="5121275" h="1263650">
                <a:moveTo>
                  <a:pt x="76198" y="0"/>
                </a:moveTo>
                <a:lnTo>
                  <a:pt x="5045077" y="0"/>
                </a:lnTo>
                <a:cubicBezTo>
                  <a:pt x="5087160" y="0"/>
                  <a:pt x="5121275" y="34115"/>
                  <a:pt x="5121275" y="76198"/>
                </a:cubicBezTo>
                <a:lnTo>
                  <a:pt x="5121275" y="1187452"/>
                </a:lnTo>
                <a:cubicBezTo>
                  <a:pt x="5121275" y="1229535"/>
                  <a:pt x="5087160" y="1263650"/>
                  <a:pt x="5045077" y="1263650"/>
                </a:cubicBezTo>
                <a:lnTo>
                  <a:pt x="76198" y="1263650"/>
                </a:lnTo>
                <a:cubicBezTo>
                  <a:pt x="34115" y="1263650"/>
                  <a:pt x="0" y="1229535"/>
                  <a:pt x="0" y="1187452"/>
                </a:cubicBezTo>
                <a:lnTo>
                  <a:pt x="0" y="76198"/>
                </a:lnTo>
                <a:cubicBezTo>
                  <a:pt x="0" y="34143"/>
                  <a:pt x="34143" y="0"/>
                  <a:pt x="76198" y="0"/>
                </a:cubicBezTo>
                <a:close/>
              </a:path>
            </a:pathLst>
          </a:custGeom>
          <a:solidFill>
            <a:srgbClr val="0D1117"/>
          </a:solidFill>
          <a:ln w="8467">
            <a:solidFill>
              <a:srgbClr val="21262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4700" y="3949703"/>
            <a:ext cx="190500" cy="152400"/>
          </a:xfrm>
          <a:custGeom>
            <a:avLst/>
            <a:gdLst/>
            <a:ahLst/>
            <a:cxnLst/>
            <a:rect l="l" t="t" r="r" b="b"/>
            <a:pathLst>
              <a:path w="190500" h="152400">
                <a:moveTo>
                  <a:pt x="123795" y="62657"/>
                </a:moveTo>
                <a:cubicBezTo>
                  <a:pt x="127427" y="61674"/>
                  <a:pt x="131237" y="63401"/>
                  <a:pt x="132874" y="66764"/>
                </a:cubicBezTo>
                <a:lnTo>
                  <a:pt x="138410" y="77956"/>
                </a:lnTo>
                <a:cubicBezTo>
                  <a:pt x="141476" y="78373"/>
                  <a:pt x="144482" y="79206"/>
                  <a:pt x="147310" y="80367"/>
                </a:cubicBezTo>
                <a:lnTo>
                  <a:pt x="157728" y="73432"/>
                </a:lnTo>
                <a:cubicBezTo>
                  <a:pt x="160853" y="71348"/>
                  <a:pt x="164991" y="71765"/>
                  <a:pt x="167640" y="74414"/>
                </a:cubicBezTo>
                <a:lnTo>
                  <a:pt x="173355" y="80129"/>
                </a:lnTo>
                <a:cubicBezTo>
                  <a:pt x="176004" y="82778"/>
                  <a:pt x="176421" y="86945"/>
                  <a:pt x="174337" y="90041"/>
                </a:cubicBezTo>
                <a:lnTo>
                  <a:pt x="167402" y="100429"/>
                </a:lnTo>
                <a:cubicBezTo>
                  <a:pt x="167967" y="101828"/>
                  <a:pt x="168473" y="103287"/>
                  <a:pt x="168890" y="104805"/>
                </a:cubicBezTo>
                <a:cubicBezTo>
                  <a:pt x="169307" y="106323"/>
                  <a:pt x="169575" y="107811"/>
                  <a:pt x="169783" y="109329"/>
                </a:cubicBezTo>
                <a:lnTo>
                  <a:pt x="181005" y="114866"/>
                </a:lnTo>
                <a:cubicBezTo>
                  <a:pt x="184368" y="116532"/>
                  <a:pt x="186095" y="120342"/>
                  <a:pt x="185112" y="123944"/>
                </a:cubicBezTo>
                <a:lnTo>
                  <a:pt x="183029" y="131743"/>
                </a:lnTo>
                <a:cubicBezTo>
                  <a:pt x="182047" y="135344"/>
                  <a:pt x="178683" y="137785"/>
                  <a:pt x="174933" y="137547"/>
                </a:cubicBezTo>
                <a:lnTo>
                  <a:pt x="162431" y="136743"/>
                </a:lnTo>
                <a:cubicBezTo>
                  <a:pt x="160556" y="139154"/>
                  <a:pt x="158383" y="141387"/>
                  <a:pt x="155912" y="143292"/>
                </a:cubicBezTo>
                <a:lnTo>
                  <a:pt x="156716" y="155764"/>
                </a:lnTo>
                <a:cubicBezTo>
                  <a:pt x="156954" y="159514"/>
                  <a:pt x="154513" y="162907"/>
                  <a:pt x="150912" y="163860"/>
                </a:cubicBezTo>
                <a:lnTo>
                  <a:pt x="143113" y="165943"/>
                </a:lnTo>
                <a:cubicBezTo>
                  <a:pt x="139482" y="166926"/>
                  <a:pt x="135701" y="165199"/>
                  <a:pt x="134035" y="161836"/>
                </a:cubicBezTo>
                <a:lnTo>
                  <a:pt x="128498" y="150644"/>
                </a:lnTo>
                <a:cubicBezTo>
                  <a:pt x="125432" y="150227"/>
                  <a:pt x="122426" y="149394"/>
                  <a:pt x="119598" y="148233"/>
                </a:cubicBezTo>
                <a:lnTo>
                  <a:pt x="109180" y="155168"/>
                </a:lnTo>
                <a:cubicBezTo>
                  <a:pt x="106055" y="157252"/>
                  <a:pt x="101918" y="156835"/>
                  <a:pt x="99268" y="154186"/>
                </a:cubicBezTo>
                <a:lnTo>
                  <a:pt x="93553" y="148471"/>
                </a:lnTo>
                <a:cubicBezTo>
                  <a:pt x="90904" y="145822"/>
                  <a:pt x="90488" y="141684"/>
                  <a:pt x="92571" y="138559"/>
                </a:cubicBezTo>
                <a:lnTo>
                  <a:pt x="99506" y="128141"/>
                </a:lnTo>
                <a:cubicBezTo>
                  <a:pt x="98941" y="126742"/>
                  <a:pt x="98435" y="125284"/>
                  <a:pt x="98018" y="123765"/>
                </a:cubicBezTo>
                <a:cubicBezTo>
                  <a:pt x="97601" y="122247"/>
                  <a:pt x="97334" y="120729"/>
                  <a:pt x="97125" y="119241"/>
                </a:cubicBezTo>
                <a:lnTo>
                  <a:pt x="85904" y="113705"/>
                </a:lnTo>
                <a:cubicBezTo>
                  <a:pt x="82540" y="112038"/>
                  <a:pt x="80843" y="108228"/>
                  <a:pt x="81796" y="104626"/>
                </a:cubicBezTo>
                <a:lnTo>
                  <a:pt x="83880" y="96828"/>
                </a:lnTo>
                <a:cubicBezTo>
                  <a:pt x="84862" y="93226"/>
                  <a:pt x="88225" y="90785"/>
                  <a:pt x="91976" y="91023"/>
                </a:cubicBezTo>
                <a:lnTo>
                  <a:pt x="104448" y="91827"/>
                </a:lnTo>
                <a:cubicBezTo>
                  <a:pt x="106323" y="89416"/>
                  <a:pt x="108496" y="87184"/>
                  <a:pt x="110966" y="85279"/>
                </a:cubicBezTo>
                <a:lnTo>
                  <a:pt x="110163" y="72836"/>
                </a:lnTo>
                <a:cubicBezTo>
                  <a:pt x="109924" y="69086"/>
                  <a:pt x="112365" y="65693"/>
                  <a:pt x="115967" y="64740"/>
                </a:cubicBezTo>
                <a:lnTo>
                  <a:pt x="123765" y="62657"/>
                </a:lnTo>
                <a:close/>
                <a:moveTo>
                  <a:pt x="133469" y="101203"/>
                </a:moveTo>
                <a:cubicBezTo>
                  <a:pt x="126241" y="101211"/>
                  <a:pt x="120379" y="107087"/>
                  <a:pt x="120387" y="114315"/>
                </a:cubicBezTo>
                <a:cubicBezTo>
                  <a:pt x="120395" y="121543"/>
                  <a:pt x="126270" y="127405"/>
                  <a:pt x="133499" y="127397"/>
                </a:cubicBezTo>
                <a:cubicBezTo>
                  <a:pt x="140727" y="127389"/>
                  <a:pt x="146589" y="121513"/>
                  <a:pt x="146581" y="114285"/>
                </a:cubicBezTo>
                <a:cubicBezTo>
                  <a:pt x="146573" y="107057"/>
                  <a:pt x="140697" y="101195"/>
                  <a:pt x="133469" y="101203"/>
                </a:cubicBezTo>
                <a:close/>
                <a:moveTo>
                  <a:pt x="66943" y="-13543"/>
                </a:moveTo>
                <a:lnTo>
                  <a:pt x="74741" y="-11460"/>
                </a:lnTo>
                <a:cubicBezTo>
                  <a:pt x="78343" y="-10477"/>
                  <a:pt x="80784" y="-7084"/>
                  <a:pt x="80546" y="-3364"/>
                </a:cubicBezTo>
                <a:lnTo>
                  <a:pt x="79742" y="9079"/>
                </a:lnTo>
                <a:cubicBezTo>
                  <a:pt x="82213" y="10984"/>
                  <a:pt x="84386" y="13186"/>
                  <a:pt x="86261" y="15627"/>
                </a:cubicBezTo>
                <a:lnTo>
                  <a:pt x="98762" y="14823"/>
                </a:lnTo>
                <a:cubicBezTo>
                  <a:pt x="102483" y="14585"/>
                  <a:pt x="105876" y="17026"/>
                  <a:pt x="106859" y="20628"/>
                </a:cubicBezTo>
                <a:lnTo>
                  <a:pt x="108942" y="28426"/>
                </a:lnTo>
                <a:cubicBezTo>
                  <a:pt x="109895" y="32028"/>
                  <a:pt x="108198" y="35838"/>
                  <a:pt x="104835" y="37505"/>
                </a:cubicBezTo>
                <a:lnTo>
                  <a:pt x="93613" y="43041"/>
                </a:lnTo>
                <a:cubicBezTo>
                  <a:pt x="93405" y="44559"/>
                  <a:pt x="93107" y="46077"/>
                  <a:pt x="92720" y="47565"/>
                </a:cubicBezTo>
                <a:cubicBezTo>
                  <a:pt x="92333" y="49054"/>
                  <a:pt x="91797" y="50542"/>
                  <a:pt x="91232" y="51941"/>
                </a:cubicBezTo>
                <a:lnTo>
                  <a:pt x="98167" y="62359"/>
                </a:lnTo>
                <a:cubicBezTo>
                  <a:pt x="100251" y="65484"/>
                  <a:pt x="99834" y="69622"/>
                  <a:pt x="97185" y="72271"/>
                </a:cubicBezTo>
                <a:lnTo>
                  <a:pt x="91470" y="77986"/>
                </a:lnTo>
                <a:cubicBezTo>
                  <a:pt x="88821" y="80635"/>
                  <a:pt x="84683" y="81052"/>
                  <a:pt x="81558" y="78968"/>
                </a:cubicBezTo>
                <a:lnTo>
                  <a:pt x="71140" y="72033"/>
                </a:lnTo>
                <a:cubicBezTo>
                  <a:pt x="68312" y="73194"/>
                  <a:pt x="65306" y="74027"/>
                  <a:pt x="62240" y="74444"/>
                </a:cubicBezTo>
                <a:lnTo>
                  <a:pt x="56704" y="85636"/>
                </a:lnTo>
                <a:cubicBezTo>
                  <a:pt x="55037" y="88999"/>
                  <a:pt x="51227" y="90696"/>
                  <a:pt x="47625" y="89743"/>
                </a:cubicBezTo>
                <a:lnTo>
                  <a:pt x="39826" y="87660"/>
                </a:lnTo>
                <a:cubicBezTo>
                  <a:pt x="36195" y="86678"/>
                  <a:pt x="33784" y="83284"/>
                  <a:pt x="34022" y="79564"/>
                </a:cubicBezTo>
                <a:lnTo>
                  <a:pt x="34826" y="67092"/>
                </a:lnTo>
                <a:cubicBezTo>
                  <a:pt x="32355" y="65187"/>
                  <a:pt x="30182" y="62984"/>
                  <a:pt x="28307" y="60543"/>
                </a:cubicBezTo>
                <a:lnTo>
                  <a:pt x="15806" y="61347"/>
                </a:lnTo>
                <a:cubicBezTo>
                  <a:pt x="12085" y="61585"/>
                  <a:pt x="8692" y="59144"/>
                  <a:pt x="7709" y="55543"/>
                </a:cubicBezTo>
                <a:lnTo>
                  <a:pt x="5626" y="47744"/>
                </a:lnTo>
                <a:cubicBezTo>
                  <a:pt x="4673" y="44142"/>
                  <a:pt x="6370" y="40332"/>
                  <a:pt x="9733" y="38666"/>
                </a:cubicBezTo>
                <a:lnTo>
                  <a:pt x="20955" y="33129"/>
                </a:lnTo>
                <a:cubicBezTo>
                  <a:pt x="21163" y="31611"/>
                  <a:pt x="21461" y="30123"/>
                  <a:pt x="21848" y="28605"/>
                </a:cubicBezTo>
                <a:cubicBezTo>
                  <a:pt x="22265" y="27087"/>
                  <a:pt x="22741" y="25628"/>
                  <a:pt x="23336" y="24229"/>
                </a:cubicBezTo>
                <a:lnTo>
                  <a:pt x="16401" y="13841"/>
                </a:lnTo>
                <a:cubicBezTo>
                  <a:pt x="14317" y="10716"/>
                  <a:pt x="14734" y="6578"/>
                  <a:pt x="17383" y="3929"/>
                </a:cubicBezTo>
                <a:lnTo>
                  <a:pt x="23098" y="-1786"/>
                </a:lnTo>
                <a:cubicBezTo>
                  <a:pt x="25747" y="-4435"/>
                  <a:pt x="29885" y="-4852"/>
                  <a:pt x="33010" y="-2768"/>
                </a:cubicBezTo>
                <a:lnTo>
                  <a:pt x="43428" y="4167"/>
                </a:lnTo>
                <a:cubicBezTo>
                  <a:pt x="46256" y="3006"/>
                  <a:pt x="49262" y="2173"/>
                  <a:pt x="52328" y="1756"/>
                </a:cubicBezTo>
                <a:lnTo>
                  <a:pt x="57864" y="-9436"/>
                </a:lnTo>
                <a:cubicBezTo>
                  <a:pt x="59531" y="-12799"/>
                  <a:pt x="63311" y="-14496"/>
                  <a:pt x="66943" y="-13543"/>
                </a:cubicBezTo>
                <a:close/>
                <a:moveTo>
                  <a:pt x="57269" y="25003"/>
                </a:moveTo>
                <a:cubicBezTo>
                  <a:pt x="50041" y="25003"/>
                  <a:pt x="44172" y="30872"/>
                  <a:pt x="44172" y="38100"/>
                </a:cubicBezTo>
                <a:cubicBezTo>
                  <a:pt x="44172" y="45328"/>
                  <a:pt x="50041" y="51197"/>
                  <a:pt x="57269" y="51197"/>
                </a:cubicBezTo>
                <a:cubicBezTo>
                  <a:pt x="64497" y="51197"/>
                  <a:pt x="70366" y="45328"/>
                  <a:pt x="70366" y="38100"/>
                </a:cubicBezTo>
                <a:cubicBezTo>
                  <a:pt x="70366" y="30872"/>
                  <a:pt x="64497" y="25003"/>
                  <a:pt x="57269" y="25003"/>
                </a:cubicBezTo>
                <a:close/>
              </a:path>
            </a:pathLst>
          </a:custGeom>
          <a:solidFill>
            <a:srgbClr val="00D9FF"/>
          </a:solidFill>
          <a:ln/>
        </p:spPr>
      </p:sp>
      <p:sp>
        <p:nvSpPr>
          <p:cNvPr id="19" name="Text 17"/>
          <p:cNvSpPr/>
          <p:nvPr/>
        </p:nvSpPr>
        <p:spPr>
          <a:xfrm>
            <a:off x="1079500" y="3911603"/>
            <a:ext cx="11144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6EDF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Implementation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96131" y="4254503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97066" y="15649"/>
                </a:moveTo>
                <a:cubicBezTo>
                  <a:pt x="100258" y="17971"/>
                  <a:pt x="100972" y="22436"/>
                  <a:pt x="98651" y="25628"/>
                </a:cubicBezTo>
                <a:lnTo>
                  <a:pt x="41501" y="104209"/>
                </a:lnTo>
                <a:cubicBezTo>
                  <a:pt x="40273" y="105906"/>
                  <a:pt x="38375" y="106955"/>
                  <a:pt x="36277" y="107134"/>
                </a:cubicBezTo>
                <a:cubicBezTo>
                  <a:pt x="34178" y="107313"/>
                  <a:pt x="32147" y="106531"/>
                  <a:pt x="30673" y="105058"/>
                </a:cubicBezTo>
                <a:lnTo>
                  <a:pt x="2098" y="76483"/>
                </a:lnTo>
                <a:cubicBezTo>
                  <a:pt x="-692" y="73692"/>
                  <a:pt x="-692" y="69160"/>
                  <a:pt x="2098" y="66370"/>
                </a:cubicBezTo>
                <a:cubicBezTo>
                  <a:pt x="4889" y="63579"/>
                  <a:pt x="9421" y="63579"/>
                  <a:pt x="12211" y="66370"/>
                </a:cubicBezTo>
                <a:lnTo>
                  <a:pt x="34870" y="89029"/>
                </a:lnTo>
                <a:lnTo>
                  <a:pt x="87109" y="17212"/>
                </a:lnTo>
                <a:cubicBezTo>
                  <a:pt x="89431" y="14020"/>
                  <a:pt x="93896" y="13305"/>
                  <a:pt x="97088" y="15627"/>
                </a:cubicBezTo>
                <a:close/>
              </a:path>
            </a:pathLst>
          </a:custGeom>
          <a:solidFill>
            <a:srgbClr val="00D9FF"/>
          </a:solidFill>
          <a:ln/>
        </p:spPr>
      </p:sp>
      <p:sp>
        <p:nvSpPr>
          <p:cNvPr id="21" name="Text 19"/>
          <p:cNvSpPr/>
          <p:nvPr/>
        </p:nvSpPr>
        <p:spPr>
          <a:xfrm>
            <a:off x="993775" y="4216403"/>
            <a:ext cx="2743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B94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OCR-based document scanning and validation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796131" y="4483103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97066" y="15649"/>
                </a:moveTo>
                <a:cubicBezTo>
                  <a:pt x="100258" y="17971"/>
                  <a:pt x="100972" y="22436"/>
                  <a:pt x="98651" y="25628"/>
                </a:cubicBezTo>
                <a:lnTo>
                  <a:pt x="41501" y="104209"/>
                </a:lnTo>
                <a:cubicBezTo>
                  <a:pt x="40273" y="105906"/>
                  <a:pt x="38375" y="106955"/>
                  <a:pt x="36277" y="107134"/>
                </a:cubicBezTo>
                <a:cubicBezTo>
                  <a:pt x="34178" y="107313"/>
                  <a:pt x="32147" y="106531"/>
                  <a:pt x="30673" y="105058"/>
                </a:cubicBezTo>
                <a:lnTo>
                  <a:pt x="2098" y="76483"/>
                </a:lnTo>
                <a:cubicBezTo>
                  <a:pt x="-692" y="73692"/>
                  <a:pt x="-692" y="69160"/>
                  <a:pt x="2098" y="66370"/>
                </a:cubicBezTo>
                <a:cubicBezTo>
                  <a:pt x="4889" y="63579"/>
                  <a:pt x="9421" y="63579"/>
                  <a:pt x="12211" y="66370"/>
                </a:cubicBezTo>
                <a:lnTo>
                  <a:pt x="34870" y="89029"/>
                </a:lnTo>
                <a:lnTo>
                  <a:pt x="87109" y="17212"/>
                </a:lnTo>
                <a:cubicBezTo>
                  <a:pt x="89431" y="14020"/>
                  <a:pt x="93896" y="13305"/>
                  <a:pt x="97088" y="15627"/>
                </a:cubicBezTo>
                <a:close/>
              </a:path>
            </a:pathLst>
          </a:custGeom>
          <a:solidFill>
            <a:srgbClr val="00D9FF"/>
          </a:solidFill>
          <a:ln/>
        </p:spPr>
      </p:sp>
      <p:sp>
        <p:nvSpPr>
          <p:cNvPr id="23" name="Text 21"/>
          <p:cNvSpPr/>
          <p:nvPr/>
        </p:nvSpPr>
        <p:spPr>
          <a:xfrm>
            <a:off x="993775" y="4445003"/>
            <a:ext cx="26003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B94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ML-powered error detection and correction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796131" y="4711703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97066" y="15649"/>
                </a:moveTo>
                <a:cubicBezTo>
                  <a:pt x="100258" y="17971"/>
                  <a:pt x="100972" y="22436"/>
                  <a:pt x="98651" y="25628"/>
                </a:cubicBezTo>
                <a:lnTo>
                  <a:pt x="41501" y="104209"/>
                </a:lnTo>
                <a:cubicBezTo>
                  <a:pt x="40273" y="105906"/>
                  <a:pt x="38375" y="106955"/>
                  <a:pt x="36277" y="107134"/>
                </a:cubicBezTo>
                <a:cubicBezTo>
                  <a:pt x="34178" y="107313"/>
                  <a:pt x="32147" y="106531"/>
                  <a:pt x="30673" y="105058"/>
                </a:cubicBezTo>
                <a:lnTo>
                  <a:pt x="2098" y="76483"/>
                </a:lnTo>
                <a:cubicBezTo>
                  <a:pt x="-692" y="73692"/>
                  <a:pt x="-692" y="69160"/>
                  <a:pt x="2098" y="66370"/>
                </a:cubicBezTo>
                <a:cubicBezTo>
                  <a:pt x="4889" y="63579"/>
                  <a:pt x="9421" y="63579"/>
                  <a:pt x="12211" y="66370"/>
                </a:cubicBezTo>
                <a:lnTo>
                  <a:pt x="34870" y="89029"/>
                </a:lnTo>
                <a:lnTo>
                  <a:pt x="87109" y="17212"/>
                </a:lnTo>
                <a:cubicBezTo>
                  <a:pt x="89431" y="14020"/>
                  <a:pt x="93896" y="13305"/>
                  <a:pt x="97088" y="15627"/>
                </a:cubicBezTo>
                <a:close/>
              </a:path>
            </a:pathLst>
          </a:custGeom>
          <a:solidFill>
            <a:srgbClr val="00D9FF"/>
          </a:solidFill>
          <a:ln/>
        </p:spPr>
      </p:sp>
      <p:sp>
        <p:nvSpPr>
          <p:cNvPr id="25" name="Text 23"/>
          <p:cNvSpPr/>
          <p:nvPr/>
        </p:nvSpPr>
        <p:spPr>
          <a:xfrm>
            <a:off x="993775" y="4673603"/>
            <a:ext cx="31337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B94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Integration with customs APIs for real-time clearance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19125" y="5178427"/>
            <a:ext cx="5121275" cy="654050"/>
          </a:xfrm>
          <a:custGeom>
            <a:avLst/>
            <a:gdLst/>
            <a:ahLst/>
            <a:cxnLst/>
            <a:rect l="l" t="t" r="r" b="b"/>
            <a:pathLst>
              <a:path w="5121275" h="654050">
                <a:moveTo>
                  <a:pt x="76197" y="0"/>
                </a:moveTo>
                <a:lnTo>
                  <a:pt x="5045078" y="0"/>
                </a:lnTo>
                <a:cubicBezTo>
                  <a:pt x="5087161" y="0"/>
                  <a:pt x="5121275" y="34114"/>
                  <a:pt x="5121275" y="76197"/>
                </a:cubicBezTo>
                <a:lnTo>
                  <a:pt x="5121275" y="577853"/>
                </a:lnTo>
                <a:cubicBezTo>
                  <a:pt x="5121275" y="619936"/>
                  <a:pt x="5087161" y="654050"/>
                  <a:pt x="5045078" y="654050"/>
                </a:cubicBezTo>
                <a:lnTo>
                  <a:pt x="76197" y="654050"/>
                </a:lnTo>
                <a:cubicBezTo>
                  <a:pt x="34114" y="654050"/>
                  <a:pt x="0" y="619936"/>
                  <a:pt x="0" y="577853"/>
                </a:cubicBezTo>
                <a:lnTo>
                  <a:pt x="0" y="76197"/>
                </a:lnTo>
                <a:cubicBezTo>
                  <a:pt x="0" y="34143"/>
                  <a:pt x="34143" y="0"/>
                  <a:pt x="76197" y="0"/>
                </a:cubicBezTo>
                <a:close/>
              </a:path>
            </a:pathLst>
          </a:custGeom>
          <a:gradFill flip="none" rotWithShape="1">
            <a:gsLst>
              <a:gs pos="0">
                <a:srgbClr val="58A6FF">
                  <a:alpha val="10000"/>
                </a:srgbClr>
              </a:gs>
              <a:gs pos="100000">
                <a:srgbClr val="00D9FF">
                  <a:alpha val="10000"/>
                </a:srgbClr>
              </a:gs>
            </a:gsLst>
            <a:lin ang="0" scaled="1"/>
          </a:gradFill>
          <a:ln w="8467">
            <a:solidFill>
              <a:srgbClr val="58A6FF">
                <a:alpha val="30196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98513" y="54102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23812" y="23812"/>
                </a:moveTo>
                <a:cubicBezTo>
                  <a:pt x="23812" y="17227"/>
                  <a:pt x="18492" y="11906"/>
                  <a:pt x="11906" y="11906"/>
                </a:cubicBezTo>
                <a:cubicBezTo>
                  <a:pt x="5321" y="11906"/>
                  <a:pt x="0" y="17227"/>
                  <a:pt x="0" y="23812"/>
                </a:cubicBezTo>
                <a:lnTo>
                  <a:pt x="0" y="148828"/>
                </a:lnTo>
                <a:cubicBezTo>
                  <a:pt x="0" y="165274"/>
                  <a:pt x="13320" y="178594"/>
                  <a:pt x="29766" y="178594"/>
                </a:cubicBezTo>
                <a:lnTo>
                  <a:pt x="178594" y="178594"/>
                </a:lnTo>
                <a:cubicBezTo>
                  <a:pt x="185179" y="178594"/>
                  <a:pt x="190500" y="173273"/>
                  <a:pt x="190500" y="166688"/>
                </a:cubicBezTo>
                <a:cubicBezTo>
                  <a:pt x="190500" y="160102"/>
                  <a:pt x="185179" y="154781"/>
                  <a:pt x="178594" y="154781"/>
                </a:cubicBezTo>
                <a:lnTo>
                  <a:pt x="29766" y="154781"/>
                </a:lnTo>
                <a:cubicBezTo>
                  <a:pt x="26491" y="154781"/>
                  <a:pt x="23812" y="152102"/>
                  <a:pt x="23812" y="148828"/>
                </a:cubicBezTo>
                <a:lnTo>
                  <a:pt x="23812" y="23812"/>
                </a:lnTo>
                <a:close/>
                <a:moveTo>
                  <a:pt x="175096" y="56034"/>
                </a:moveTo>
                <a:cubicBezTo>
                  <a:pt x="179747" y="51383"/>
                  <a:pt x="179747" y="43830"/>
                  <a:pt x="175096" y="39179"/>
                </a:cubicBezTo>
                <a:cubicBezTo>
                  <a:pt x="170445" y="34528"/>
                  <a:pt x="162892" y="34528"/>
                  <a:pt x="158242" y="39179"/>
                </a:cubicBezTo>
                <a:lnTo>
                  <a:pt x="119063" y="78395"/>
                </a:lnTo>
                <a:lnTo>
                  <a:pt x="97706" y="57076"/>
                </a:lnTo>
                <a:cubicBezTo>
                  <a:pt x="93055" y="52425"/>
                  <a:pt x="85502" y="52425"/>
                  <a:pt x="80851" y="57076"/>
                </a:cubicBezTo>
                <a:lnTo>
                  <a:pt x="45132" y="92794"/>
                </a:lnTo>
                <a:cubicBezTo>
                  <a:pt x="40481" y="97445"/>
                  <a:pt x="40481" y="104998"/>
                  <a:pt x="45132" y="109649"/>
                </a:cubicBezTo>
                <a:cubicBezTo>
                  <a:pt x="49783" y="114300"/>
                  <a:pt x="57336" y="114300"/>
                  <a:pt x="61987" y="109649"/>
                </a:cubicBezTo>
                <a:lnTo>
                  <a:pt x="89297" y="82339"/>
                </a:lnTo>
                <a:lnTo>
                  <a:pt x="110654" y="103696"/>
                </a:lnTo>
                <a:cubicBezTo>
                  <a:pt x="115305" y="108347"/>
                  <a:pt x="122858" y="108347"/>
                  <a:pt x="127508" y="103696"/>
                </a:cubicBezTo>
                <a:lnTo>
                  <a:pt x="175133" y="56071"/>
                </a:lnTo>
                <a:close/>
              </a:path>
            </a:pathLst>
          </a:custGeom>
          <a:solidFill>
            <a:srgbClr val="00D9FF"/>
          </a:solidFill>
          <a:ln/>
        </p:spPr>
      </p:sp>
      <p:sp>
        <p:nvSpPr>
          <p:cNvPr id="28" name="Text 26"/>
          <p:cNvSpPr/>
          <p:nvPr/>
        </p:nvSpPr>
        <p:spPr>
          <a:xfrm>
            <a:off x="1127125" y="5334000"/>
            <a:ext cx="34385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6EDF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Expected Impact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127125" y="5524500"/>
            <a:ext cx="3429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8B94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Reduce delays by 85% • Save $2.4M/quarter • Improve CSAT by 12%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213475" y="1755775"/>
            <a:ext cx="5597525" cy="4721225"/>
          </a:xfrm>
          <a:custGeom>
            <a:avLst/>
            <a:gdLst/>
            <a:ahLst/>
            <a:cxnLst/>
            <a:rect l="l" t="t" r="r" b="b"/>
            <a:pathLst>
              <a:path w="5597525" h="4721225">
                <a:moveTo>
                  <a:pt x="152401" y="0"/>
                </a:moveTo>
                <a:lnTo>
                  <a:pt x="5445124" y="0"/>
                </a:lnTo>
                <a:cubicBezTo>
                  <a:pt x="5529293" y="0"/>
                  <a:pt x="5597525" y="68232"/>
                  <a:pt x="5597525" y="152401"/>
                </a:cubicBezTo>
                <a:lnTo>
                  <a:pt x="5597525" y="4568824"/>
                </a:lnTo>
                <a:cubicBezTo>
                  <a:pt x="5597525" y="4652993"/>
                  <a:pt x="5529293" y="4721225"/>
                  <a:pt x="5445124" y="4721225"/>
                </a:cubicBezTo>
                <a:lnTo>
                  <a:pt x="152401" y="4721225"/>
                </a:lnTo>
                <a:cubicBezTo>
                  <a:pt x="68232" y="4721225"/>
                  <a:pt x="0" y="4652993"/>
                  <a:pt x="0" y="4568824"/>
                </a:cubicBezTo>
                <a:lnTo>
                  <a:pt x="0" y="152401"/>
                </a:lnTo>
                <a:cubicBezTo>
                  <a:pt x="0" y="68289"/>
                  <a:pt x="68289" y="0"/>
                  <a:pt x="152401" y="0"/>
                </a:cubicBezTo>
                <a:close/>
              </a:path>
            </a:pathLst>
          </a:custGeom>
          <a:gradFill flip="none" rotWithShape="1">
            <a:gsLst>
              <a:gs pos="0">
                <a:srgbClr val="161B22"/>
              </a:gs>
              <a:gs pos="100000">
                <a:srgbClr val="0D1117"/>
              </a:gs>
            </a:gsLst>
            <a:lin ang="2700000" scaled="1"/>
          </a:gradFill>
          <a:ln w="8467">
            <a:solidFill>
              <a:srgbClr val="00D9FF">
                <a:alpha val="50196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445250" y="1987553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14300" y="0"/>
                </a:moveTo>
                <a:lnTo>
                  <a:pt x="495300" y="0"/>
                </a:lnTo>
                <a:cubicBezTo>
                  <a:pt x="558384" y="0"/>
                  <a:pt x="609600" y="51216"/>
                  <a:pt x="609600" y="114300"/>
                </a:cubicBezTo>
                <a:lnTo>
                  <a:pt x="609600" y="495300"/>
                </a:lnTo>
                <a:cubicBezTo>
                  <a:pt x="609600" y="558384"/>
                  <a:pt x="558384" y="609600"/>
                  <a:pt x="495300" y="609600"/>
                </a:cubicBezTo>
                <a:lnTo>
                  <a:pt x="114300" y="609600"/>
                </a:lnTo>
                <a:cubicBezTo>
                  <a:pt x="51216" y="609600"/>
                  <a:pt x="0" y="558384"/>
                  <a:pt x="0" y="495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gradFill flip="none" rotWithShape="1">
            <a:gsLst>
              <a:gs pos="0">
                <a:srgbClr val="00D9FF"/>
              </a:gs>
              <a:gs pos="100000">
                <a:srgbClr val="58A6FF"/>
              </a:gs>
            </a:gsLst>
            <a:lin ang="2700000" scaled="1"/>
          </a:gradFill>
          <a:ln/>
        </p:spPr>
      </p:sp>
      <p:sp>
        <p:nvSpPr>
          <p:cNvPr id="32" name="Shape 30"/>
          <p:cNvSpPr/>
          <p:nvPr/>
        </p:nvSpPr>
        <p:spPr>
          <a:xfrm>
            <a:off x="6609556" y="2149478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0" y="44648"/>
                </a:moveTo>
                <a:cubicBezTo>
                  <a:pt x="0" y="29859"/>
                  <a:pt x="11999" y="17859"/>
                  <a:pt x="26789" y="17859"/>
                </a:cubicBezTo>
                <a:lnTo>
                  <a:pt x="80367" y="17859"/>
                </a:lnTo>
                <a:cubicBezTo>
                  <a:pt x="95157" y="17859"/>
                  <a:pt x="107156" y="29859"/>
                  <a:pt x="107156" y="44648"/>
                </a:cubicBezTo>
                <a:lnTo>
                  <a:pt x="107156" y="53578"/>
                </a:lnTo>
                <a:lnTo>
                  <a:pt x="178594" y="53578"/>
                </a:lnTo>
                <a:lnTo>
                  <a:pt x="178594" y="44648"/>
                </a:lnTo>
                <a:cubicBezTo>
                  <a:pt x="178594" y="29859"/>
                  <a:pt x="190593" y="17859"/>
                  <a:pt x="205383" y="17859"/>
                </a:cubicBezTo>
                <a:lnTo>
                  <a:pt x="258961" y="17859"/>
                </a:lnTo>
                <a:cubicBezTo>
                  <a:pt x="273751" y="17859"/>
                  <a:pt x="285750" y="29859"/>
                  <a:pt x="285750" y="44648"/>
                </a:cubicBezTo>
                <a:lnTo>
                  <a:pt x="285750" y="98227"/>
                </a:lnTo>
                <a:cubicBezTo>
                  <a:pt x="285750" y="113016"/>
                  <a:pt x="273751" y="125016"/>
                  <a:pt x="258961" y="125016"/>
                </a:cubicBezTo>
                <a:lnTo>
                  <a:pt x="205383" y="125016"/>
                </a:lnTo>
                <a:cubicBezTo>
                  <a:pt x="190593" y="125016"/>
                  <a:pt x="178594" y="113016"/>
                  <a:pt x="178594" y="98227"/>
                </a:cubicBezTo>
                <a:lnTo>
                  <a:pt x="178594" y="89297"/>
                </a:lnTo>
                <a:lnTo>
                  <a:pt x="107156" y="89297"/>
                </a:lnTo>
                <a:lnTo>
                  <a:pt x="107156" y="98227"/>
                </a:lnTo>
                <a:cubicBezTo>
                  <a:pt x="107156" y="102301"/>
                  <a:pt x="106207" y="106207"/>
                  <a:pt x="104589" y="109668"/>
                </a:cubicBezTo>
                <a:lnTo>
                  <a:pt x="142875" y="160734"/>
                </a:lnTo>
                <a:lnTo>
                  <a:pt x="187523" y="160734"/>
                </a:lnTo>
                <a:cubicBezTo>
                  <a:pt x="202313" y="160734"/>
                  <a:pt x="214313" y="172734"/>
                  <a:pt x="214313" y="187523"/>
                </a:cubicBezTo>
                <a:lnTo>
                  <a:pt x="214313" y="241102"/>
                </a:lnTo>
                <a:cubicBezTo>
                  <a:pt x="214313" y="255891"/>
                  <a:pt x="202313" y="267891"/>
                  <a:pt x="187523" y="267891"/>
                </a:cubicBezTo>
                <a:lnTo>
                  <a:pt x="133945" y="267891"/>
                </a:lnTo>
                <a:cubicBezTo>
                  <a:pt x="119156" y="267891"/>
                  <a:pt x="107156" y="255891"/>
                  <a:pt x="107156" y="241102"/>
                </a:cubicBezTo>
                <a:lnTo>
                  <a:pt x="107156" y="187523"/>
                </a:lnTo>
                <a:cubicBezTo>
                  <a:pt x="107156" y="183449"/>
                  <a:pt x="108105" y="179543"/>
                  <a:pt x="109724" y="176082"/>
                </a:cubicBezTo>
                <a:lnTo>
                  <a:pt x="71438" y="125016"/>
                </a:lnTo>
                <a:lnTo>
                  <a:pt x="26789" y="125016"/>
                </a:lnTo>
                <a:cubicBezTo>
                  <a:pt x="11999" y="125016"/>
                  <a:pt x="0" y="113016"/>
                  <a:pt x="0" y="98227"/>
                </a:cubicBezTo>
                <a:lnTo>
                  <a:pt x="0" y="44648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3" name="Shape 31"/>
          <p:cNvSpPr/>
          <p:nvPr/>
        </p:nvSpPr>
        <p:spPr>
          <a:xfrm>
            <a:off x="7207250" y="1987553"/>
            <a:ext cx="1114425" cy="228600"/>
          </a:xfrm>
          <a:custGeom>
            <a:avLst/>
            <a:gdLst/>
            <a:ahLst/>
            <a:cxnLst/>
            <a:rect l="l" t="t" r="r" b="b"/>
            <a:pathLst>
              <a:path w="1114425" h="228600">
                <a:moveTo>
                  <a:pt x="114300" y="0"/>
                </a:moveTo>
                <a:lnTo>
                  <a:pt x="1000125" y="0"/>
                </a:lnTo>
                <a:cubicBezTo>
                  <a:pt x="1063209" y="0"/>
                  <a:pt x="1114425" y="51216"/>
                  <a:pt x="1114425" y="114300"/>
                </a:cubicBezTo>
                <a:lnTo>
                  <a:pt x="1114425" y="114300"/>
                </a:lnTo>
                <a:cubicBezTo>
                  <a:pt x="1114425" y="177384"/>
                  <a:pt x="1063209" y="228600"/>
                  <a:pt x="1000125" y="228600"/>
                </a:cubicBezTo>
                <a:lnTo>
                  <a:pt x="114300" y="228600"/>
                </a:lnTo>
                <a:cubicBezTo>
                  <a:pt x="51216" y="228600"/>
                  <a:pt x="0" y="177384"/>
                  <a:pt x="0" y="114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00D9FF">
              <a:alpha val="20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7207250" y="1987553"/>
            <a:ext cx="1171575" cy="22860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00D9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RISK MITIGATION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8399562" y="2025653"/>
            <a:ext cx="5810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58A6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Q2 Rollout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7207250" y="2292353"/>
            <a:ext cx="44862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Supplier Diversification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448425" y="2790828"/>
            <a:ext cx="5121275" cy="806450"/>
          </a:xfrm>
          <a:custGeom>
            <a:avLst/>
            <a:gdLst/>
            <a:ahLst/>
            <a:cxnLst/>
            <a:rect l="l" t="t" r="r" b="b"/>
            <a:pathLst>
              <a:path w="5121275" h="806450">
                <a:moveTo>
                  <a:pt x="76201" y="0"/>
                </a:moveTo>
                <a:lnTo>
                  <a:pt x="5045074" y="0"/>
                </a:lnTo>
                <a:cubicBezTo>
                  <a:pt x="5087158" y="0"/>
                  <a:pt x="5121275" y="34117"/>
                  <a:pt x="5121275" y="76201"/>
                </a:cubicBezTo>
                <a:lnTo>
                  <a:pt x="5121275" y="730249"/>
                </a:lnTo>
                <a:cubicBezTo>
                  <a:pt x="5121275" y="772333"/>
                  <a:pt x="5087158" y="806450"/>
                  <a:pt x="5045074" y="806450"/>
                </a:cubicBezTo>
                <a:lnTo>
                  <a:pt x="76201" y="806450"/>
                </a:lnTo>
                <a:cubicBezTo>
                  <a:pt x="34145" y="806450"/>
                  <a:pt x="0" y="772305"/>
                  <a:pt x="0" y="730249"/>
                </a:cubicBezTo>
                <a:lnTo>
                  <a:pt x="0" y="76201"/>
                </a:lnTo>
                <a:cubicBezTo>
                  <a:pt x="0" y="34145"/>
                  <a:pt x="34145" y="0"/>
                  <a:pt x="76201" y="0"/>
                </a:cubicBezTo>
                <a:close/>
              </a:path>
            </a:pathLst>
          </a:custGeom>
          <a:solidFill>
            <a:srgbClr val="0D1117"/>
          </a:solidFill>
          <a:ln w="8467">
            <a:solidFill>
              <a:srgbClr val="21262D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623050" y="2984502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33350" y="76200"/>
                </a:moveTo>
                <a:cubicBezTo>
                  <a:pt x="133350" y="44658"/>
                  <a:pt x="107742" y="19050"/>
                  <a:pt x="76200" y="19050"/>
                </a:cubicBezTo>
                <a:cubicBezTo>
                  <a:pt x="44658" y="19050"/>
                  <a:pt x="19050" y="44658"/>
                  <a:pt x="19050" y="76200"/>
                </a:cubicBezTo>
                <a:cubicBezTo>
                  <a:pt x="19050" y="107742"/>
                  <a:pt x="44658" y="133350"/>
                  <a:pt x="76200" y="133350"/>
                </a:cubicBezTo>
                <a:cubicBezTo>
                  <a:pt x="107742" y="133350"/>
                  <a:pt x="133350" y="107742"/>
                  <a:pt x="133350" y="76200"/>
                </a:cubicBezTo>
                <a:close/>
                <a:moveTo>
                  <a:pt x="0" y="76200"/>
                </a:moveTo>
                <a:cubicBezTo>
                  <a:pt x="0" y="34144"/>
                  <a:pt x="34144" y="0"/>
                  <a:pt x="76200" y="0"/>
                </a:cubicBezTo>
                <a:cubicBezTo>
                  <a:pt x="118256" y="0"/>
                  <a:pt x="152400" y="34144"/>
                  <a:pt x="152400" y="76200"/>
                </a:cubicBezTo>
                <a:cubicBezTo>
                  <a:pt x="152400" y="118256"/>
                  <a:pt x="118256" y="152400"/>
                  <a:pt x="76200" y="152400"/>
                </a:cubicBezTo>
                <a:cubicBezTo>
                  <a:pt x="34144" y="152400"/>
                  <a:pt x="0" y="118256"/>
                  <a:pt x="0" y="76200"/>
                </a:cubicBezTo>
                <a:close/>
                <a:moveTo>
                  <a:pt x="76200" y="100013"/>
                </a:moveTo>
                <a:cubicBezTo>
                  <a:pt x="89342" y="100013"/>
                  <a:pt x="100013" y="89342"/>
                  <a:pt x="100013" y="76200"/>
                </a:cubicBezTo>
                <a:cubicBezTo>
                  <a:pt x="100013" y="63058"/>
                  <a:pt x="89342" y="52388"/>
                  <a:pt x="76200" y="52388"/>
                </a:cubicBezTo>
                <a:cubicBezTo>
                  <a:pt x="63058" y="52388"/>
                  <a:pt x="52388" y="63058"/>
                  <a:pt x="52388" y="76200"/>
                </a:cubicBezTo>
                <a:cubicBezTo>
                  <a:pt x="52388" y="89342"/>
                  <a:pt x="63058" y="100013"/>
                  <a:pt x="76200" y="100013"/>
                </a:cubicBezTo>
                <a:close/>
                <a:moveTo>
                  <a:pt x="76200" y="33338"/>
                </a:moveTo>
                <a:cubicBezTo>
                  <a:pt x="99856" y="33338"/>
                  <a:pt x="119062" y="52544"/>
                  <a:pt x="119062" y="76200"/>
                </a:cubicBezTo>
                <a:cubicBezTo>
                  <a:pt x="119062" y="99856"/>
                  <a:pt x="99856" y="119062"/>
                  <a:pt x="76200" y="119062"/>
                </a:cubicBezTo>
                <a:cubicBezTo>
                  <a:pt x="52544" y="119062"/>
                  <a:pt x="33338" y="99856"/>
                  <a:pt x="33338" y="76200"/>
                </a:cubicBezTo>
                <a:cubicBezTo>
                  <a:pt x="33338" y="52544"/>
                  <a:pt x="52544" y="33338"/>
                  <a:pt x="76200" y="33338"/>
                </a:cubicBezTo>
                <a:close/>
                <a:moveTo>
                  <a:pt x="66675" y="76200"/>
                </a:moveTo>
                <a:cubicBezTo>
                  <a:pt x="66675" y="70943"/>
                  <a:pt x="70943" y="66675"/>
                  <a:pt x="76200" y="66675"/>
                </a:cubicBezTo>
                <a:cubicBezTo>
                  <a:pt x="81457" y="66675"/>
                  <a:pt x="85725" y="70943"/>
                  <a:pt x="85725" y="76200"/>
                </a:cubicBezTo>
                <a:cubicBezTo>
                  <a:pt x="85725" y="81457"/>
                  <a:pt x="81457" y="85725"/>
                  <a:pt x="76200" y="85725"/>
                </a:cubicBezTo>
                <a:cubicBezTo>
                  <a:pt x="70943" y="85725"/>
                  <a:pt x="66675" y="81457"/>
                  <a:pt x="66675" y="76200"/>
                </a:cubicBezTo>
                <a:close/>
              </a:path>
            </a:pathLst>
          </a:custGeom>
          <a:solidFill>
            <a:srgbClr val="00D9FF"/>
          </a:solidFill>
          <a:ln/>
        </p:spPr>
      </p:sp>
      <p:sp>
        <p:nvSpPr>
          <p:cNvPr id="39" name="Text 37"/>
          <p:cNvSpPr/>
          <p:nvPr/>
        </p:nvSpPr>
        <p:spPr>
          <a:xfrm>
            <a:off x="6908800" y="2946402"/>
            <a:ext cx="704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6EDF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Objective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6604000" y="3251202"/>
            <a:ext cx="4876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B94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Reduce dependency on single-source OLED panel suppliers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6448425" y="3756025"/>
            <a:ext cx="5121275" cy="1263650"/>
          </a:xfrm>
          <a:custGeom>
            <a:avLst/>
            <a:gdLst/>
            <a:ahLst/>
            <a:cxnLst/>
            <a:rect l="l" t="t" r="r" b="b"/>
            <a:pathLst>
              <a:path w="5121275" h="1263650">
                <a:moveTo>
                  <a:pt x="76198" y="0"/>
                </a:moveTo>
                <a:lnTo>
                  <a:pt x="5045077" y="0"/>
                </a:lnTo>
                <a:cubicBezTo>
                  <a:pt x="5087160" y="0"/>
                  <a:pt x="5121275" y="34115"/>
                  <a:pt x="5121275" y="76198"/>
                </a:cubicBezTo>
                <a:lnTo>
                  <a:pt x="5121275" y="1187452"/>
                </a:lnTo>
                <a:cubicBezTo>
                  <a:pt x="5121275" y="1229535"/>
                  <a:pt x="5087160" y="1263650"/>
                  <a:pt x="5045077" y="1263650"/>
                </a:cubicBezTo>
                <a:lnTo>
                  <a:pt x="76198" y="1263650"/>
                </a:lnTo>
                <a:cubicBezTo>
                  <a:pt x="34115" y="1263650"/>
                  <a:pt x="0" y="1229535"/>
                  <a:pt x="0" y="1187452"/>
                </a:cubicBezTo>
                <a:lnTo>
                  <a:pt x="0" y="76198"/>
                </a:lnTo>
                <a:cubicBezTo>
                  <a:pt x="0" y="34143"/>
                  <a:pt x="34143" y="0"/>
                  <a:pt x="76198" y="0"/>
                </a:cubicBezTo>
                <a:close/>
              </a:path>
            </a:pathLst>
          </a:custGeom>
          <a:solidFill>
            <a:srgbClr val="0D1117"/>
          </a:solidFill>
          <a:ln w="8467">
            <a:solidFill>
              <a:srgbClr val="21262D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604000" y="3949703"/>
            <a:ext cx="190500" cy="152400"/>
          </a:xfrm>
          <a:custGeom>
            <a:avLst/>
            <a:gdLst/>
            <a:ahLst/>
            <a:cxnLst/>
            <a:rect l="l" t="t" r="r" b="b"/>
            <a:pathLst>
              <a:path w="190500" h="152400">
                <a:moveTo>
                  <a:pt x="123795" y="62657"/>
                </a:moveTo>
                <a:cubicBezTo>
                  <a:pt x="127427" y="61674"/>
                  <a:pt x="131237" y="63401"/>
                  <a:pt x="132874" y="66764"/>
                </a:cubicBezTo>
                <a:lnTo>
                  <a:pt x="138410" y="77956"/>
                </a:lnTo>
                <a:cubicBezTo>
                  <a:pt x="141476" y="78373"/>
                  <a:pt x="144482" y="79206"/>
                  <a:pt x="147310" y="80367"/>
                </a:cubicBezTo>
                <a:lnTo>
                  <a:pt x="157728" y="73432"/>
                </a:lnTo>
                <a:cubicBezTo>
                  <a:pt x="160853" y="71348"/>
                  <a:pt x="164991" y="71765"/>
                  <a:pt x="167640" y="74414"/>
                </a:cubicBezTo>
                <a:lnTo>
                  <a:pt x="173355" y="80129"/>
                </a:lnTo>
                <a:cubicBezTo>
                  <a:pt x="176004" y="82778"/>
                  <a:pt x="176421" y="86945"/>
                  <a:pt x="174337" y="90041"/>
                </a:cubicBezTo>
                <a:lnTo>
                  <a:pt x="167402" y="100429"/>
                </a:lnTo>
                <a:cubicBezTo>
                  <a:pt x="167967" y="101828"/>
                  <a:pt x="168473" y="103287"/>
                  <a:pt x="168890" y="104805"/>
                </a:cubicBezTo>
                <a:cubicBezTo>
                  <a:pt x="169307" y="106323"/>
                  <a:pt x="169575" y="107811"/>
                  <a:pt x="169783" y="109329"/>
                </a:cubicBezTo>
                <a:lnTo>
                  <a:pt x="181005" y="114866"/>
                </a:lnTo>
                <a:cubicBezTo>
                  <a:pt x="184368" y="116532"/>
                  <a:pt x="186095" y="120342"/>
                  <a:pt x="185112" y="123944"/>
                </a:cubicBezTo>
                <a:lnTo>
                  <a:pt x="183029" y="131743"/>
                </a:lnTo>
                <a:cubicBezTo>
                  <a:pt x="182047" y="135344"/>
                  <a:pt x="178683" y="137785"/>
                  <a:pt x="174933" y="137547"/>
                </a:cubicBezTo>
                <a:lnTo>
                  <a:pt x="162431" y="136743"/>
                </a:lnTo>
                <a:cubicBezTo>
                  <a:pt x="160556" y="139154"/>
                  <a:pt x="158383" y="141387"/>
                  <a:pt x="155912" y="143292"/>
                </a:cubicBezTo>
                <a:lnTo>
                  <a:pt x="156716" y="155764"/>
                </a:lnTo>
                <a:cubicBezTo>
                  <a:pt x="156954" y="159514"/>
                  <a:pt x="154513" y="162907"/>
                  <a:pt x="150912" y="163860"/>
                </a:cubicBezTo>
                <a:lnTo>
                  <a:pt x="143113" y="165943"/>
                </a:lnTo>
                <a:cubicBezTo>
                  <a:pt x="139482" y="166926"/>
                  <a:pt x="135701" y="165199"/>
                  <a:pt x="134035" y="161836"/>
                </a:cubicBezTo>
                <a:lnTo>
                  <a:pt x="128498" y="150644"/>
                </a:lnTo>
                <a:cubicBezTo>
                  <a:pt x="125432" y="150227"/>
                  <a:pt x="122426" y="149394"/>
                  <a:pt x="119598" y="148233"/>
                </a:cubicBezTo>
                <a:lnTo>
                  <a:pt x="109180" y="155168"/>
                </a:lnTo>
                <a:cubicBezTo>
                  <a:pt x="106055" y="157252"/>
                  <a:pt x="101918" y="156835"/>
                  <a:pt x="99268" y="154186"/>
                </a:cubicBezTo>
                <a:lnTo>
                  <a:pt x="93553" y="148471"/>
                </a:lnTo>
                <a:cubicBezTo>
                  <a:pt x="90904" y="145822"/>
                  <a:pt x="90488" y="141684"/>
                  <a:pt x="92571" y="138559"/>
                </a:cubicBezTo>
                <a:lnTo>
                  <a:pt x="99506" y="128141"/>
                </a:lnTo>
                <a:cubicBezTo>
                  <a:pt x="98941" y="126742"/>
                  <a:pt x="98435" y="125284"/>
                  <a:pt x="98018" y="123765"/>
                </a:cubicBezTo>
                <a:cubicBezTo>
                  <a:pt x="97601" y="122247"/>
                  <a:pt x="97334" y="120729"/>
                  <a:pt x="97125" y="119241"/>
                </a:cubicBezTo>
                <a:lnTo>
                  <a:pt x="85904" y="113705"/>
                </a:lnTo>
                <a:cubicBezTo>
                  <a:pt x="82540" y="112038"/>
                  <a:pt x="80843" y="108228"/>
                  <a:pt x="81796" y="104626"/>
                </a:cubicBezTo>
                <a:lnTo>
                  <a:pt x="83880" y="96828"/>
                </a:lnTo>
                <a:cubicBezTo>
                  <a:pt x="84862" y="93226"/>
                  <a:pt x="88225" y="90785"/>
                  <a:pt x="91976" y="91023"/>
                </a:cubicBezTo>
                <a:lnTo>
                  <a:pt x="104448" y="91827"/>
                </a:lnTo>
                <a:cubicBezTo>
                  <a:pt x="106323" y="89416"/>
                  <a:pt x="108496" y="87184"/>
                  <a:pt x="110966" y="85279"/>
                </a:cubicBezTo>
                <a:lnTo>
                  <a:pt x="110163" y="72836"/>
                </a:lnTo>
                <a:cubicBezTo>
                  <a:pt x="109924" y="69086"/>
                  <a:pt x="112365" y="65693"/>
                  <a:pt x="115967" y="64740"/>
                </a:cubicBezTo>
                <a:lnTo>
                  <a:pt x="123765" y="62657"/>
                </a:lnTo>
                <a:close/>
                <a:moveTo>
                  <a:pt x="133469" y="101203"/>
                </a:moveTo>
                <a:cubicBezTo>
                  <a:pt x="126241" y="101211"/>
                  <a:pt x="120379" y="107087"/>
                  <a:pt x="120387" y="114315"/>
                </a:cubicBezTo>
                <a:cubicBezTo>
                  <a:pt x="120395" y="121543"/>
                  <a:pt x="126270" y="127405"/>
                  <a:pt x="133499" y="127397"/>
                </a:cubicBezTo>
                <a:cubicBezTo>
                  <a:pt x="140727" y="127389"/>
                  <a:pt x="146589" y="121513"/>
                  <a:pt x="146581" y="114285"/>
                </a:cubicBezTo>
                <a:cubicBezTo>
                  <a:pt x="146573" y="107057"/>
                  <a:pt x="140697" y="101195"/>
                  <a:pt x="133469" y="101203"/>
                </a:cubicBezTo>
                <a:close/>
                <a:moveTo>
                  <a:pt x="66943" y="-13543"/>
                </a:moveTo>
                <a:lnTo>
                  <a:pt x="74741" y="-11460"/>
                </a:lnTo>
                <a:cubicBezTo>
                  <a:pt x="78343" y="-10477"/>
                  <a:pt x="80784" y="-7084"/>
                  <a:pt x="80546" y="-3364"/>
                </a:cubicBezTo>
                <a:lnTo>
                  <a:pt x="79742" y="9079"/>
                </a:lnTo>
                <a:cubicBezTo>
                  <a:pt x="82213" y="10984"/>
                  <a:pt x="84386" y="13186"/>
                  <a:pt x="86261" y="15627"/>
                </a:cubicBezTo>
                <a:lnTo>
                  <a:pt x="98762" y="14823"/>
                </a:lnTo>
                <a:cubicBezTo>
                  <a:pt x="102483" y="14585"/>
                  <a:pt x="105876" y="17026"/>
                  <a:pt x="106859" y="20628"/>
                </a:cubicBezTo>
                <a:lnTo>
                  <a:pt x="108942" y="28426"/>
                </a:lnTo>
                <a:cubicBezTo>
                  <a:pt x="109895" y="32028"/>
                  <a:pt x="108198" y="35838"/>
                  <a:pt x="104835" y="37505"/>
                </a:cubicBezTo>
                <a:lnTo>
                  <a:pt x="93613" y="43041"/>
                </a:lnTo>
                <a:cubicBezTo>
                  <a:pt x="93405" y="44559"/>
                  <a:pt x="93107" y="46077"/>
                  <a:pt x="92720" y="47565"/>
                </a:cubicBezTo>
                <a:cubicBezTo>
                  <a:pt x="92333" y="49054"/>
                  <a:pt x="91797" y="50542"/>
                  <a:pt x="91232" y="51941"/>
                </a:cubicBezTo>
                <a:lnTo>
                  <a:pt x="98167" y="62359"/>
                </a:lnTo>
                <a:cubicBezTo>
                  <a:pt x="100251" y="65484"/>
                  <a:pt x="99834" y="69622"/>
                  <a:pt x="97185" y="72271"/>
                </a:cubicBezTo>
                <a:lnTo>
                  <a:pt x="91470" y="77986"/>
                </a:lnTo>
                <a:cubicBezTo>
                  <a:pt x="88821" y="80635"/>
                  <a:pt x="84683" y="81052"/>
                  <a:pt x="81558" y="78968"/>
                </a:cubicBezTo>
                <a:lnTo>
                  <a:pt x="71140" y="72033"/>
                </a:lnTo>
                <a:cubicBezTo>
                  <a:pt x="68312" y="73194"/>
                  <a:pt x="65306" y="74027"/>
                  <a:pt x="62240" y="74444"/>
                </a:cubicBezTo>
                <a:lnTo>
                  <a:pt x="56704" y="85636"/>
                </a:lnTo>
                <a:cubicBezTo>
                  <a:pt x="55037" y="88999"/>
                  <a:pt x="51227" y="90696"/>
                  <a:pt x="47625" y="89743"/>
                </a:cubicBezTo>
                <a:lnTo>
                  <a:pt x="39826" y="87660"/>
                </a:lnTo>
                <a:cubicBezTo>
                  <a:pt x="36195" y="86678"/>
                  <a:pt x="33784" y="83284"/>
                  <a:pt x="34022" y="79564"/>
                </a:cubicBezTo>
                <a:lnTo>
                  <a:pt x="34826" y="67092"/>
                </a:lnTo>
                <a:cubicBezTo>
                  <a:pt x="32355" y="65187"/>
                  <a:pt x="30182" y="62984"/>
                  <a:pt x="28307" y="60543"/>
                </a:cubicBezTo>
                <a:lnTo>
                  <a:pt x="15806" y="61347"/>
                </a:lnTo>
                <a:cubicBezTo>
                  <a:pt x="12085" y="61585"/>
                  <a:pt x="8692" y="59144"/>
                  <a:pt x="7709" y="55543"/>
                </a:cubicBezTo>
                <a:lnTo>
                  <a:pt x="5626" y="47744"/>
                </a:lnTo>
                <a:cubicBezTo>
                  <a:pt x="4673" y="44142"/>
                  <a:pt x="6370" y="40332"/>
                  <a:pt x="9733" y="38666"/>
                </a:cubicBezTo>
                <a:lnTo>
                  <a:pt x="20955" y="33129"/>
                </a:lnTo>
                <a:cubicBezTo>
                  <a:pt x="21163" y="31611"/>
                  <a:pt x="21461" y="30123"/>
                  <a:pt x="21848" y="28605"/>
                </a:cubicBezTo>
                <a:cubicBezTo>
                  <a:pt x="22265" y="27087"/>
                  <a:pt x="22741" y="25628"/>
                  <a:pt x="23336" y="24229"/>
                </a:cubicBezTo>
                <a:lnTo>
                  <a:pt x="16401" y="13841"/>
                </a:lnTo>
                <a:cubicBezTo>
                  <a:pt x="14317" y="10716"/>
                  <a:pt x="14734" y="6578"/>
                  <a:pt x="17383" y="3929"/>
                </a:cubicBezTo>
                <a:lnTo>
                  <a:pt x="23098" y="-1786"/>
                </a:lnTo>
                <a:cubicBezTo>
                  <a:pt x="25747" y="-4435"/>
                  <a:pt x="29885" y="-4852"/>
                  <a:pt x="33010" y="-2768"/>
                </a:cubicBezTo>
                <a:lnTo>
                  <a:pt x="43428" y="4167"/>
                </a:lnTo>
                <a:cubicBezTo>
                  <a:pt x="46256" y="3006"/>
                  <a:pt x="49262" y="2173"/>
                  <a:pt x="52328" y="1756"/>
                </a:cubicBezTo>
                <a:lnTo>
                  <a:pt x="57864" y="-9436"/>
                </a:lnTo>
                <a:cubicBezTo>
                  <a:pt x="59531" y="-12799"/>
                  <a:pt x="63311" y="-14496"/>
                  <a:pt x="66943" y="-13543"/>
                </a:cubicBezTo>
                <a:close/>
                <a:moveTo>
                  <a:pt x="57269" y="25003"/>
                </a:moveTo>
                <a:cubicBezTo>
                  <a:pt x="50041" y="25003"/>
                  <a:pt x="44172" y="30872"/>
                  <a:pt x="44172" y="38100"/>
                </a:cubicBezTo>
                <a:cubicBezTo>
                  <a:pt x="44172" y="45328"/>
                  <a:pt x="50041" y="51197"/>
                  <a:pt x="57269" y="51197"/>
                </a:cubicBezTo>
                <a:cubicBezTo>
                  <a:pt x="64497" y="51197"/>
                  <a:pt x="70366" y="45328"/>
                  <a:pt x="70366" y="38100"/>
                </a:cubicBezTo>
                <a:cubicBezTo>
                  <a:pt x="70366" y="30872"/>
                  <a:pt x="64497" y="25003"/>
                  <a:pt x="57269" y="25003"/>
                </a:cubicBezTo>
                <a:close/>
              </a:path>
            </a:pathLst>
          </a:custGeom>
          <a:solidFill>
            <a:srgbClr val="58A6FF"/>
          </a:solidFill>
          <a:ln/>
        </p:spPr>
      </p:sp>
      <p:sp>
        <p:nvSpPr>
          <p:cNvPr id="43" name="Text 41"/>
          <p:cNvSpPr/>
          <p:nvPr/>
        </p:nvSpPr>
        <p:spPr>
          <a:xfrm>
            <a:off x="6908800" y="3911603"/>
            <a:ext cx="11144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6EDF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Implementation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6625432" y="4254503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97066" y="15649"/>
                </a:moveTo>
                <a:cubicBezTo>
                  <a:pt x="100258" y="17971"/>
                  <a:pt x="100972" y="22436"/>
                  <a:pt x="98651" y="25628"/>
                </a:cubicBezTo>
                <a:lnTo>
                  <a:pt x="41501" y="104209"/>
                </a:lnTo>
                <a:cubicBezTo>
                  <a:pt x="40273" y="105906"/>
                  <a:pt x="38375" y="106955"/>
                  <a:pt x="36277" y="107134"/>
                </a:cubicBezTo>
                <a:cubicBezTo>
                  <a:pt x="34178" y="107313"/>
                  <a:pt x="32147" y="106531"/>
                  <a:pt x="30673" y="105058"/>
                </a:cubicBezTo>
                <a:lnTo>
                  <a:pt x="2098" y="76483"/>
                </a:lnTo>
                <a:cubicBezTo>
                  <a:pt x="-692" y="73692"/>
                  <a:pt x="-692" y="69160"/>
                  <a:pt x="2098" y="66370"/>
                </a:cubicBezTo>
                <a:cubicBezTo>
                  <a:pt x="4889" y="63579"/>
                  <a:pt x="9421" y="63579"/>
                  <a:pt x="12211" y="66370"/>
                </a:cubicBezTo>
                <a:lnTo>
                  <a:pt x="34870" y="89029"/>
                </a:lnTo>
                <a:lnTo>
                  <a:pt x="87109" y="17212"/>
                </a:lnTo>
                <a:cubicBezTo>
                  <a:pt x="89431" y="14020"/>
                  <a:pt x="93896" y="13305"/>
                  <a:pt x="97088" y="15627"/>
                </a:cubicBezTo>
                <a:close/>
              </a:path>
            </a:pathLst>
          </a:custGeom>
          <a:solidFill>
            <a:srgbClr val="58A6FF"/>
          </a:solidFill>
          <a:ln/>
        </p:spPr>
      </p:sp>
      <p:sp>
        <p:nvSpPr>
          <p:cNvPr id="45" name="Text 43"/>
          <p:cNvSpPr/>
          <p:nvPr/>
        </p:nvSpPr>
        <p:spPr>
          <a:xfrm>
            <a:off x="6823075" y="4216403"/>
            <a:ext cx="3190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B94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Onboard 2 additional OLED suppliers (China, Vietnam)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6625432" y="4483103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97066" y="15649"/>
                </a:moveTo>
                <a:cubicBezTo>
                  <a:pt x="100258" y="17971"/>
                  <a:pt x="100972" y="22436"/>
                  <a:pt x="98651" y="25628"/>
                </a:cubicBezTo>
                <a:lnTo>
                  <a:pt x="41501" y="104209"/>
                </a:lnTo>
                <a:cubicBezTo>
                  <a:pt x="40273" y="105906"/>
                  <a:pt x="38375" y="106955"/>
                  <a:pt x="36277" y="107134"/>
                </a:cubicBezTo>
                <a:cubicBezTo>
                  <a:pt x="34178" y="107313"/>
                  <a:pt x="32147" y="106531"/>
                  <a:pt x="30673" y="105058"/>
                </a:cubicBezTo>
                <a:lnTo>
                  <a:pt x="2098" y="76483"/>
                </a:lnTo>
                <a:cubicBezTo>
                  <a:pt x="-692" y="73692"/>
                  <a:pt x="-692" y="69160"/>
                  <a:pt x="2098" y="66370"/>
                </a:cubicBezTo>
                <a:cubicBezTo>
                  <a:pt x="4889" y="63579"/>
                  <a:pt x="9421" y="63579"/>
                  <a:pt x="12211" y="66370"/>
                </a:cubicBezTo>
                <a:lnTo>
                  <a:pt x="34870" y="89029"/>
                </a:lnTo>
                <a:lnTo>
                  <a:pt x="87109" y="17212"/>
                </a:lnTo>
                <a:cubicBezTo>
                  <a:pt x="89431" y="14020"/>
                  <a:pt x="93896" y="13305"/>
                  <a:pt x="97088" y="15627"/>
                </a:cubicBezTo>
                <a:close/>
              </a:path>
            </a:pathLst>
          </a:custGeom>
          <a:solidFill>
            <a:srgbClr val="58A6FF"/>
          </a:solidFill>
          <a:ln/>
        </p:spPr>
      </p:sp>
      <p:sp>
        <p:nvSpPr>
          <p:cNvPr id="47" name="Text 45"/>
          <p:cNvSpPr/>
          <p:nvPr/>
        </p:nvSpPr>
        <p:spPr>
          <a:xfrm>
            <a:off x="6823075" y="4445003"/>
            <a:ext cx="31527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B94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Establish 70-30 split between primary and secondary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6625432" y="4711703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97066" y="15649"/>
                </a:moveTo>
                <a:cubicBezTo>
                  <a:pt x="100258" y="17971"/>
                  <a:pt x="100972" y="22436"/>
                  <a:pt x="98651" y="25628"/>
                </a:cubicBezTo>
                <a:lnTo>
                  <a:pt x="41501" y="104209"/>
                </a:lnTo>
                <a:cubicBezTo>
                  <a:pt x="40273" y="105906"/>
                  <a:pt x="38375" y="106955"/>
                  <a:pt x="36277" y="107134"/>
                </a:cubicBezTo>
                <a:cubicBezTo>
                  <a:pt x="34178" y="107313"/>
                  <a:pt x="32147" y="106531"/>
                  <a:pt x="30673" y="105058"/>
                </a:cubicBezTo>
                <a:lnTo>
                  <a:pt x="2098" y="76483"/>
                </a:lnTo>
                <a:cubicBezTo>
                  <a:pt x="-692" y="73692"/>
                  <a:pt x="-692" y="69160"/>
                  <a:pt x="2098" y="66370"/>
                </a:cubicBezTo>
                <a:cubicBezTo>
                  <a:pt x="4889" y="63579"/>
                  <a:pt x="9421" y="63579"/>
                  <a:pt x="12211" y="66370"/>
                </a:cubicBezTo>
                <a:lnTo>
                  <a:pt x="34870" y="89029"/>
                </a:lnTo>
                <a:lnTo>
                  <a:pt x="87109" y="17212"/>
                </a:lnTo>
                <a:cubicBezTo>
                  <a:pt x="89431" y="14020"/>
                  <a:pt x="93896" y="13305"/>
                  <a:pt x="97088" y="15627"/>
                </a:cubicBezTo>
                <a:close/>
              </a:path>
            </a:pathLst>
          </a:custGeom>
          <a:solidFill>
            <a:srgbClr val="58A6FF"/>
          </a:solidFill>
          <a:ln/>
        </p:spPr>
      </p:sp>
      <p:sp>
        <p:nvSpPr>
          <p:cNvPr id="49" name="Text 47"/>
          <p:cNvSpPr/>
          <p:nvPr/>
        </p:nvSpPr>
        <p:spPr>
          <a:xfrm>
            <a:off x="6823075" y="4673603"/>
            <a:ext cx="34861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B94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Implement dynamic supplier switching based on lead times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6448425" y="5178427"/>
            <a:ext cx="5121275" cy="654050"/>
          </a:xfrm>
          <a:custGeom>
            <a:avLst/>
            <a:gdLst/>
            <a:ahLst/>
            <a:cxnLst/>
            <a:rect l="l" t="t" r="r" b="b"/>
            <a:pathLst>
              <a:path w="5121275" h="654050">
                <a:moveTo>
                  <a:pt x="76197" y="0"/>
                </a:moveTo>
                <a:lnTo>
                  <a:pt x="5045078" y="0"/>
                </a:lnTo>
                <a:cubicBezTo>
                  <a:pt x="5087161" y="0"/>
                  <a:pt x="5121275" y="34114"/>
                  <a:pt x="5121275" y="76197"/>
                </a:cubicBezTo>
                <a:lnTo>
                  <a:pt x="5121275" y="577853"/>
                </a:lnTo>
                <a:cubicBezTo>
                  <a:pt x="5121275" y="619936"/>
                  <a:pt x="5087161" y="654050"/>
                  <a:pt x="5045078" y="654050"/>
                </a:cubicBezTo>
                <a:lnTo>
                  <a:pt x="76197" y="654050"/>
                </a:lnTo>
                <a:cubicBezTo>
                  <a:pt x="34114" y="654050"/>
                  <a:pt x="0" y="619936"/>
                  <a:pt x="0" y="577853"/>
                </a:cubicBezTo>
                <a:lnTo>
                  <a:pt x="0" y="76197"/>
                </a:lnTo>
                <a:cubicBezTo>
                  <a:pt x="0" y="34143"/>
                  <a:pt x="34143" y="0"/>
                  <a:pt x="76197" y="0"/>
                </a:cubicBezTo>
                <a:close/>
              </a:path>
            </a:pathLst>
          </a:custGeom>
          <a:gradFill flip="none" rotWithShape="1">
            <a:gsLst>
              <a:gs pos="0">
                <a:srgbClr val="00D9FF">
                  <a:alpha val="10000"/>
                </a:srgbClr>
              </a:gs>
              <a:gs pos="100000">
                <a:srgbClr val="58A6FF">
                  <a:alpha val="10000"/>
                </a:srgbClr>
              </a:gs>
            </a:gsLst>
            <a:lin ang="0" scaled="1"/>
          </a:gradFill>
          <a:ln w="8467">
            <a:solidFill>
              <a:srgbClr val="00D9FF">
                <a:alpha val="30196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627813" y="54102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0"/>
                </a:moveTo>
                <a:cubicBezTo>
                  <a:pt x="96962" y="0"/>
                  <a:pt x="98673" y="372"/>
                  <a:pt x="100236" y="1079"/>
                </a:cubicBezTo>
                <a:lnTo>
                  <a:pt x="170334" y="30807"/>
                </a:lnTo>
                <a:cubicBezTo>
                  <a:pt x="178519" y="34268"/>
                  <a:pt x="184621" y="42342"/>
                  <a:pt x="184584" y="52090"/>
                </a:cubicBezTo>
                <a:cubicBezTo>
                  <a:pt x="184398" y="88999"/>
                  <a:pt x="169218" y="156530"/>
                  <a:pt x="105110" y="187226"/>
                </a:cubicBezTo>
                <a:cubicBezTo>
                  <a:pt x="98896" y="190202"/>
                  <a:pt x="91678" y="190202"/>
                  <a:pt x="85465" y="187226"/>
                </a:cubicBezTo>
                <a:cubicBezTo>
                  <a:pt x="21320" y="156530"/>
                  <a:pt x="6176" y="88999"/>
                  <a:pt x="5990" y="52090"/>
                </a:cubicBezTo>
                <a:cubicBezTo>
                  <a:pt x="5953" y="42342"/>
                  <a:pt x="12055" y="34268"/>
                  <a:pt x="20241" y="30807"/>
                </a:cubicBezTo>
                <a:lnTo>
                  <a:pt x="90301" y="1079"/>
                </a:lnTo>
                <a:cubicBezTo>
                  <a:pt x="91864" y="372"/>
                  <a:pt x="93538" y="0"/>
                  <a:pt x="95250" y="0"/>
                </a:cubicBezTo>
                <a:close/>
                <a:moveTo>
                  <a:pt x="95250" y="24854"/>
                </a:moveTo>
                <a:lnTo>
                  <a:pt x="95250" y="165534"/>
                </a:lnTo>
                <a:cubicBezTo>
                  <a:pt x="146596" y="140680"/>
                  <a:pt x="160400" y="85613"/>
                  <a:pt x="160734" y="52648"/>
                </a:cubicBezTo>
                <a:lnTo>
                  <a:pt x="95250" y="24892"/>
                </a:lnTo>
                <a:lnTo>
                  <a:pt x="95250" y="24892"/>
                </a:lnTo>
                <a:close/>
              </a:path>
            </a:pathLst>
          </a:custGeom>
          <a:solidFill>
            <a:srgbClr val="58A6FF"/>
          </a:solidFill>
          <a:ln/>
        </p:spPr>
      </p:sp>
      <p:sp>
        <p:nvSpPr>
          <p:cNvPr id="52" name="Text 50"/>
          <p:cNvSpPr/>
          <p:nvPr/>
        </p:nvSpPr>
        <p:spPr>
          <a:xfrm>
            <a:off x="6956425" y="5334000"/>
            <a:ext cx="38957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6EDF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Expected Impact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6956425" y="5524500"/>
            <a:ext cx="3886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8B94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Reduce supply risk by 60% • Improve negotiation leverage • Ensure continuity</a:t>
            </a:r>
            <a:endParaRPr lang="en-US" sz="1600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058E8A23-8311-54FC-BDC5-A1CDC8572B1B}"/>
              </a:ext>
            </a:extLst>
          </p:cNvPr>
          <p:cNvSpPr txBox="1"/>
          <p:nvPr/>
        </p:nvSpPr>
        <p:spPr>
          <a:xfrm>
            <a:off x="9575264" y="161925"/>
            <a:ext cx="26161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ssharma9663@gmail.com</a:t>
            </a:r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8100" cy="304800"/>
          </a:xfrm>
          <a:custGeom>
            <a:avLst/>
            <a:gdLst/>
            <a:ahLst/>
            <a:cxnLst/>
            <a:rect l="l" t="t" r="r" b="b"/>
            <a:pathLst>
              <a:path w="38100" h="304800">
                <a:moveTo>
                  <a:pt x="19050" y="0"/>
                </a:moveTo>
                <a:lnTo>
                  <a:pt x="19050" y="0"/>
                </a:lnTo>
                <a:cubicBezTo>
                  <a:pt x="29564" y="0"/>
                  <a:pt x="38100" y="8536"/>
                  <a:pt x="38100" y="19050"/>
                </a:cubicBezTo>
                <a:lnTo>
                  <a:pt x="38100" y="285750"/>
                </a:lnTo>
                <a:cubicBezTo>
                  <a:pt x="38100" y="296264"/>
                  <a:pt x="29564" y="304800"/>
                  <a:pt x="19050" y="304800"/>
                </a:cubicBezTo>
                <a:lnTo>
                  <a:pt x="19050" y="304800"/>
                </a:lnTo>
                <a:cubicBezTo>
                  <a:pt x="8536" y="304800"/>
                  <a:pt x="0" y="296264"/>
                  <a:pt x="0" y="285750"/>
                </a:cubicBezTo>
                <a:lnTo>
                  <a:pt x="0" y="19050"/>
                </a:lnTo>
                <a:cubicBezTo>
                  <a:pt x="0" y="8536"/>
                  <a:pt x="8536" y="0"/>
                  <a:pt x="19050" y="0"/>
                </a:cubicBezTo>
                <a:close/>
              </a:path>
            </a:pathLst>
          </a:custGeom>
          <a:gradFill flip="none" rotWithShape="1">
            <a:gsLst>
              <a:gs pos="0">
                <a:srgbClr val="58A6FF"/>
              </a:gs>
              <a:gs pos="0">
                <a:srgbClr val="FFFFFF"/>
              </a:gs>
              <a:gs pos="100000">
                <a:srgbClr val="00D9FF"/>
              </a:gs>
            </a:gsLst>
            <a:lin ang="5400000" scaled="1"/>
          </a:gradFill>
          <a:ln/>
        </p:spPr>
      </p:sp>
      <p:sp>
        <p:nvSpPr>
          <p:cNvPr id="3" name="Text 1"/>
          <p:cNvSpPr/>
          <p:nvPr/>
        </p:nvSpPr>
        <p:spPr>
          <a:xfrm>
            <a:off x="533400" y="438150"/>
            <a:ext cx="1219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kern="0" spc="210" dirty="0">
                <a:solidFill>
                  <a:srgbClr val="58A6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Action Plan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7620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E6EDF3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Strategic Recommendations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81000" y="1295400"/>
            <a:ext cx="11515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8B94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Part 2: Revenue Optimization &amp; Logistics Excellence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84175" y="1755775"/>
            <a:ext cx="5597525" cy="4721225"/>
          </a:xfrm>
          <a:custGeom>
            <a:avLst/>
            <a:gdLst/>
            <a:ahLst/>
            <a:cxnLst/>
            <a:rect l="l" t="t" r="r" b="b"/>
            <a:pathLst>
              <a:path w="5597525" h="4721225">
                <a:moveTo>
                  <a:pt x="152401" y="0"/>
                </a:moveTo>
                <a:lnTo>
                  <a:pt x="5445124" y="0"/>
                </a:lnTo>
                <a:cubicBezTo>
                  <a:pt x="5529293" y="0"/>
                  <a:pt x="5597525" y="68232"/>
                  <a:pt x="5597525" y="152401"/>
                </a:cubicBezTo>
                <a:lnTo>
                  <a:pt x="5597525" y="4568824"/>
                </a:lnTo>
                <a:cubicBezTo>
                  <a:pt x="5597525" y="4652993"/>
                  <a:pt x="5529293" y="4721225"/>
                  <a:pt x="5445124" y="4721225"/>
                </a:cubicBezTo>
                <a:lnTo>
                  <a:pt x="152401" y="4721225"/>
                </a:lnTo>
                <a:cubicBezTo>
                  <a:pt x="68232" y="4721225"/>
                  <a:pt x="0" y="4652993"/>
                  <a:pt x="0" y="4568824"/>
                </a:cubicBezTo>
                <a:lnTo>
                  <a:pt x="0" y="152401"/>
                </a:lnTo>
                <a:cubicBezTo>
                  <a:pt x="0" y="68289"/>
                  <a:pt x="68289" y="0"/>
                  <a:pt x="152401" y="0"/>
                </a:cubicBezTo>
                <a:close/>
              </a:path>
            </a:pathLst>
          </a:custGeom>
          <a:gradFill flip="none" rotWithShape="1">
            <a:gsLst>
              <a:gs pos="0">
                <a:srgbClr val="161B22"/>
              </a:gs>
              <a:gs pos="100000">
                <a:srgbClr val="0D1117"/>
              </a:gs>
            </a:gsLst>
            <a:lin ang="2700000" scaled="1"/>
          </a:gradFill>
          <a:ln w="8467">
            <a:solidFill>
              <a:srgbClr val="58A6FF">
                <a:alpha val="50196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15950" y="1987553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14300" y="0"/>
                </a:moveTo>
                <a:lnTo>
                  <a:pt x="495300" y="0"/>
                </a:lnTo>
                <a:cubicBezTo>
                  <a:pt x="558384" y="0"/>
                  <a:pt x="609600" y="51216"/>
                  <a:pt x="609600" y="114300"/>
                </a:cubicBezTo>
                <a:lnTo>
                  <a:pt x="609600" y="495300"/>
                </a:lnTo>
                <a:cubicBezTo>
                  <a:pt x="609600" y="558384"/>
                  <a:pt x="558384" y="609600"/>
                  <a:pt x="495300" y="609600"/>
                </a:cubicBezTo>
                <a:lnTo>
                  <a:pt x="114300" y="609600"/>
                </a:lnTo>
                <a:cubicBezTo>
                  <a:pt x="51216" y="609600"/>
                  <a:pt x="0" y="558384"/>
                  <a:pt x="0" y="495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gradFill flip="none" rotWithShape="1">
            <a:gsLst>
              <a:gs pos="0">
                <a:srgbClr val="58A6FF"/>
              </a:gs>
              <a:gs pos="100000">
                <a:srgbClr val="00D9FF"/>
              </a:gs>
            </a:gsLst>
            <a:lin ang="2700000" scaled="1"/>
          </a:gradFill>
          <a:ln/>
        </p:spPr>
      </p:sp>
      <p:sp>
        <p:nvSpPr>
          <p:cNvPr id="8" name="Shape 6"/>
          <p:cNvSpPr/>
          <p:nvPr/>
        </p:nvSpPr>
        <p:spPr>
          <a:xfrm>
            <a:off x="762397" y="2149478"/>
            <a:ext cx="321469" cy="285750"/>
          </a:xfrm>
          <a:custGeom>
            <a:avLst/>
            <a:gdLst/>
            <a:ahLst/>
            <a:cxnLst/>
            <a:rect l="l" t="t" r="r" b="b"/>
            <a:pathLst>
              <a:path w="321469" h="285750">
                <a:moveTo>
                  <a:pt x="223912" y="21822"/>
                </a:moveTo>
                <a:lnTo>
                  <a:pt x="306623" y="105705"/>
                </a:lnTo>
                <a:cubicBezTo>
                  <a:pt x="322083" y="121388"/>
                  <a:pt x="322083" y="146503"/>
                  <a:pt x="306623" y="162185"/>
                </a:cubicBezTo>
                <a:lnTo>
                  <a:pt x="219335" y="250534"/>
                </a:lnTo>
                <a:cubicBezTo>
                  <a:pt x="214145" y="255780"/>
                  <a:pt x="205662" y="255836"/>
                  <a:pt x="200416" y="250645"/>
                </a:cubicBezTo>
                <a:cubicBezTo>
                  <a:pt x="195169" y="245455"/>
                  <a:pt x="195114" y="236972"/>
                  <a:pt x="200304" y="231725"/>
                </a:cubicBezTo>
                <a:lnTo>
                  <a:pt x="287592" y="143321"/>
                </a:lnTo>
                <a:cubicBezTo>
                  <a:pt x="292726" y="138131"/>
                  <a:pt x="292726" y="129704"/>
                  <a:pt x="287592" y="124513"/>
                </a:cubicBezTo>
                <a:lnTo>
                  <a:pt x="204825" y="40686"/>
                </a:lnTo>
                <a:cubicBezTo>
                  <a:pt x="199634" y="35440"/>
                  <a:pt x="199690" y="26956"/>
                  <a:pt x="204936" y="21766"/>
                </a:cubicBezTo>
                <a:cubicBezTo>
                  <a:pt x="210183" y="16576"/>
                  <a:pt x="218666" y="16632"/>
                  <a:pt x="223856" y="21878"/>
                </a:cubicBezTo>
                <a:close/>
                <a:moveTo>
                  <a:pt x="17915" y="128085"/>
                </a:moveTo>
                <a:lnTo>
                  <a:pt x="17915" y="53578"/>
                </a:lnTo>
                <a:cubicBezTo>
                  <a:pt x="17915" y="33877"/>
                  <a:pt x="33933" y="17859"/>
                  <a:pt x="53634" y="17859"/>
                </a:cubicBezTo>
                <a:lnTo>
                  <a:pt x="128141" y="17859"/>
                </a:lnTo>
                <a:cubicBezTo>
                  <a:pt x="137629" y="17859"/>
                  <a:pt x="146726" y="21599"/>
                  <a:pt x="153423" y="28296"/>
                </a:cubicBezTo>
                <a:lnTo>
                  <a:pt x="233790" y="108663"/>
                </a:lnTo>
                <a:cubicBezTo>
                  <a:pt x="247743" y="122616"/>
                  <a:pt x="247743" y="145219"/>
                  <a:pt x="233790" y="159172"/>
                </a:cubicBezTo>
                <a:lnTo>
                  <a:pt x="159283" y="233679"/>
                </a:lnTo>
                <a:cubicBezTo>
                  <a:pt x="145331" y="247631"/>
                  <a:pt x="122727" y="247631"/>
                  <a:pt x="108775" y="233679"/>
                </a:cubicBezTo>
                <a:lnTo>
                  <a:pt x="28408" y="153312"/>
                </a:lnTo>
                <a:cubicBezTo>
                  <a:pt x="21710" y="146614"/>
                  <a:pt x="17971" y="137517"/>
                  <a:pt x="17971" y="128029"/>
                </a:cubicBezTo>
                <a:close/>
                <a:moveTo>
                  <a:pt x="98282" y="80367"/>
                </a:moveTo>
                <a:cubicBezTo>
                  <a:pt x="98282" y="70510"/>
                  <a:pt x="90280" y="62508"/>
                  <a:pt x="80423" y="62508"/>
                </a:cubicBezTo>
                <a:cubicBezTo>
                  <a:pt x="70566" y="62508"/>
                  <a:pt x="62564" y="70510"/>
                  <a:pt x="62564" y="80367"/>
                </a:cubicBezTo>
                <a:cubicBezTo>
                  <a:pt x="62564" y="90224"/>
                  <a:pt x="70566" y="98227"/>
                  <a:pt x="80423" y="98227"/>
                </a:cubicBezTo>
                <a:cubicBezTo>
                  <a:pt x="90280" y="98227"/>
                  <a:pt x="98282" y="90224"/>
                  <a:pt x="98282" y="80367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1377950" y="1987553"/>
            <a:ext cx="704850" cy="228600"/>
          </a:xfrm>
          <a:custGeom>
            <a:avLst/>
            <a:gdLst/>
            <a:ahLst/>
            <a:cxnLst/>
            <a:rect l="l" t="t" r="r" b="b"/>
            <a:pathLst>
              <a:path w="704850" h="228600">
                <a:moveTo>
                  <a:pt x="114300" y="0"/>
                </a:moveTo>
                <a:lnTo>
                  <a:pt x="590550" y="0"/>
                </a:lnTo>
                <a:cubicBezTo>
                  <a:pt x="653634" y="0"/>
                  <a:pt x="704850" y="51216"/>
                  <a:pt x="704850" y="114300"/>
                </a:cubicBezTo>
                <a:lnTo>
                  <a:pt x="704850" y="114300"/>
                </a:lnTo>
                <a:cubicBezTo>
                  <a:pt x="704850" y="177384"/>
                  <a:pt x="653634" y="228600"/>
                  <a:pt x="590550" y="228600"/>
                </a:cubicBezTo>
                <a:lnTo>
                  <a:pt x="114300" y="228600"/>
                </a:lnTo>
                <a:cubicBezTo>
                  <a:pt x="51216" y="228600"/>
                  <a:pt x="0" y="177384"/>
                  <a:pt x="0" y="114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58A6FF">
              <a:alpha val="2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1377950" y="1987553"/>
            <a:ext cx="762000" cy="22860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58A6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REVENUE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162473" y="2025653"/>
            <a:ext cx="11811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00D9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Real-time Deployment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377950" y="2292353"/>
            <a:ext cx="44862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Dynamic Pricing Engine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19125" y="2790828"/>
            <a:ext cx="5121275" cy="806450"/>
          </a:xfrm>
          <a:custGeom>
            <a:avLst/>
            <a:gdLst/>
            <a:ahLst/>
            <a:cxnLst/>
            <a:rect l="l" t="t" r="r" b="b"/>
            <a:pathLst>
              <a:path w="5121275" h="806450">
                <a:moveTo>
                  <a:pt x="76201" y="0"/>
                </a:moveTo>
                <a:lnTo>
                  <a:pt x="5045074" y="0"/>
                </a:lnTo>
                <a:cubicBezTo>
                  <a:pt x="5087158" y="0"/>
                  <a:pt x="5121275" y="34117"/>
                  <a:pt x="5121275" y="76201"/>
                </a:cubicBezTo>
                <a:lnTo>
                  <a:pt x="5121275" y="730249"/>
                </a:lnTo>
                <a:cubicBezTo>
                  <a:pt x="5121275" y="772333"/>
                  <a:pt x="5087158" y="806450"/>
                  <a:pt x="5045074" y="806450"/>
                </a:cubicBezTo>
                <a:lnTo>
                  <a:pt x="76201" y="806450"/>
                </a:lnTo>
                <a:cubicBezTo>
                  <a:pt x="34145" y="806450"/>
                  <a:pt x="0" y="772305"/>
                  <a:pt x="0" y="730249"/>
                </a:cubicBezTo>
                <a:lnTo>
                  <a:pt x="0" y="76201"/>
                </a:lnTo>
                <a:cubicBezTo>
                  <a:pt x="0" y="34145"/>
                  <a:pt x="34145" y="0"/>
                  <a:pt x="76201" y="0"/>
                </a:cubicBezTo>
                <a:close/>
              </a:path>
            </a:pathLst>
          </a:custGeom>
          <a:solidFill>
            <a:srgbClr val="0D1117"/>
          </a:solidFill>
          <a:ln w="8467">
            <a:solidFill>
              <a:srgbClr val="21262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93750" y="2984502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33350" y="76200"/>
                </a:moveTo>
                <a:cubicBezTo>
                  <a:pt x="133350" y="44658"/>
                  <a:pt x="107742" y="19050"/>
                  <a:pt x="76200" y="19050"/>
                </a:cubicBezTo>
                <a:cubicBezTo>
                  <a:pt x="44658" y="19050"/>
                  <a:pt x="19050" y="44658"/>
                  <a:pt x="19050" y="76200"/>
                </a:cubicBezTo>
                <a:cubicBezTo>
                  <a:pt x="19050" y="107742"/>
                  <a:pt x="44658" y="133350"/>
                  <a:pt x="76200" y="133350"/>
                </a:cubicBezTo>
                <a:cubicBezTo>
                  <a:pt x="107742" y="133350"/>
                  <a:pt x="133350" y="107742"/>
                  <a:pt x="133350" y="76200"/>
                </a:cubicBezTo>
                <a:close/>
                <a:moveTo>
                  <a:pt x="0" y="76200"/>
                </a:moveTo>
                <a:cubicBezTo>
                  <a:pt x="0" y="34144"/>
                  <a:pt x="34144" y="0"/>
                  <a:pt x="76200" y="0"/>
                </a:cubicBezTo>
                <a:cubicBezTo>
                  <a:pt x="118256" y="0"/>
                  <a:pt x="152400" y="34144"/>
                  <a:pt x="152400" y="76200"/>
                </a:cubicBezTo>
                <a:cubicBezTo>
                  <a:pt x="152400" y="118256"/>
                  <a:pt x="118256" y="152400"/>
                  <a:pt x="76200" y="152400"/>
                </a:cubicBezTo>
                <a:cubicBezTo>
                  <a:pt x="34144" y="152400"/>
                  <a:pt x="0" y="118256"/>
                  <a:pt x="0" y="76200"/>
                </a:cubicBezTo>
                <a:close/>
                <a:moveTo>
                  <a:pt x="76200" y="100013"/>
                </a:moveTo>
                <a:cubicBezTo>
                  <a:pt x="89342" y="100013"/>
                  <a:pt x="100013" y="89342"/>
                  <a:pt x="100013" y="76200"/>
                </a:cubicBezTo>
                <a:cubicBezTo>
                  <a:pt x="100013" y="63058"/>
                  <a:pt x="89342" y="52388"/>
                  <a:pt x="76200" y="52388"/>
                </a:cubicBezTo>
                <a:cubicBezTo>
                  <a:pt x="63058" y="52388"/>
                  <a:pt x="52388" y="63058"/>
                  <a:pt x="52388" y="76200"/>
                </a:cubicBezTo>
                <a:cubicBezTo>
                  <a:pt x="52388" y="89342"/>
                  <a:pt x="63058" y="100013"/>
                  <a:pt x="76200" y="100013"/>
                </a:cubicBezTo>
                <a:close/>
                <a:moveTo>
                  <a:pt x="76200" y="33338"/>
                </a:moveTo>
                <a:cubicBezTo>
                  <a:pt x="99856" y="33338"/>
                  <a:pt x="119062" y="52544"/>
                  <a:pt x="119062" y="76200"/>
                </a:cubicBezTo>
                <a:cubicBezTo>
                  <a:pt x="119062" y="99856"/>
                  <a:pt x="99856" y="119062"/>
                  <a:pt x="76200" y="119062"/>
                </a:cubicBezTo>
                <a:cubicBezTo>
                  <a:pt x="52544" y="119062"/>
                  <a:pt x="33338" y="99856"/>
                  <a:pt x="33338" y="76200"/>
                </a:cubicBezTo>
                <a:cubicBezTo>
                  <a:pt x="33338" y="52544"/>
                  <a:pt x="52544" y="33338"/>
                  <a:pt x="76200" y="33338"/>
                </a:cubicBezTo>
                <a:close/>
                <a:moveTo>
                  <a:pt x="66675" y="76200"/>
                </a:moveTo>
                <a:cubicBezTo>
                  <a:pt x="66675" y="70943"/>
                  <a:pt x="70943" y="66675"/>
                  <a:pt x="76200" y="66675"/>
                </a:cubicBezTo>
                <a:cubicBezTo>
                  <a:pt x="81457" y="66675"/>
                  <a:pt x="85725" y="70943"/>
                  <a:pt x="85725" y="76200"/>
                </a:cubicBezTo>
                <a:cubicBezTo>
                  <a:pt x="85725" y="81457"/>
                  <a:pt x="81457" y="85725"/>
                  <a:pt x="76200" y="85725"/>
                </a:cubicBezTo>
                <a:cubicBezTo>
                  <a:pt x="70943" y="85725"/>
                  <a:pt x="66675" y="81457"/>
                  <a:pt x="66675" y="76200"/>
                </a:cubicBezTo>
                <a:close/>
              </a:path>
            </a:pathLst>
          </a:custGeom>
          <a:solidFill>
            <a:srgbClr val="58A6FF"/>
          </a:solidFill>
          <a:ln/>
        </p:spPr>
      </p:sp>
      <p:sp>
        <p:nvSpPr>
          <p:cNvPr id="15" name="Text 13"/>
          <p:cNvSpPr/>
          <p:nvPr/>
        </p:nvSpPr>
        <p:spPr>
          <a:xfrm>
            <a:off x="1079500" y="2946402"/>
            <a:ext cx="704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6EDF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Objective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74700" y="3251202"/>
            <a:ext cx="4876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B94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Maximize revenue during Flipkart/Amazon sales events through data-driven pricing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19125" y="3756025"/>
            <a:ext cx="5121275" cy="1263650"/>
          </a:xfrm>
          <a:custGeom>
            <a:avLst/>
            <a:gdLst/>
            <a:ahLst/>
            <a:cxnLst/>
            <a:rect l="l" t="t" r="r" b="b"/>
            <a:pathLst>
              <a:path w="5121275" h="1263650">
                <a:moveTo>
                  <a:pt x="76198" y="0"/>
                </a:moveTo>
                <a:lnTo>
                  <a:pt x="5045077" y="0"/>
                </a:lnTo>
                <a:cubicBezTo>
                  <a:pt x="5087160" y="0"/>
                  <a:pt x="5121275" y="34115"/>
                  <a:pt x="5121275" y="76198"/>
                </a:cubicBezTo>
                <a:lnTo>
                  <a:pt x="5121275" y="1187452"/>
                </a:lnTo>
                <a:cubicBezTo>
                  <a:pt x="5121275" y="1229535"/>
                  <a:pt x="5087160" y="1263650"/>
                  <a:pt x="5045077" y="1263650"/>
                </a:cubicBezTo>
                <a:lnTo>
                  <a:pt x="76198" y="1263650"/>
                </a:lnTo>
                <a:cubicBezTo>
                  <a:pt x="34115" y="1263650"/>
                  <a:pt x="0" y="1229535"/>
                  <a:pt x="0" y="1187452"/>
                </a:cubicBezTo>
                <a:lnTo>
                  <a:pt x="0" y="76198"/>
                </a:lnTo>
                <a:cubicBezTo>
                  <a:pt x="0" y="34143"/>
                  <a:pt x="34143" y="0"/>
                  <a:pt x="76198" y="0"/>
                </a:cubicBezTo>
                <a:close/>
              </a:path>
            </a:pathLst>
          </a:custGeom>
          <a:solidFill>
            <a:srgbClr val="0D1117"/>
          </a:solidFill>
          <a:ln w="8467">
            <a:solidFill>
              <a:srgbClr val="21262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4700" y="3949703"/>
            <a:ext cx="190500" cy="152400"/>
          </a:xfrm>
          <a:custGeom>
            <a:avLst/>
            <a:gdLst/>
            <a:ahLst/>
            <a:cxnLst/>
            <a:rect l="l" t="t" r="r" b="b"/>
            <a:pathLst>
              <a:path w="190500" h="152400">
                <a:moveTo>
                  <a:pt x="123795" y="62657"/>
                </a:moveTo>
                <a:cubicBezTo>
                  <a:pt x="127427" y="61674"/>
                  <a:pt x="131237" y="63401"/>
                  <a:pt x="132874" y="66764"/>
                </a:cubicBezTo>
                <a:lnTo>
                  <a:pt x="138410" y="77956"/>
                </a:lnTo>
                <a:cubicBezTo>
                  <a:pt x="141476" y="78373"/>
                  <a:pt x="144482" y="79206"/>
                  <a:pt x="147310" y="80367"/>
                </a:cubicBezTo>
                <a:lnTo>
                  <a:pt x="157728" y="73432"/>
                </a:lnTo>
                <a:cubicBezTo>
                  <a:pt x="160853" y="71348"/>
                  <a:pt x="164991" y="71765"/>
                  <a:pt x="167640" y="74414"/>
                </a:cubicBezTo>
                <a:lnTo>
                  <a:pt x="173355" y="80129"/>
                </a:lnTo>
                <a:cubicBezTo>
                  <a:pt x="176004" y="82778"/>
                  <a:pt x="176421" y="86945"/>
                  <a:pt x="174337" y="90041"/>
                </a:cubicBezTo>
                <a:lnTo>
                  <a:pt x="167402" y="100429"/>
                </a:lnTo>
                <a:cubicBezTo>
                  <a:pt x="167967" y="101828"/>
                  <a:pt x="168473" y="103287"/>
                  <a:pt x="168890" y="104805"/>
                </a:cubicBezTo>
                <a:cubicBezTo>
                  <a:pt x="169307" y="106323"/>
                  <a:pt x="169575" y="107811"/>
                  <a:pt x="169783" y="109329"/>
                </a:cubicBezTo>
                <a:lnTo>
                  <a:pt x="181005" y="114866"/>
                </a:lnTo>
                <a:cubicBezTo>
                  <a:pt x="184368" y="116532"/>
                  <a:pt x="186095" y="120342"/>
                  <a:pt x="185112" y="123944"/>
                </a:cubicBezTo>
                <a:lnTo>
                  <a:pt x="183029" y="131743"/>
                </a:lnTo>
                <a:cubicBezTo>
                  <a:pt x="182047" y="135344"/>
                  <a:pt x="178683" y="137785"/>
                  <a:pt x="174933" y="137547"/>
                </a:cubicBezTo>
                <a:lnTo>
                  <a:pt x="162431" y="136743"/>
                </a:lnTo>
                <a:cubicBezTo>
                  <a:pt x="160556" y="139154"/>
                  <a:pt x="158383" y="141387"/>
                  <a:pt x="155912" y="143292"/>
                </a:cubicBezTo>
                <a:lnTo>
                  <a:pt x="156716" y="155764"/>
                </a:lnTo>
                <a:cubicBezTo>
                  <a:pt x="156954" y="159514"/>
                  <a:pt x="154513" y="162907"/>
                  <a:pt x="150912" y="163860"/>
                </a:cubicBezTo>
                <a:lnTo>
                  <a:pt x="143113" y="165943"/>
                </a:lnTo>
                <a:cubicBezTo>
                  <a:pt x="139482" y="166926"/>
                  <a:pt x="135701" y="165199"/>
                  <a:pt x="134035" y="161836"/>
                </a:cubicBezTo>
                <a:lnTo>
                  <a:pt x="128498" y="150644"/>
                </a:lnTo>
                <a:cubicBezTo>
                  <a:pt x="125432" y="150227"/>
                  <a:pt x="122426" y="149394"/>
                  <a:pt x="119598" y="148233"/>
                </a:cubicBezTo>
                <a:lnTo>
                  <a:pt x="109180" y="155168"/>
                </a:lnTo>
                <a:cubicBezTo>
                  <a:pt x="106055" y="157252"/>
                  <a:pt x="101918" y="156835"/>
                  <a:pt x="99268" y="154186"/>
                </a:cubicBezTo>
                <a:lnTo>
                  <a:pt x="93553" y="148471"/>
                </a:lnTo>
                <a:cubicBezTo>
                  <a:pt x="90904" y="145822"/>
                  <a:pt x="90488" y="141684"/>
                  <a:pt x="92571" y="138559"/>
                </a:cubicBezTo>
                <a:lnTo>
                  <a:pt x="99506" y="128141"/>
                </a:lnTo>
                <a:cubicBezTo>
                  <a:pt x="98941" y="126742"/>
                  <a:pt x="98435" y="125284"/>
                  <a:pt x="98018" y="123765"/>
                </a:cubicBezTo>
                <a:cubicBezTo>
                  <a:pt x="97601" y="122247"/>
                  <a:pt x="97334" y="120729"/>
                  <a:pt x="97125" y="119241"/>
                </a:cubicBezTo>
                <a:lnTo>
                  <a:pt x="85904" y="113705"/>
                </a:lnTo>
                <a:cubicBezTo>
                  <a:pt x="82540" y="112038"/>
                  <a:pt x="80843" y="108228"/>
                  <a:pt x="81796" y="104626"/>
                </a:cubicBezTo>
                <a:lnTo>
                  <a:pt x="83880" y="96828"/>
                </a:lnTo>
                <a:cubicBezTo>
                  <a:pt x="84862" y="93226"/>
                  <a:pt x="88225" y="90785"/>
                  <a:pt x="91976" y="91023"/>
                </a:cubicBezTo>
                <a:lnTo>
                  <a:pt x="104448" y="91827"/>
                </a:lnTo>
                <a:cubicBezTo>
                  <a:pt x="106323" y="89416"/>
                  <a:pt x="108496" y="87184"/>
                  <a:pt x="110966" y="85279"/>
                </a:cubicBezTo>
                <a:lnTo>
                  <a:pt x="110163" y="72836"/>
                </a:lnTo>
                <a:cubicBezTo>
                  <a:pt x="109924" y="69086"/>
                  <a:pt x="112365" y="65693"/>
                  <a:pt x="115967" y="64740"/>
                </a:cubicBezTo>
                <a:lnTo>
                  <a:pt x="123765" y="62657"/>
                </a:lnTo>
                <a:close/>
                <a:moveTo>
                  <a:pt x="133469" y="101203"/>
                </a:moveTo>
                <a:cubicBezTo>
                  <a:pt x="126241" y="101211"/>
                  <a:pt x="120379" y="107087"/>
                  <a:pt x="120387" y="114315"/>
                </a:cubicBezTo>
                <a:cubicBezTo>
                  <a:pt x="120395" y="121543"/>
                  <a:pt x="126270" y="127405"/>
                  <a:pt x="133499" y="127397"/>
                </a:cubicBezTo>
                <a:cubicBezTo>
                  <a:pt x="140727" y="127389"/>
                  <a:pt x="146589" y="121513"/>
                  <a:pt x="146581" y="114285"/>
                </a:cubicBezTo>
                <a:cubicBezTo>
                  <a:pt x="146573" y="107057"/>
                  <a:pt x="140697" y="101195"/>
                  <a:pt x="133469" y="101203"/>
                </a:cubicBezTo>
                <a:close/>
                <a:moveTo>
                  <a:pt x="66943" y="-13543"/>
                </a:moveTo>
                <a:lnTo>
                  <a:pt x="74741" y="-11460"/>
                </a:lnTo>
                <a:cubicBezTo>
                  <a:pt x="78343" y="-10477"/>
                  <a:pt x="80784" y="-7084"/>
                  <a:pt x="80546" y="-3364"/>
                </a:cubicBezTo>
                <a:lnTo>
                  <a:pt x="79742" y="9079"/>
                </a:lnTo>
                <a:cubicBezTo>
                  <a:pt x="82213" y="10984"/>
                  <a:pt x="84386" y="13186"/>
                  <a:pt x="86261" y="15627"/>
                </a:cubicBezTo>
                <a:lnTo>
                  <a:pt x="98762" y="14823"/>
                </a:lnTo>
                <a:cubicBezTo>
                  <a:pt x="102483" y="14585"/>
                  <a:pt x="105876" y="17026"/>
                  <a:pt x="106859" y="20628"/>
                </a:cubicBezTo>
                <a:lnTo>
                  <a:pt x="108942" y="28426"/>
                </a:lnTo>
                <a:cubicBezTo>
                  <a:pt x="109895" y="32028"/>
                  <a:pt x="108198" y="35838"/>
                  <a:pt x="104835" y="37505"/>
                </a:cubicBezTo>
                <a:lnTo>
                  <a:pt x="93613" y="43041"/>
                </a:lnTo>
                <a:cubicBezTo>
                  <a:pt x="93405" y="44559"/>
                  <a:pt x="93107" y="46077"/>
                  <a:pt x="92720" y="47565"/>
                </a:cubicBezTo>
                <a:cubicBezTo>
                  <a:pt x="92333" y="49054"/>
                  <a:pt x="91797" y="50542"/>
                  <a:pt x="91232" y="51941"/>
                </a:cubicBezTo>
                <a:lnTo>
                  <a:pt x="98167" y="62359"/>
                </a:lnTo>
                <a:cubicBezTo>
                  <a:pt x="100251" y="65484"/>
                  <a:pt x="99834" y="69622"/>
                  <a:pt x="97185" y="72271"/>
                </a:cubicBezTo>
                <a:lnTo>
                  <a:pt x="91470" y="77986"/>
                </a:lnTo>
                <a:cubicBezTo>
                  <a:pt x="88821" y="80635"/>
                  <a:pt x="84683" y="81052"/>
                  <a:pt x="81558" y="78968"/>
                </a:cubicBezTo>
                <a:lnTo>
                  <a:pt x="71140" y="72033"/>
                </a:lnTo>
                <a:cubicBezTo>
                  <a:pt x="68312" y="73194"/>
                  <a:pt x="65306" y="74027"/>
                  <a:pt x="62240" y="74444"/>
                </a:cubicBezTo>
                <a:lnTo>
                  <a:pt x="56704" y="85636"/>
                </a:lnTo>
                <a:cubicBezTo>
                  <a:pt x="55037" y="88999"/>
                  <a:pt x="51227" y="90696"/>
                  <a:pt x="47625" y="89743"/>
                </a:cubicBezTo>
                <a:lnTo>
                  <a:pt x="39826" y="87660"/>
                </a:lnTo>
                <a:cubicBezTo>
                  <a:pt x="36195" y="86678"/>
                  <a:pt x="33784" y="83284"/>
                  <a:pt x="34022" y="79564"/>
                </a:cubicBezTo>
                <a:lnTo>
                  <a:pt x="34826" y="67092"/>
                </a:lnTo>
                <a:cubicBezTo>
                  <a:pt x="32355" y="65187"/>
                  <a:pt x="30182" y="62984"/>
                  <a:pt x="28307" y="60543"/>
                </a:cubicBezTo>
                <a:lnTo>
                  <a:pt x="15806" y="61347"/>
                </a:lnTo>
                <a:cubicBezTo>
                  <a:pt x="12085" y="61585"/>
                  <a:pt x="8692" y="59144"/>
                  <a:pt x="7709" y="55543"/>
                </a:cubicBezTo>
                <a:lnTo>
                  <a:pt x="5626" y="47744"/>
                </a:lnTo>
                <a:cubicBezTo>
                  <a:pt x="4673" y="44142"/>
                  <a:pt x="6370" y="40332"/>
                  <a:pt x="9733" y="38666"/>
                </a:cubicBezTo>
                <a:lnTo>
                  <a:pt x="20955" y="33129"/>
                </a:lnTo>
                <a:cubicBezTo>
                  <a:pt x="21163" y="31611"/>
                  <a:pt x="21461" y="30123"/>
                  <a:pt x="21848" y="28605"/>
                </a:cubicBezTo>
                <a:cubicBezTo>
                  <a:pt x="22265" y="27087"/>
                  <a:pt x="22741" y="25628"/>
                  <a:pt x="23336" y="24229"/>
                </a:cubicBezTo>
                <a:lnTo>
                  <a:pt x="16401" y="13841"/>
                </a:lnTo>
                <a:cubicBezTo>
                  <a:pt x="14317" y="10716"/>
                  <a:pt x="14734" y="6578"/>
                  <a:pt x="17383" y="3929"/>
                </a:cubicBezTo>
                <a:lnTo>
                  <a:pt x="23098" y="-1786"/>
                </a:lnTo>
                <a:cubicBezTo>
                  <a:pt x="25747" y="-4435"/>
                  <a:pt x="29885" y="-4852"/>
                  <a:pt x="33010" y="-2768"/>
                </a:cubicBezTo>
                <a:lnTo>
                  <a:pt x="43428" y="4167"/>
                </a:lnTo>
                <a:cubicBezTo>
                  <a:pt x="46256" y="3006"/>
                  <a:pt x="49262" y="2173"/>
                  <a:pt x="52328" y="1756"/>
                </a:cubicBezTo>
                <a:lnTo>
                  <a:pt x="57864" y="-9436"/>
                </a:lnTo>
                <a:cubicBezTo>
                  <a:pt x="59531" y="-12799"/>
                  <a:pt x="63311" y="-14496"/>
                  <a:pt x="66943" y="-13543"/>
                </a:cubicBezTo>
                <a:close/>
                <a:moveTo>
                  <a:pt x="57269" y="25003"/>
                </a:moveTo>
                <a:cubicBezTo>
                  <a:pt x="50041" y="25003"/>
                  <a:pt x="44172" y="30872"/>
                  <a:pt x="44172" y="38100"/>
                </a:cubicBezTo>
                <a:cubicBezTo>
                  <a:pt x="44172" y="45328"/>
                  <a:pt x="50041" y="51197"/>
                  <a:pt x="57269" y="51197"/>
                </a:cubicBezTo>
                <a:cubicBezTo>
                  <a:pt x="64497" y="51197"/>
                  <a:pt x="70366" y="45328"/>
                  <a:pt x="70366" y="38100"/>
                </a:cubicBezTo>
                <a:cubicBezTo>
                  <a:pt x="70366" y="30872"/>
                  <a:pt x="64497" y="25003"/>
                  <a:pt x="57269" y="25003"/>
                </a:cubicBezTo>
                <a:close/>
              </a:path>
            </a:pathLst>
          </a:custGeom>
          <a:solidFill>
            <a:srgbClr val="00D9FF"/>
          </a:solidFill>
          <a:ln/>
        </p:spPr>
      </p:sp>
      <p:sp>
        <p:nvSpPr>
          <p:cNvPr id="19" name="Text 17"/>
          <p:cNvSpPr/>
          <p:nvPr/>
        </p:nvSpPr>
        <p:spPr>
          <a:xfrm>
            <a:off x="1079500" y="3911603"/>
            <a:ext cx="11144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6EDF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Implementation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96131" y="4254503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97066" y="15649"/>
                </a:moveTo>
                <a:cubicBezTo>
                  <a:pt x="100258" y="17971"/>
                  <a:pt x="100972" y="22436"/>
                  <a:pt x="98651" y="25628"/>
                </a:cubicBezTo>
                <a:lnTo>
                  <a:pt x="41501" y="104209"/>
                </a:lnTo>
                <a:cubicBezTo>
                  <a:pt x="40273" y="105906"/>
                  <a:pt x="38375" y="106955"/>
                  <a:pt x="36277" y="107134"/>
                </a:cubicBezTo>
                <a:cubicBezTo>
                  <a:pt x="34178" y="107313"/>
                  <a:pt x="32147" y="106531"/>
                  <a:pt x="30673" y="105058"/>
                </a:cubicBezTo>
                <a:lnTo>
                  <a:pt x="2098" y="76483"/>
                </a:lnTo>
                <a:cubicBezTo>
                  <a:pt x="-692" y="73692"/>
                  <a:pt x="-692" y="69160"/>
                  <a:pt x="2098" y="66370"/>
                </a:cubicBezTo>
                <a:cubicBezTo>
                  <a:pt x="4889" y="63579"/>
                  <a:pt x="9421" y="63579"/>
                  <a:pt x="12211" y="66370"/>
                </a:cubicBezTo>
                <a:lnTo>
                  <a:pt x="34870" y="89029"/>
                </a:lnTo>
                <a:lnTo>
                  <a:pt x="87109" y="17212"/>
                </a:lnTo>
                <a:cubicBezTo>
                  <a:pt x="89431" y="14020"/>
                  <a:pt x="93896" y="13305"/>
                  <a:pt x="97088" y="15627"/>
                </a:cubicBezTo>
                <a:close/>
              </a:path>
            </a:pathLst>
          </a:custGeom>
          <a:solidFill>
            <a:srgbClr val="00D9FF"/>
          </a:solidFill>
          <a:ln/>
        </p:spPr>
      </p:sp>
      <p:sp>
        <p:nvSpPr>
          <p:cNvPr id="21" name="Text 19"/>
          <p:cNvSpPr/>
          <p:nvPr/>
        </p:nvSpPr>
        <p:spPr>
          <a:xfrm>
            <a:off x="993775" y="4216403"/>
            <a:ext cx="30384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B94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 model analyzing Discount vs Quantity correlation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796131" y="4483103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97066" y="15649"/>
                </a:moveTo>
                <a:cubicBezTo>
                  <a:pt x="100258" y="17971"/>
                  <a:pt x="100972" y="22436"/>
                  <a:pt x="98651" y="25628"/>
                </a:cubicBezTo>
                <a:lnTo>
                  <a:pt x="41501" y="104209"/>
                </a:lnTo>
                <a:cubicBezTo>
                  <a:pt x="40273" y="105906"/>
                  <a:pt x="38375" y="106955"/>
                  <a:pt x="36277" y="107134"/>
                </a:cubicBezTo>
                <a:cubicBezTo>
                  <a:pt x="34178" y="107313"/>
                  <a:pt x="32147" y="106531"/>
                  <a:pt x="30673" y="105058"/>
                </a:cubicBezTo>
                <a:lnTo>
                  <a:pt x="2098" y="76483"/>
                </a:lnTo>
                <a:cubicBezTo>
                  <a:pt x="-692" y="73692"/>
                  <a:pt x="-692" y="69160"/>
                  <a:pt x="2098" y="66370"/>
                </a:cubicBezTo>
                <a:cubicBezTo>
                  <a:pt x="4889" y="63579"/>
                  <a:pt x="9421" y="63579"/>
                  <a:pt x="12211" y="66370"/>
                </a:cubicBezTo>
                <a:lnTo>
                  <a:pt x="34870" y="89029"/>
                </a:lnTo>
                <a:lnTo>
                  <a:pt x="87109" y="17212"/>
                </a:lnTo>
                <a:cubicBezTo>
                  <a:pt x="89431" y="14020"/>
                  <a:pt x="93896" y="13305"/>
                  <a:pt x="97088" y="15627"/>
                </a:cubicBezTo>
                <a:close/>
              </a:path>
            </a:pathLst>
          </a:custGeom>
          <a:solidFill>
            <a:srgbClr val="00D9FF"/>
          </a:solidFill>
          <a:ln/>
        </p:spPr>
      </p:sp>
      <p:sp>
        <p:nvSpPr>
          <p:cNvPr id="23" name="Text 21"/>
          <p:cNvSpPr/>
          <p:nvPr/>
        </p:nvSpPr>
        <p:spPr>
          <a:xfrm>
            <a:off x="993775" y="4445003"/>
            <a:ext cx="2286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B94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Real-time competitor price monitoring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796131" y="4711703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97066" y="15649"/>
                </a:moveTo>
                <a:cubicBezTo>
                  <a:pt x="100258" y="17971"/>
                  <a:pt x="100972" y="22436"/>
                  <a:pt x="98651" y="25628"/>
                </a:cubicBezTo>
                <a:lnTo>
                  <a:pt x="41501" y="104209"/>
                </a:lnTo>
                <a:cubicBezTo>
                  <a:pt x="40273" y="105906"/>
                  <a:pt x="38375" y="106955"/>
                  <a:pt x="36277" y="107134"/>
                </a:cubicBezTo>
                <a:cubicBezTo>
                  <a:pt x="34178" y="107313"/>
                  <a:pt x="32147" y="106531"/>
                  <a:pt x="30673" y="105058"/>
                </a:cubicBezTo>
                <a:lnTo>
                  <a:pt x="2098" y="76483"/>
                </a:lnTo>
                <a:cubicBezTo>
                  <a:pt x="-692" y="73692"/>
                  <a:pt x="-692" y="69160"/>
                  <a:pt x="2098" y="66370"/>
                </a:cubicBezTo>
                <a:cubicBezTo>
                  <a:pt x="4889" y="63579"/>
                  <a:pt x="9421" y="63579"/>
                  <a:pt x="12211" y="66370"/>
                </a:cubicBezTo>
                <a:lnTo>
                  <a:pt x="34870" y="89029"/>
                </a:lnTo>
                <a:lnTo>
                  <a:pt x="87109" y="17212"/>
                </a:lnTo>
                <a:cubicBezTo>
                  <a:pt x="89431" y="14020"/>
                  <a:pt x="93896" y="13305"/>
                  <a:pt x="97088" y="15627"/>
                </a:cubicBezTo>
                <a:close/>
              </a:path>
            </a:pathLst>
          </a:custGeom>
          <a:solidFill>
            <a:srgbClr val="00D9FF"/>
          </a:solidFill>
          <a:ln/>
        </p:spPr>
      </p:sp>
      <p:sp>
        <p:nvSpPr>
          <p:cNvPr id="25" name="Text 23"/>
          <p:cNvSpPr/>
          <p:nvPr/>
        </p:nvSpPr>
        <p:spPr>
          <a:xfrm>
            <a:off x="993775" y="4673603"/>
            <a:ext cx="27908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B94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Automated price adjustments during peak sales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19125" y="5178427"/>
            <a:ext cx="5121275" cy="654050"/>
          </a:xfrm>
          <a:custGeom>
            <a:avLst/>
            <a:gdLst/>
            <a:ahLst/>
            <a:cxnLst/>
            <a:rect l="l" t="t" r="r" b="b"/>
            <a:pathLst>
              <a:path w="5121275" h="654050">
                <a:moveTo>
                  <a:pt x="76197" y="0"/>
                </a:moveTo>
                <a:lnTo>
                  <a:pt x="5045078" y="0"/>
                </a:lnTo>
                <a:cubicBezTo>
                  <a:pt x="5087161" y="0"/>
                  <a:pt x="5121275" y="34114"/>
                  <a:pt x="5121275" y="76197"/>
                </a:cubicBezTo>
                <a:lnTo>
                  <a:pt x="5121275" y="577853"/>
                </a:lnTo>
                <a:cubicBezTo>
                  <a:pt x="5121275" y="619936"/>
                  <a:pt x="5087161" y="654050"/>
                  <a:pt x="5045078" y="654050"/>
                </a:cubicBezTo>
                <a:lnTo>
                  <a:pt x="76197" y="654050"/>
                </a:lnTo>
                <a:cubicBezTo>
                  <a:pt x="34114" y="654050"/>
                  <a:pt x="0" y="619936"/>
                  <a:pt x="0" y="577853"/>
                </a:cubicBezTo>
                <a:lnTo>
                  <a:pt x="0" y="76197"/>
                </a:lnTo>
                <a:cubicBezTo>
                  <a:pt x="0" y="34143"/>
                  <a:pt x="34143" y="0"/>
                  <a:pt x="76197" y="0"/>
                </a:cubicBezTo>
                <a:close/>
              </a:path>
            </a:pathLst>
          </a:custGeom>
          <a:gradFill flip="none" rotWithShape="1">
            <a:gsLst>
              <a:gs pos="0">
                <a:srgbClr val="58A6FF">
                  <a:alpha val="10000"/>
                </a:srgbClr>
              </a:gs>
              <a:gs pos="100000">
                <a:srgbClr val="00D9FF">
                  <a:alpha val="10000"/>
                </a:srgbClr>
              </a:gs>
            </a:gsLst>
            <a:lin ang="0" scaled="1"/>
          </a:gradFill>
          <a:ln w="8467">
            <a:solidFill>
              <a:srgbClr val="58A6FF">
                <a:alpha val="30196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34231" y="5410200"/>
            <a:ext cx="119063" cy="190500"/>
          </a:xfrm>
          <a:custGeom>
            <a:avLst/>
            <a:gdLst/>
            <a:ahLst/>
            <a:cxnLst/>
            <a:rect l="l" t="t" r="r" b="b"/>
            <a:pathLst>
              <a:path w="119063" h="190500">
                <a:moveTo>
                  <a:pt x="50602" y="8930"/>
                </a:moveTo>
                <a:cubicBezTo>
                  <a:pt x="50602" y="3981"/>
                  <a:pt x="54583" y="0"/>
                  <a:pt x="59531" y="0"/>
                </a:cubicBezTo>
                <a:cubicBezTo>
                  <a:pt x="64480" y="0"/>
                  <a:pt x="68461" y="3981"/>
                  <a:pt x="68461" y="8930"/>
                </a:cubicBezTo>
                <a:lnTo>
                  <a:pt x="68461" y="23812"/>
                </a:lnTo>
                <a:lnTo>
                  <a:pt x="89297" y="23812"/>
                </a:lnTo>
                <a:cubicBezTo>
                  <a:pt x="95883" y="23812"/>
                  <a:pt x="101203" y="29133"/>
                  <a:pt x="101203" y="35719"/>
                </a:cubicBezTo>
                <a:cubicBezTo>
                  <a:pt x="101203" y="42304"/>
                  <a:pt x="95883" y="47625"/>
                  <a:pt x="89297" y="47625"/>
                </a:cubicBezTo>
                <a:lnTo>
                  <a:pt x="46546" y="47625"/>
                </a:lnTo>
                <a:cubicBezTo>
                  <a:pt x="37281" y="47625"/>
                  <a:pt x="29766" y="55141"/>
                  <a:pt x="29766" y="64405"/>
                </a:cubicBezTo>
                <a:cubicBezTo>
                  <a:pt x="29766" y="72777"/>
                  <a:pt x="35905" y="79846"/>
                  <a:pt x="44165" y="81037"/>
                </a:cubicBezTo>
                <a:lnTo>
                  <a:pt x="78246" y="85911"/>
                </a:lnTo>
                <a:cubicBezTo>
                  <a:pt x="98264" y="88776"/>
                  <a:pt x="113109" y="105891"/>
                  <a:pt x="113109" y="126095"/>
                </a:cubicBezTo>
                <a:cubicBezTo>
                  <a:pt x="113109" y="148530"/>
                  <a:pt x="94915" y="166688"/>
                  <a:pt x="72517" y="166688"/>
                </a:cubicBezTo>
                <a:lnTo>
                  <a:pt x="68461" y="166688"/>
                </a:lnTo>
                <a:lnTo>
                  <a:pt x="68461" y="181570"/>
                </a:lnTo>
                <a:cubicBezTo>
                  <a:pt x="68461" y="186519"/>
                  <a:pt x="64480" y="190500"/>
                  <a:pt x="59531" y="190500"/>
                </a:cubicBezTo>
                <a:cubicBezTo>
                  <a:pt x="54583" y="190500"/>
                  <a:pt x="50602" y="186519"/>
                  <a:pt x="50602" y="181570"/>
                </a:cubicBezTo>
                <a:lnTo>
                  <a:pt x="50602" y="166688"/>
                </a:lnTo>
                <a:lnTo>
                  <a:pt x="23812" y="166688"/>
                </a:lnTo>
                <a:cubicBezTo>
                  <a:pt x="17227" y="166688"/>
                  <a:pt x="11906" y="161367"/>
                  <a:pt x="11906" y="154781"/>
                </a:cubicBezTo>
                <a:cubicBezTo>
                  <a:pt x="11906" y="148196"/>
                  <a:pt x="17227" y="142875"/>
                  <a:pt x="23812" y="142875"/>
                </a:cubicBezTo>
                <a:lnTo>
                  <a:pt x="72517" y="142875"/>
                </a:lnTo>
                <a:cubicBezTo>
                  <a:pt x="81781" y="142875"/>
                  <a:pt x="89297" y="135359"/>
                  <a:pt x="89297" y="126095"/>
                </a:cubicBezTo>
                <a:cubicBezTo>
                  <a:pt x="89297" y="117723"/>
                  <a:pt x="83158" y="110654"/>
                  <a:pt x="74898" y="109463"/>
                </a:cubicBezTo>
                <a:lnTo>
                  <a:pt x="40816" y="104589"/>
                </a:lnTo>
                <a:cubicBezTo>
                  <a:pt x="20799" y="101761"/>
                  <a:pt x="5953" y="84609"/>
                  <a:pt x="5953" y="64405"/>
                </a:cubicBezTo>
                <a:cubicBezTo>
                  <a:pt x="5953" y="42007"/>
                  <a:pt x="24147" y="23812"/>
                  <a:pt x="46546" y="23812"/>
                </a:cubicBezTo>
                <a:lnTo>
                  <a:pt x="50602" y="23812"/>
                </a:lnTo>
                <a:lnTo>
                  <a:pt x="50602" y="8930"/>
                </a:lnTo>
                <a:close/>
              </a:path>
            </a:pathLst>
          </a:custGeom>
          <a:solidFill>
            <a:srgbClr val="00D9FF"/>
          </a:solidFill>
          <a:ln/>
        </p:spPr>
      </p:sp>
      <p:sp>
        <p:nvSpPr>
          <p:cNvPr id="28" name="Text 26"/>
          <p:cNvSpPr/>
          <p:nvPr/>
        </p:nvSpPr>
        <p:spPr>
          <a:xfrm>
            <a:off x="1127125" y="5334000"/>
            <a:ext cx="3762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6EDF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Expected Impact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127125" y="5524500"/>
            <a:ext cx="37528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8B94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+18% revenue during sales • +5% margin improvement • Reduced stockouts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213475" y="1755775"/>
            <a:ext cx="5597525" cy="4721225"/>
          </a:xfrm>
          <a:custGeom>
            <a:avLst/>
            <a:gdLst/>
            <a:ahLst/>
            <a:cxnLst/>
            <a:rect l="l" t="t" r="r" b="b"/>
            <a:pathLst>
              <a:path w="5597525" h="4721225">
                <a:moveTo>
                  <a:pt x="152401" y="0"/>
                </a:moveTo>
                <a:lnTo>
                  <a:pt x="5445124" y="0"/>
                </a:lnTo>
                <a:cubicBezTo>
                  <a:pt x="5529293" y="0"/>
                  <a:pt x="5597525" y="68232"/>
                  <a:pt x="5597525" y="152401"/>
                </a:cubicBezTo>
                <a:lnTo>
                  <a:pt x="5597525" y="4568824"/>
                </a:lnTo>
                <a:cubicBezTo>
                  <a:pt x="5597525" y="4652993"/>
                  <a:pt x="5529293" y="4721225"/>
                  <a:pt x="5445124" y="4721225"/>
                </a:cubicBezTo>
                <a:lnTo>
                  <a:pt x="152401" y="4721225"/>
                </a:lnTo>
                <a:cubicBezTo>
                  <a:pt x="68232" y="4721225"/>
                  <a:pt x="0" y="4652993"/>
                  <a:pt x="0" y="4568824"/>
                </a:cubicBezTo>
                <a:lnTo>
                  <a:pt x="0" y="152401"/>
                </a:lnTo>
                <a:cubicBezTo>
                  <a:pt x="0" y="68289"/>
                  <a:pt x="68289" y="0"/>
                  <a:pt x="152401" y="0"/>
                </a:cubicBezTo>
                <a:close/>
              </a:path>
            </a:pathLst>
          </a:custGeom>
          <a:gradFill flip="none" rotWithShape="1">
            <a:gsLst>
              <a:gs pos="0">
                <a:srgbClr val="161B22"/>
              </a:gs>
              <a:gs pos="100000">
                <a:srgbClr val="0D1117"/>
              </a:gs>
            </a:gsLst>
            <a:lin ang="2700000" scaled="1"/>
          </a:gradFill>
          <a:ln w="8467">
            <a:solidFill>
              <a:srgbClr val="00D9FF">
                <a:alpha val="50196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445250" y="1987553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14300" y="0"/>
                </a:moveTo>
                <a:lnTo>
                  <a:pt x="495300" y="0"/>
                </a:lnTo>
                <a:cubicBezTo>
                  <a:pt x="558384" y="0"/>
                  <a:pt x="609600" y="51216"/>
                  <a:pt x="609600" y="114300"/>
                </a:cubicBezTo>
                <a:lnTo>
                  <a:pt x="609600" y="495300"/>
                </a:lnTo>
                <a:cubicBezTo>
                  <a:pt x="609600" y="558384"/>
                  <a:pt x="558384" y="609600"/>
                  <a:pt x="495300" y="609600"/>
                </a:cubicBezTo>
                <a:lnTo>
                  <a:pt x="114300" y="609600"/>
                </a:lnTo>
                <a:cubicBezTo>
                  <a:pt x="51216" y="609600"/>
                  <a:pt x="0" y="558384"/>
                  <a:pt x="0" y="495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gradFill flip="none" rotWithShape="1">
            <a:gsLst>
              <a:gs pos="0">
                <a:srgbClr val="00D9FF"/>
              </a:gs>
              <a:gs pos="100000">
                <a:srgbClr val="58A6FF"/>
              </a:gs>
            </a:gsLst>
            <a:lin ang="2700000" scaled="1"/>
          </a:gradFill>
          <a:ln/>
        </p:spPr>
      </p:sp>
      <p:sp>
        <p:nvSpPr>
          <p:cNvPr id="32" name="Shape 30"/>
          <p:cNvSpPr/>
          <p:nvPr/>
        </p:nvSpPr>
        <p:spPr>
          <a:xfrm>
            <a:off x="6609556" y="2149478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285750" y="53578"/>
                </a:moveTo>
                <a:cubicBezTo>
                  <a:pt x="285750" y="81595"/>
                  <a:pt x="252766" y="123397"/>
                  <a:pt x="238534" y="140084"/>
                </a:cubicBezTo>
                <a:cubicBezTo>
                  <a:pt x="236413" y="142540"/>
                  <a:pt x="233288" y="143489"/>
                  <a:pt x="230442" y="142875"/>
                </a:cubicBezTo>
                <a:lnTo>
                  <a:pt x="178594" y="142875"/>
                </a:lnTo>
                <a:cubicBezTo>
                  <a:pt x="168715" y="142875"/>
                  <a:pt x="160734" y="150856"/>
                  <a:pt x="160734" y="160734"/>
                </a:cubicBezTo>
                <a:cubicBezTo>
                  <a:pt x="160734" y="170613"/>
                  <a:pt x="168715" y="178594"/>
                  <a:pt x="178594" y="178594"/>
                </a:cubicBezTo>
                <a:lnTo>
                  <a:pt x="232172" y="178594"/>
                </a:lnTo>
                <a:cubicBezTo>
                  <a:pt x="261751" y="178594"/>
                  <a:pt x="285750" y="202592"/>
                  <a:pt x="285750" y="232172"/>
                </a:cubicBezTo>
                <a:cubicBezTo>
                  <a:pt x="285750" y="261751"/>
                  <a:pt x="261751" y="285750"/>
                  <a:pt x="232172" y="285750"/>
                </a:cubicBezTo>
                <a:lnTo>
                  <a:pt x="77912" y="285750"/>
                </a:lnTo>
                <a:cubicBezTo>
                  <a:pt x="82767" y="280225"/>
                  <a:pt x="88683" y="273137"/>
                  <a:pt x="94655" y="265212"/>
                </a:cubicBezTo>
                <a:cubicBezTo>
                  <a:pt x="98171" y="260524"/>
                  <a:pt x="101798" y="255389"/>
                  <a:pt x="105259" y="250031"/>
                </a:cubicBezTo>
                <a:lnTo>
                  <a:pt x="232172" y="250031"/>
                </a:lnTo>
                <a:cubicBezTo>
                  <a:pt x="242050" y="250031"/>
                  <a:pt x="250031" y="242050"/>
                  <a:pt x="250031" y="232172"/>
                </a:cubicBezTo>
                <a:cubicBezTo>
                  <a:pt x="250031" y="222293"/>
                  <a:pt x="242050" y="214313"/>
                  <a:pt x="232172" y="214313"/>
                </a:cubicBezTo>
                <a:lnTo>
                  <a:pt x="178594" y="214313"/>
                </a:lnTo>
                <a:cubicBezTo>
                  <a:pt x="149014" y="214313"/>
                  <a:pt x="125016" y="190314"/>
                  <a:pt x="125016" y="160734"/>
                </a:cubicBezTo>
                <a:cubicBezTo>
                  <a:pt x="125016" y="131155"/>
                  <a:pt x="149014" y="107156"/>
                  <a:pt x="178594" y="107156"/>
                </a:cubicBezTo>
                <a:lnTo>
                  <a:pt x="200806" y="107156"/>
                </a:lnTo>
                <a:cubicBezTo>
                  <a:pt x="189086" y="89576"/>
                  <a:pt x="178594" y="69373"/>
                  <a:pt x="178594" y="53578"/>
                </a:cubicBezTo>
                <a:cubicBezTo>
                  <a:pt x="178594" y="23999"/>
                  <a:pt x="202592" y="0"/>
                  <a:pt x="232172" y="0"/>
                </a:cubicBezTo>
                <a:cubicBezTo>
                  <a:pt x="261751" y="0"/>
                  <a:pt x="285750" y="23999"/>
                  <a:pt x="285750" y="53578"/>
                </a:cubicBezTo>
                <a:close/>
                <a:moveTo>
                  <a:pt x="65354" y="272969"/>
                </a:moveTo>
                <a:cubicBezTo>
                  <a:pt x="63233" y="275369"/>
                  <a:pt x="61336" y="277490"/>
                  <a:pt x="59717" y="279276"/>
                </a:cubicBezTo>
                <a:lnTo>
                  <a:pt x="58713" y="280392"/>
                </a:lnTo>
                <a:lnTo>
                  <a:pt x="58601" y="280281"/>
                </a:lnTo>
                <a:cubicBezTo>
                  <a:pt x="55252" y="282848"/>
                  <a:pt x="50453" y="282513"/>
                  <a:pt x="47439" y="279276"/>
                </a:cubicBezTo>
                <a:cubicBezTo>
                  <a:pt x="33375" y="263984"/>
                  <a:pt x="0" y="224637"/>
                  <a:pt x="0" y="196453"/>
                </a:cubicBezTo>
                <a:cubicBezTo>
                  <a:pt x="0" y="166874"/>
                  <a:pt x="23999" y="142875"/>
                  <a:pt x="53578" y="142875"/>
                </a:cubicBezTo>
                <a:cubicBezTo>
                  <a:pt x="83158" y="142875"/>
                  <a:pt x="107156" y="166874"/>
                  <a:pt x="107156" y="196453"/>
                </a:cubicBezTo>
                <a:cubicBezTo>
                  <a:pt x="107156" y="213196"/>
                  <a:pt x="95380" y="233846"/>
                  <a:pt x="82879" y="251092"/>
                </a:cubicBezTo>
                <a:cubicBezTo>
                  <a:pt x="76907" y="259296"/>
                  <a:pt x="70768" y="266719"/>
                  <a:pt x="65689" y="272579"/>
                </a:cubicBezTo>
                <a:lnTo>
                  <a:pt x="65354" y="272969"/>
                </a:lnTo>
                <a:close/>
                <a:moveTo>
                  <a:pt x="71438" y="196453"/>
                </a:moveTo>
                <a:cubicBezTo>
                  <a:pt x="71438" y="186596"/>
                  <a:pt x="63435" y="178594"/>
                  <a:pt x="53578" y="178594"/>
                </a:cubicBezTo>
                <a:cubicBezTo>
                  <a:pt x="43721" y="178594"/>
                  <a:pt x="35719" y="186596"/>
                  <a:pt x="35719" y="196453"/>
                </a:cubicBezTo>
                <a:cubicBezTo>
                  <a:pt x="35719" y="206310"/>
                  <a:pt x="43721" y="214313"/>
                  <a:pt x="53578" y="214313"/>
                </a:cubicBezTo>
                <a:cubicBezTo>
                  <a:pt x="63435" y="214313"/>
                  <a:pt x="71438" y="206310"/>
                  <a:pt x="71438" y="196453"/>
                </a:cubicBezTo>
                <a:close/>
                <a:moveTo>
                  <a:pt x="232172" y="71438"/>
                </a:moveTo>
                <a:cubicBezTo>
                  <a:pt x="242029" y="71438"/>
                  <a:pt x="250031" y="63435"/>
                  <a:pt x="250031" y="53578"/>
                </a:cubicBezTo>
                <a:cubicBezTo>
                  <a:pt x="250031" y="43721"/>
                  <a:pt x="242029" y="35719"/>
                  <a:pt x="232172" y="35719"/>
                </a:cubicBezTo>
                <a:cubicBezTo>
                  <a:pt x="222315" y="35719"/>
                  <a:pt x="214313" y="43721"/>
                  <a:pt x="214313" y="53578"/>
                </a:cubicBezTo>
                <a:cubicBezTo>
                  <a:pt x="214313" y="63435"/>
                  <a:pt x="222315" y="71438"/>
                  <a:pt x="232172" y="71438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3" name="Shape 31"/>
          <p:cNvSpPr/>
          <p:nvPr/>
        </p:nvSpPr>
        <p:spPr>
          <a:xfrm>
            <a:off x="7207250" y="1987553"/>
            <a:ext cx="771525" cy="228600"/>
          </a:xfrm>
          <a:custGeom>
            <a:avLst/>
            <a:gdLst/>
            <a:ahLst/>
            <a:cxnLst/>
            <a:rect l="l" t="t" r="r" b="b"/>
            <a:pathLst>
              <a:path w="771525" h="228600">
                <a:moveTo>
                  <a:pt x="114300" y="0"/>
                </a:moveTo>
                <a:lnTo>
                  <a:pt x="657225" y="0"/>
                </a:lnTo>
                <a:cubicBezTo>
                  <a:pt x="720309" y="0"/>
                  <a:pt x="771525" y="51216"/>
                  <a:pt x="771525" y="114300"/>
                </a:cubicBezTo>
                <a:lnTo>
                  <a:pt x="771525" y="114300"/>
                </a:lnTo>
                <a:cubicBezTo>
                  <a:pt x="771525" y="177384"/>
                  <a:pt x="720309" y="228600"/>
                  <a:pt x="657225" y="228600"/>
                </a:cubicBezTo>
                <a:lnTo>
                  <a:pt x="114300" y="228600"/>
                </a:lnTo>
                <a:cubicBezTo>
                  <a:pt x="51216" y="228600"/>
                  <a:pt x="0" y="177384"/>
                  <a:pt x="0" y="114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00D9FF">
              <a:alpha val="20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7207250" y="1987553"/>
            <a:ext cx="828675" cy="22860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00D9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LOGISTICS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8053586" y="2025653"/>
            <a:ext cx="9334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58A6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Immediate Action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7207250" y="2292353"/>
            <a:ext cx="44862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Smart Cargo Re-routing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448425" y="2790828"/>
            <a:ext cx="5121275" cy="806450"/>
          </a:xfrm>
          <a:custGeom>
            <a:avLst/>
            <a:gdLst/>
            <a:ahLst/>
            <a:cxnLst/>
            <a:rect l="l" t="t" r="r" b="b"/>
            <a:pathLst>
              <a:path w="5121275" h="806450">
                <a:moveTo>
                  <a:pt x="76201" y="0"/>
                </a:moveTo>
                <a:lnTo>
                  <a:pt x="5045074" y="0"/>
                </a:lnTo>
                <a:cubicBezTo>
                  <a:pt x="5087158" y="0"/>
                  <a:pt x="5121275" y="34117"/>
                  <a:pt x="5121275" y="76201"/>
                </a:cubicBezTo>
                <a:lnTo>
                  <a:pt x="5121275" y="730249"/>
                </a:lnTo>
                <a:cubicBezTo>
                  <a:pt x="5121275" y="772333"/>
                  <a:pt x="5087158" y="806450"/>
                  <a:pt x="5045074" y="806450"/>
                </a:cubicBezTo>
                <a:lnTo>
                  <a:pt x="76201" y="806450"/>
                </a:lnTo>
                <a:cubicBezTo>
                  <a:pt x="34145" y="806450"/>
                  <a:pt x="0" y="772305"/>
                  <a:pt x="0" y="730249"/>
                </a:cubicBezTo>
                <a:lnTo>
                  <a:pt x="0" y="76201"/>
                </a:lnTo>
                <a:cubicBezTo>
                  <a:pt x="0" y="34145"/>
                  <a:pt x="34145" y="0"/>
                  <a:pt x="76201" y="0"/>
                </a:cubicBezTo>
                <a:close/>
              </a:path>
            </a:pathLst>
          </a:custGeom>
          <a:solidFill>
            <a:srgbClr val="0D1117"/>
          </a:solidFill>
          <a:ln w="8467">
            <a:solidFill>
              <a:srgbClr val="21262D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623050" y="2984502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33350" y="76200"/>
                </a:moveTo>
                <a:cubicBezTo>
                  <a:pt x="133350" y="44658"/>
                  <a:pt x="107742" y="19050"/>
                  <a:pt x="76200" y="19050"/>
                </a:cubicBezTo>
                <a:cubicBezTo>
                  <a:pt x="44658" y="19050"/>
                  <a:pt x="19050" y="44658"/>
                  <a:pt x="19050" y="76200"/>
                </a:cubicBezTo>
                <a:cubicBezTo>
                  <a:pt x="19050" y="107742"/>
                  <a:pt x="44658" y="133350"/>
                  <a:pt x="76200" y="133350"/>
                </a:cubicBezTo>
                <a:cubicBezTo>
                  <a:pt x="107742" y="133350"/>
                  <a:pt x="133350" y="107742"/>
                  <a:pt x="133350" y="76200"/>
                </a:cubicBezTo>
                <a:close/>
                <a:moveTo>
                  <a:pt x="0" y="76200"/>
                </a:moveTo>
                <a:cubicBezTo>
                  <a:pt x="0" y="34144"/>
                  <a:pt x="34144" y="0"/>
                  <a:pt x="76200" y="0"/>
                </a:cubicBezTo>
                <a:cubicBezTo>
                  <a:pt x="118256" y="0"/>
                  <a:pt x="152400" y="34144"/>
                  <a:pt x="152400" y="76200"/>
                </a:cubicBezTo>
                <a:cubicBezTo>
                  <a:pt x="152400" y="118256"/>
                  <a:pt x="118256" y="152400"/>
                  <a:pt x="76200" y="152400"/>
                </a:cubicBezTo>
                <a:cubicBezTo>
                  <a:pt x="34144" y="152400"/>
                  <a:pt x="0" y="118256"/>
                  <a:pt x="0" y="76200"/>
                </a:cubicBezTo>
                <a:close/>
                <a:moveTo>
                  <a:pt x="76200" y="100013"/>
                </a:moveTo>
                <a:cubicBezTo>
                  <a:pt x="89342" y="100013"/>
                  <a:pt x="100013" y="89342"/>
                  <a:pt x="100013" y="76200"/>
                </a:cubicBezTo>
                <a:cubicBezTo>
                  <a:pt x="100013" y="63058"/>
                  <a:pt x="89342" y="52388"/>
                  <a:pt x="76200" y="52388"/>
                </a:cubicBezTo>
                <a:cubicBezTo>
                  <a:pt x="63058" y="52388"/>
                  <a:pt x="52388" y="63058"/>
                  <a:pt x="52388" y="76200"/>
                </a:cubicBezTo>
                <a:cubicBezTo>
                  <a:pt x="52388" y="89342"/>
                  <a:pt x="63058" y="100013"/>
                  <a:pt x="76200" y="100013"/>
                </a:cubicBezTo>
                <a:close/>
                <a:moveTo>
                  <a:pt x="76200" y="33338"/>
                </a:moveTo>
                <a:cubicBezTo>
                  <a:pt x="99856" y="33338"/>
                  <a:pt x="119062" y="52544"/>
                  <a:pt x="119062" y="76200"/>
                </a:cubicBezTo>
                <a:cubicBezTo>
                  <a:pt x="119062" y="99856"/>
                  <a:pt x="99856" y="119062"/>
                  <a:pt x="76200" y="119062"/>
                </a:cubicBezTo>
                <a:cubicBezTo>
                  <a:pt x="52544" y="119062"/>
                  <a:pt x="33338" y="99856"/>
                  <a:pt x="33338" y="76200"/>
                </a:cubicBezTo>
                <a:cubicBezTo>
                  <a:pt x="33338" y="52544"/>
                  <a:pt x="52544" y="33338"/>
                  <a:pt x="76200" y="33338"/>
                </a:cubicBezTo>
                <a:close/>
                <a:moveTo>
                  <a:pt x="66675" y="76200"/>
                </a:moveTo>
                <a:cubicBezTo>
                  <a:pt x="66675" y="70943"/>
                  <a:pt x="70943" y="66675"/>
                  <a:pt x="76200" y="66675"/>
                </a:cubicBezTo>
                <a:cubicBezTo>
                  <a:pt x="81457" y="66675"/>
                  <a:pt x="85725" y="70943"/>
                  <a:pt x="85725" y="76200"/>
                </a:cubicBezTo>
                <a:cubicBezTo>
                  <a:pt x="85725" y="81457"/>
                  <a:pt x="81457" y="85725"/>
                  <a:pt x="76200" y="85725"/>
                </a:cubicBezTo>
                <a:cubicBezTo>
                  <a:pt x="70943" y="85725"/>
                  <a:pt x="66675" y="81457"/>
                  <a:pt x="66675" y="76200"/>
                </a:cubicBezTo>
                <a:close/>
              </a:path>
            </a:pathLst>
          </a:custGeom>
          <a:solidFill>
            <a:srgbClr val="00D9FF"/>
          </a:solidFill>
          <a:ln/>
        </p:spPr>
      </p:sp>
      <p:sp>
        <p:nvSpPr>
          <p:cNvPr id="39" name="Text 37"/>
          <p:cNvSpPr/>
          <p:nvPr/>
        </p:nvSpPr>
        <p:spPr>
          <a:xfrm>
            <a:off x="6908800" y="2946402"/>
            <a:ext cx="704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6EDF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Objective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6604000" y="3251202"/>
            <a:ext cx="4876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B94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Bypass congested ports for high-value cargo to ensure on-time delivery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6448425" y="3756025"/>
            <a:ext cx="5121275" cy="1263650"/>
          </a:xfrm>
          <a:custGeom>
            <a:avLst/>
            <a:gdLst/>
            <a:ahLst/>
            <a:cxnLst/>
            <a:rect l="l" t="t" r="r" b="b"/>
            <a:pathLst>
              <a:path w="5121275" h="1263650">
                <a:moveTo>
                  <a:pt x="76198" y="0"/>
                </a:moveTo>
                <a:lnTo>
                  <a:pt x="5045077" y="0"/>
                </a:lnTo>
                <a:cubicBezTo>
                  <a:pt x="5087160" y="0"/>
                  <a:pt x="5121275" y="34115"/>
                  <a:pt x="5121275" y="76198"/>
                </a:cubicBezTo>
                <a:lnTo>
                  <a:pt x="5121275" y="1187452"/>
                </a:lnTo>
                <a:cubicBezTo>
                  <a:pt x="5121275" y="1229535"/>
                  <a:pt x="5087160" y="1263650"/>
                  <a:pt x="5045077" y="1263650"/>
                </a:cubicBezTo>
                <a:lnTo>
                  <a:pt x="76198" y="1263650"/>
                </a:lnTo>
                <a:cubicBezTo>
                  <a:pt x="34115" y="1263650"/>
                  <a:pt x="0" y="1229535"/>
                  <a:pt x="0" y="1187452"/>
                </a:cubicBezTo>
                <a:lnTo>
                  <a:pt x="0" y="76198"/>
                </a:lnTo>
                <a:cubicBezTo>
                  <a:pt x="0" y="34143"/>
                  <a:pt x="34143" y="0"/>
                  <a:pt x="76198" y="0"/>
                </a:cubicBezTo>
                <a:close/>
              </a:path>
            </a:pathLst>
          </a:custGeom>
          <a:solidFill>
            <a:srgbClr val="0D1117"/>
          </a:solidFill>
          <a:ln w="8467">
            <a:solidFill>
              <a:srgbClr val="21262D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604000" y="3949703"/>
            <a:ext cx="190500" cy="152400"/>
          </a:xfrm>
          <a:custGeom>
            <a:avLst/>
            <a:gdLst/>
            <a:ahLst/>
            <a:cxnLst/>
            <a:rect l="l" t="t" r="r" b="b"/>
            <a:pathLst>
              <a:path w="190500" h="152400">
                <a:moveTo>
                  <a:pt x="123795" y="62657"/>
                </a:moveTo>
                <a:cubicBezTo>
                  <a:pt x="127427" y="61674"/>
                  <a:pt x="131237" y="63401"/>
                  <a:pt x="132874" y="66764"/>
                </a:cubicBezTo>
                <a:lnTo>
                  <a:pt x="138410" y="77956"/>
                </a:lnTo>
                <a:cubicBezTo>
                  <a:pt x="141476" y="78373"/>
                  <a:pt x="144482" y="79206"/>
                  <a:pt x="147310" y="80367"/>
                </a:cubicBezTo>
                <a:lnTo>
                  <a:pt x="157728" y="73432"/>
                </a:lnTo>
                <a:cubicBezTo>
                  <a:pt x="160853" y="71348"/>
                  <a:pt x="164991" y="71765"/>
                  <a:pt x="167640" y="74414"/>
                </a:cubicBezTo>
                <a:lnTo>
                  <a:pt x="173355" y="80129"/>
                </a:lnTo>
                <a:cubicBezTo>
                  <a:pt x="176004" y="82778"/>
                  <a:pt x="176421" y="86945"/>
                  <a:pt x="174337" y="90041"/>
                </a:cubicBezTo>
                <a:lnTo>
                  <a:pt x="167402" y="100429"/>
                </a:lnTo>
                <a:cubicBezTo>
                  <a:pt x="167967" y="101828"/>
                  <a:pt x="168473" y="103287"/>
                  <a:pt x="168890" y="104805"/>
                </a:cubicBezTo>
                <a:cubicBezTo>
                  <a:pt x="169307" y="106323"/>
                  <a:pt x="169575" y="107811"/>
                  <a:pt x="169783" y="109329"/>
                </a:cubicBezTo>
                <a:lnTo>
                  <a:pt x="181005" y="114866"/>
                </a:lnTo>
                <a:cubicBezTo>
                  <a:pt x="184368" y="116532"/>
                  <a:pt x="186095" y="120342"/>
                  <a:pt x="185112" y="123944"/>
                </a:cubicBezTo>
                <a:lnTo>
                  <a:pt x="183029" y="131743"/>
                </a:lnTo>
                <a:cubicBezTo>
                  <a:pt x="182047" y="135344"/>
                  <a:pt x="178683" y="137785"/>
                  <a:pt x="174933" y="137547"/>
                </a:cubicBezTo>
                <a:lnTo>
                  <a:pt x="162431" y="136743"/>
                </a:lnTo>
                <a:cubicBezTo>
                  <a:pt x="160556" y="139154"/>
                  <a:pt x="158383" y="141387"/>
                  <a:pt x="155912" y="143292"/>
                </a:cubicBezTo>
                <a:lnTo>
                  <a:pt x="156716" y="155764"/>
                </a:lnTo>
                <a:cubicBezTo>
                  <a:pt x="156954" y="159514"/>
                  <a:pt x="154513" y="162907"/>
                  <a:pt x="150912" y="163860"/>
                </a:cubicBezTo>
                <a:lnTo>
                  <a:pt x="143113" y="165943"/>
                </a:lnTo>
                <a:cubicBezTo>
                  <a:pt x="139482" y="166926"/>
                  <a:pt x="135701" y="165199"/>
                  <a:pt x="134035" y="161836"/>
                </a:cubicBezTo>
                <a:lnTo>
                  <a:pt x="128498" y="150644"/>
                </a:lnTo>
                <a:cubicBezTo>
                  <a:pt x="125432" y="150227"/>
                  <a:pt x="122426" y="149394"/>
                  <a:pt x="119598" y="148233"/>
                </a:cubicBezTo>
                <a:lnTo>
                  <a:pt x="109180" y="155168"/>
                </a:lnTo>
                <a:cubicBezTo>
                  <a:pt x="106055" y="157252"/>
                  <a:pt x="101918" y="156835"/>
                  <a:pt x="99268" y="154186"/>
                </a:cubicBezTo>
                <a:lnTo>
                  <a:pt x="93553" y="148471"/>
                </a:lnTo>
                <a:cubicBezTo>
                  <a:pt x="90904" y="145822"/>
                  <a:pt x="90488" y="141684"/>
                  <a:pt x="92571" y="138559"/>
                </a:cubicBezTo>
                <a:lnTo>
                  <a:pt x="99506" y="128141"/>
                </a:lnTo>
                <a:cubicBezTo>
                  <a:pt x="98941" y="126742"/>
                  <a:pt x="98435" y="125284"/>
                  <a:pt x="98018" y="123765"/>
                </a:cubicBezTo>
                <a:cubicBezTo>
                  <a:pt x="97601" y="122247"/>
                  <a:pt x="97334" y="120729"/>
                  <a:pt x="97125" y="119241"/>
                </a:cubicBezTo>
                <a:lnTo>
                  <a:pt x="85904" y="113705"/>
                </a:lnTo>
                <a:cubicBezTo>
                  <a:pt x="82540" y="112038"/>
                  <a:pt x="80843" y="108228"/>
                  <a:pt x="81796" y="104626"/>
                </a:cubicBezTo>
                <a:lnTo>
                  <a:pt x="83880" y="96828"/>
                </a:lnTo>
                <a:cubicBezTo>
                  <a:pt x="84862" y="93226"/>
                  <a:pt x="88225" y="90785"/>
                  <a:pt x="91976" y="91023"/>
                </a:cubicBezTo>
                <a:lnTo>
                  <a:pt x="104448" y="91827"/>
                </a:lnTo>
                <a:cubicBezTo>
                  <a:pt x="106323" y="89416"/>
                  <a:pt x="108496" y="87184"/>
                  <a:pt x="110966" y="85279"/>
                </a:cubicBezTo>
                <a:lnTo>
                  <a:pt x="110163" y="72836"/>
                </a:lnTo>
                <a:cubicBezTo>
                  <a:pt x="109924" y="69086"/>
                  <a:pt x="112365" y="65693"/>
                  <a:pt x="115967" y="64740"/>
                </a:cubicBezTo>
                <a:lnTo>
                  <a:pt x="123765" y="62657"/>
                </a:lnTo>
                <a:close/>
                <a:moveTo>
                  <a:pt x="133469" y="101203"/>
                </a:moveTo>
                <a:cubicBezTo>
                  <a:pt x="126241" y="101211"/>
                  <a:pt x="120379" y="107087"/>
                  <a:pt x="120387" y="114315"/>
                </a:cubicBezTo>
                <a:cubicBezTo>
                  <a:pt x="120395" y="121543"/>
                  <a:pt x="126270" y="127405"/>
                  <a:pt x="133499" y="127397"/>
                </a:cubicBezTo>
                <a:cubicBezTo>
                  <a:pt x="140727" y="127389"/>
                  <a:pt x="146589" y="121513"/>
                  <a:pt x="146581" y="114285"/>
                </a:cubicBezTo>
                <a:cubicBezTo>
                  <a:pt x="146573" y="107057"/>
                  <a:pt x="140697" y="101195"/>
                  <a:pt x="133469" y="101203"/>
                </a:cubicBezTo>
                <a:close/>
                <a:moveTo>
                  <a:pt x="66943" y="-13543"/>
                </a:moveTo>
                <a:lnTo>
                  <a:pt x="74741" y="-11460"/>
                </a:lnTo>
                <a:cubicBezTo>
                  <a:pt x="78343" y="-10477"/>
                  <a:pt x="80784" y="-7084"/>
                  <a:pt x="80546" y="-3364"/>
                </a:cubicBezTo>
                <a:lnTo>
                  <a:pt x="79742" y="9079"/>
                </a:lnTo>
                <a:cubicBezTo>
                  <a:pt x="82213" y="10984"/>
                  <a:pt x="84386" y="13186"/>
                  <a:pt x="86261" y="15627"/>
                </a:cubicBezTo>
                <a:lnTo>
                  <a:pt x="98762" y="14823"/>
                </a:lnTo>
                <a:cubicBezTo>
                  <a:pt x="102483" y="14585"/>
                  <a:pt x="105876" y="17026"/>
                  <a:pt x="106859" y="20628"/>
                </a:cubicBezTo>
                <a:lnTo>
                  <a:pt x="108942" y="28426"/>
                </a:lnTo>
                <a:cubicBezTo>
                  <a:pt x="109895" y="32028"/>
                  <a:pt x="108198" y="35838"/>
                  <a:pt x="104835" y="37505"/>
                </a:cubicBezTo>
                <a:lnTo>
                  <a:pt x="93613" y="43041"/>
                </a:lnTo>
                <a:cubicBezTo>
                  <a:pt x="93405" y="44559"/>
                  <a:pt x="93107" y="46077"/>
                  <a:pt x="92720" y="47565"/>
                </a:cubicBezTo>
                <a:cubicBezTo>
                  <a:pt x="92333" y="49054"/>
                  <a:pt x="91797" y="50542"/>
                  <a:pt x="91232" y="51941"/>
                </a:cubicBezTo>
                <a:lnTo>
                  <a:pt x="98167" y="62359"/>
                </a:lnTo>
                <a:cubicBezTo>
                  <a:pt x="100251" y="65484"/>
                  <a:pt x="99834" y="69622"/>
                  <a:pt x="97185" y="72271"/>
                </a:cubicBezTo>
                <a:lnTo>
                  <a:pt x="91470" y="77986"/>
                </a:lnTo>
                <a:cubicBezTo>
                  <a:pt x="88821" y="80635"/>
                  <a:pt x="84683" y="81052"/>
                  <a:pt x="81558" y="78968"/>
                </a:cubicBezTo>
                <a:lnTo>
                  <a:pt x="71140" y="72033"/>
                </a:lnTo>
                <a:cubicBezTo>
                  <a:pt x="68312" y="73194"/>
                  <a:pt x="65306" y="74027"/>
                  <a:pt x="62240" y="74444"/>
                </a:cubicBezTo>
                <a:lnTo>
                  <a:pt x="56704" y="85636"/>
                </a:lnTo>
                <a:cubicBezTo>
                  <a:pt x="55037" y="88999"/>
                  <a:pt x="51227" y="90696"/>
                  <a:pt x="47625" y="89743"/>
                </a:cubicBezTo>
                <a:lnTo>
                  <a:pt x="39826" y="87660"/>
                </a:lnTo>
                <a:cubicBezTo>
                  <a:pt x="36195" y="86678"/>
                  <a:pt x="33784" y="83284"/>
                  <a:pt x="34022" y="79564"/>
                </a:cubicBezTo>
                <a:lnTo>
                  <a:pt x="34826" y="67092"/>
                </a:lnTo>
                <a:cubicBezTo>
                  <a:pt x="32355" y="65187"/>
                  <a:pt x="30182" y="62984"/>
                  <a:pt x="28307" y="60543"/>
                </a:cubicBezTo>
                <a:lnTo>
                  <a:pt x="15806" y="61347"/>
                </a:lnTo>
                <a:cubicBezTo>
                  <a:pt x="12085" y="61585"/>
                  <a:pt x="8692" y="59144"/>
                  <a:pt x="7709" y="55543"/>
                </a:cubicBezTo>
                <a:lnTo>
                  <a:pt x="5626" y="47744"/>
                </a:lnTo>
                <a:cubicBezTo>
                  <a:pt x="4673" y="44142"/>
                  <a:pt x="6370" y="40332"/>
                  <a:pt x="9733" y="38666"/>
                </a:cubicBezTo>
                <a:lnTo>
                  <a:pt x="20955" y="33129"/>
                </a:lnTo>
                <a:cubicBezTo>
                  <a:pt x="21163" y="31611"/>
                  <a:pt x="21461" y="30123"/>
                  <a:pt x="21848" y="28605"/>
                </a:cubicBezTo>
                <a:cubicBezTo>
                  <a:pt x="22265" y="27087"/>
                  <a:pt x="22741" y="25628"/>
                  <a:pt x="23336" y="24229"/>
                </a:cubicBezTo>
                <a:lnTo>
                  <a:pt x="16401" y="13841"/>
                </a:lnTo>
                <a:cubicBezTo>
                  <a:pt x="14317" y="10716"/>
                  <a:pt x="14734" y="6578"/>
                  <a:pt x="17383" y="3929"/>
                </a:cubicBezTo>
                <a:lnTo>
                  <a:pt x="23098" y="-1786"/>
                </a:lnTo>
                <a:cubicBezTo>
                  <a:pt x="25747" y="-4435"/>
                  <a:pt x="29885" y="-4852"/>
                  <a:pt x="33010" y="-2768"/>
                </a:cubicBezTo>
                <a:lnTo>
                  <a:pt x="43428" y="4167"/>
                </a:lnTo>
                <a:cubicBezTo>
                  <a:pt x="46256" y="3006"/>
                  <a:pt x="49262" y="2173"/>
                  <a:pt x="52328" y="1756"/>
                </a:cubicBezTo>
                <a:lnTo>
                  <a:pt x="57864" y="-9436"/>
                </a:lnTo>
                <a:cubicBezTo>
                  <a:pt x="59531" y="-12799"/>
                  <a:pt x="63311" y="-14496"/>
                  <a:pt x="66943" y="-13543"/>
                </a:cubicBezTo>
                <a:close/>
                <a:moveTo>
                  <a:pt x="57269" y="25003"/>
                </a:moveTo>
                <a:cubicBezTo>
                  <a:pt x="50041" y="25003"/>
                  <a:pt x="44172" y="30872"/>
                  <a:pt x="44172" y="38100"/>
                </a:cubicBezTo>
                <a:cubicBezTo>
                  <a:pt x="44172" y="45328"/>
                  <a:pt x="50041" y="51197"/>
                  <a:pt x="57269" y="51197"/>
                </a:cubicBezTo>
                <a:cubicBezTo>
                  <a:pt x="64497" y="51197"/>
                  <a:pt x="70366" y="45328"/>
                  <a:pt x="70366" y="38100"/>
                </a:cubicBezTo>
                <a:cubicBezTo>
                  <a:pt x="70366" y="30872"/>
                  <a:pt x="64497" y="25003"/>
                  <a:pt x="57269" y="25003"/>
                </a:cubicBezTo>
                <a:close/>
              </a:path>
            </a:pathLst>
          </a:custGeom>
          <a:solidFill>
            <a:srgbClr val="58A6FF"/>
          </a:solidFill>
          <a:ln/>
        </p:spPr>
      </p:sp>
      <p:sp>
        <p:nvSpPr>
          <p:cNvPr id="43" name="Text 41"/>
          <p:cNvSpPr/>
          <p:nvPr/>
        </p:nvSpPr>
        <p:spPr>
          <a:xfrm>
            <a:off x="6908800" y="3911603"/>
            <a:ext cx="11144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6EDF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Implementation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6625432" y="4254503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97066" y="15649"/>
                </a:moveTo>
                <a:cubicBezTo>
                  <a:pt x="100258" y="17971"/>
                  <a:pt x="100972" y="22436"/>
                  <a:pt x="98651" y="25628"/>
                </a:cubicBezTo>
                <a:lnTo>
                  <a:pt x="41501" y="104209"/>
                </a:lnTo>
                <a:cubicBezTo>
                  <a:pt x="40273" y="105906"/>
                  <a:pt x="38375" y="106955"/>
                  <a:pt x="36277" y="107134"/>
                </a:cubicBezTo>
                <a:cubicBezTo>
                  <a:pt x="34178" y="107313"/>
                  <a:pt x="32147" y="106531"/>
                  <a:pt x="30673" y="105058"/>
                </a:cubicBezTo>
                <a:lnTo>
                  <a:pt x="2098" y="76483"/>
                </a:lnTo>
                <a:cubicBezTo>
                  <a:pt x="-692" y="73692"/>
                  <a:pt x="-692" y="69160"/>
                  <a:pt x="2098" y="66370"/>
                </a:cubicBezTo>
                <a:cubicBezTo>
                  <a:pt x="4889" y="63579"/>
                  <a:pt x="9421" y="63579"/>
                  <a:pt x="12211" y="66370"/>
                </a:cubicBezTo>
                <a:lnTo>
                  <a:pt x="34870" y="89029"/>
                </a:lnTo>
                <a:lnTo>
                  <a:pt x="87109" y="17212"/>
                </a:lnTo>
                <a:cubicBezTo>
                  <a:pt x="89431" y="14020"/>
                  <a:pt x="93896" y="13305"/>
                  <a:pt x="97088" y="15627"/>
                </a:cubicBezTo>
                <a:close/>
              </a:path>
            </a:pathLst>
          </a:custGeom>
          <a:solidFill>
            <a:srgbClr val="58A6FF"/>
          </a:solidFill>
          <a:ln/>
        </p:spPr>
      </p:sp>
      <p:sp>
        <p:nvSpPr>
          <p:cNvPr id="45" name="Text 43"/>
          <p:cNvSpPr/>
          <p:nvPr/>
        </p:nvSpPr>
        <p:spPr>
          <a:xfrm>
            <a:off x="6823075" y="4216403"/>
            <a:ext cx="26765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B94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Real-time port congestion monitoring system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6625432" y="4483103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97066" y="15649"/>
                </a:moveTo>
                <a:cubicBezTo>
                  <a:pt x="100258" y="17971"/>
                  <a:pt x="100972" y="22436"/>
                  <a:pt x="98651" y="25628"/>
                </a:cubicBezTo>
                <a:lnTo>
                  <a:pt x="41501" y="104209"/>
                </a:lnTo>
                <a:cubicBezTo>
                  <a:pt x="40273" y="105906"/>
                  <a:pt x="38375" y="106955"/>
                  <a:pt x="36277" y="107134"/>
                </a:cubicBezTo>
                <a:cubicBezTo>
                  <a:pt x="34178" y="107313"/>
                  <a:pt x="32147" y="106531"/>
                  <a:pt x="30673" y="105058"/>
                </a:cubicBezTo>
                <a:lnTo>
                  <a:pt x="2098" y="76483"/>
                </a:lnTo>
                <a:cubicBezTo>
                  <a:pt x="-692" y="73692"/>
                  <a:pt x="-692" y="69160"/>
                  <a:pt x="2098" y="66370"/>
                </a:cubicBezTo>
                <a:cubicBezTo>
                  <a:pt x="4889" y="63579"/>
                  <a:pt x="9421" y="63579"/>
                  <a:pt x="12211" y="66370"/>
                </a:cubicBezTo>
                <a:lnTo>
                  <a:pt x="34870" y="89029"/>
                </a:lnTo>
                <a:lnTo>
                  <a:pt x="87109" y="17212"/>
                </a:lnTo>
                <a:cubicBezTo>
                  <a:pt x="89431" y="14020"/>
                  <a:pt x="93896" y="13305"/>
                  <a:pt x="97088" y="15627"/>
                </a:cubicBezTo>
                <a:close/>
              </a:path>
            </a:pathLst>
          </a:custGeom>
          <a:solidFill>
            <a:srgbClr val="58A6FF"/>
          </a:solidFill>
          <a:ln/>
        </p:spPr>
      </p:sp>
      <p:sp>
        <p:nvSpPr>
          <p:cNvPr id="47" name="Text 45"/>
          <p:cNvSpPr/>
          <p:nvPr/>
        </p:nvSpPr>
        <p:spPr>
          <a:xfrm>
            <a:off x="6823075" y="4445003"/>
            <a:ext cx="24669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B94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Alternative route recommendation engine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6625432" y="4711703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97066" y="15649"/>
                </a:moveTo>
                <a:cubicBezTo>
                  <a:pt x="100258" y="17971"/>
                  <a:pt x="100972" y="22436"/>
                  <a:pt x="98651" y="25628"/>
                </a:cubicBezTo>
                <a:lnTo>
                  <a:pt x="41501" y="104209"/>
                </a:lnTo>
                <a:cubicBezTo>
                  <a:pt x="40273" y="105906"/>
                  <a:pt x="38375" y="106955"/>
                  <a:pt x="36277" y="107134"/>
                </a:cubicBezTo>
                <a:cubicBezTo>
                  <a:pt x="34178" y="107313"/>
                  <a:pt x="32147" y="106531"/>
                  <a:pt x="30673" y="105058"/>
                </a:cubicBezTo>
                <a:lnTo>
                  <a:pt x="2098" y="76483"/>
                </a:lnTo>
                <a:cubicBezTo>
                  <a:pt x="-692" y="73692"/>
                  <a:pt x="-692" y="69160"/>
                  <a:pt x="2098" y="66370"/>
                </a:cubicBezTo>
                <a:cubicBezTo>
                  <a:pt x="4889" y="63579"/>
                  <a:pt x="9421" y="63579"/>
                  <a:pt x="12211" y="66370"/>
                </a:cubicBezTo>
                <a:lnTo>
                  <a:pt x="34870" y="89029"/>
                </a:lnTo>
                <a:lnTo>
                  <a:pt x="87109" y="17212"/>
                </a:lnTo>
                <a:cubicBezTo>
                  <a:pt x="89431" y="14020"/>
                  <a:pt x="93896" y="13305"/>
                  <a:pt x="97088" y="15627"/>
                </a:cubicBezTo>
                <a:close/>
              </a:path>
            </a:pathLst>
          </a:custGeom>
          <a:solidFill>
            <a:srgbClr val="58A6FF"/>
          </a:solidFill>
          <a:ln/>
        </p:spPr>
      </p:sp>
      <p:sp>
        <p:nvSpPr>
          <p:cNvPr id="49" name="Text 47"/>
          <p:cNvSpPr/>
          <p:nvPr/>
        </p:nvSpPr>
        <p:spPr>
          <a:xfrm>
            <a:off x="6823075" y="4673603"/>
            <a:ext cx="3000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B94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Priority handling for Galaxy S24 &amp; Z Fold shipments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6448425" y="5178427"/>
            <a:ext cx="5121275" cy="654050"/>
          </a:xfrm>
          <a:custGeom>
            <a:avLst/>
            <a:gdLst/>
            <a:ahLst/>
            <a:cxnLst/>
            <a:rect l="l" t="t" r="r" b="b"/>
            <a:pathLst>
              <a:path w="5121275" h="654050">
                <a:moveTo>
                  <a:pt x="76197" y="0"/>
                </a:moveTo>
                <a:lnTo>
                  <a:pt x="5045078" y="0"/>
                </a:lnTo>
                <a:cubicBezTo>
                  <a:pt x="5087161" y="0"/>
                  <a:pt x="5121275" y="34114"/>
                  <a:pt x="5121275" y="76197"/>
                </a:cubicBezTo>
                <a:lnTo>
                  <a:pt x="5121275" y="577853"/>
                </a:lnTo>
                <a:cubicBezTo>
                  <a:pt x="5121275" y="619936"/>
                  <a:pt x="5087161" y="654050"/>
                  <a:pt x="5045078" y="654050"/>
                </a:cubicBezTo>
                <a:lnTo>
                  <a:pt x="76197" y="654050"/>
                </a:lnTo>
                <a:cubicBezTo>
                  <a:pt x="34114" y="654050"/>
                  <a:pt x="0" y="619936"/>
                  <a:pt x="0" y="577853"/>
                </a:cubicBezTo>
                <a:lnTo>
                  <a:pt x="0" y="76197"/>
                </a:lnTo>
                <a:cubicBezTo>
                  <a:pt x="0" y="34143"/>
                  <a:pt x="34143" y="0"/>
                  <a:pt x="76197" y="0"/>
                </a:cubicBezTo>
                <a:close/>
              </a:path>
            </a:pathLst>
          </a:custGeom>
          <a:gradFill flip="none" rotWithShape="1">
            <a:gsLst>
              <a:gs pos="0">
                <a:srgbClr val="00D9FF">
                  <a:alpha val="10000"/>
                </a:srgbClr>
              </a:gs>
              <a:gs pos="100000">
                <a:srgbClr val="58A6FF">
                  <a:alpha val="10000"/>
                </a:srgbClr>
              </a:gs>
            </a:gsLst>
            <a:lin ang="0" scaled="1"/>
          </a:gradFill>
          <a:ln w="8467">
            <a:solidFill>
              <a:srgbClr val="00D9FF">
                <a:alpha val="30196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604000" y="5410200"/>
            <a:ext cx="238125" cy="190500"/>
          </a:xfrm>
          <a:custGeom>
            <a:avLst/>
            <a:gdLst/>
            <a:ahLst/>
            <a:cxnLst/>
            <a:rect l="l" t="t" r="r" b="b"/>
            <a:pathLst>
              <a:path w="238125" h="190500">
                <a:moveTo>
                  <a:pt x="23812" y="35719"/>
                </a:moveTo>
                <a:cubicBezTo>
                  <a:pt x="23812" y="22585"/>
                  <a:pt x="34491" y="11906"/>
                  <a:pt x="47625" y="11906"/>
                </a:cubicBezTo>
                <a:lnTo>
                  <a:pt x="154781" y="11906"/>
                </a:lnTo>
                <a:cubicBezTo>
                  <a:pt x="167915" y="11906"/>
                  <a:pt x="178594" y="22585"/>
                  <a:pt x="178594" y="35719"/>
                </a:cubicBezTo>
                <a:lnTo>
                  <a:pt x="178594" y="47625"/>
                </a:lnTo>
                <a:lnTo>
                  <a:pt x="197458" y="47625"/>
                </a:lnTo>
                <a:cubicBezTo>
                  <a:pt x="203783" y="47625"/>
                  <a:pt x="209848" y="50118"/>
                  <a:pt x="214313" y="54583"/>
                </a:cubicBezTo>
                <a:lnTo>
                  <a:pt x="231167" y="71438"/>
                </a:lnTo>
                <a:cubicBezTo>
                  <a:pt x="235632" y="75902"/>
                  <a:pt x="238125" y="81967"/>
                  <a:pt x="238125" y="88292"/>
                </a:cubicBezTo>
                <a:lnTo>
                  <a:pt x="238125" y="142875"/>
                </a:lnTo>
                <a:cubicBezTo>
                  <a:pt x="238125" y="156009"/>
                  <a:pt x="227447" y="166688"/>
                  <a:pt x="214313" y="166688"/>
                </a:cubicBezTo>
                <a:lnTo>
                  <a:pt x="213085" y="166688"/>
                </a:lnTo>
                <a:cubicBezTo>
                  <a:pt x="209215" y="180417"/>
                  <a:pt x="196565" y="190500"/>
                  <a:pt x="181570" y="190500"/>
                </a:cubicBezTo>
                <a:cubicBezTo>
                  <a:pt x="166576" y="190500"/>
                  <a:pt x="153963" y="180417"/>
                  <a:pt x="150056" y="166688"/>
                </a:cubicBezTo>
                <a:lnTo>
                  <a:pt x="111882" y="166688"/>
                </a:lnTo>
                <a:cubicBezTo>
                  <a:pt x="108012" y="180417"/>
                  <a:pt x="95362" y="190500"/>
                  <a:pt x="80367" y="190500"/>
                </a:cubicBezTo>
                <a:cubicBezTo>
                  <a:pt x="65373" y="190500"/>
                  <a:pt x="52760" y="180417"/>
                  <a:pt x="48853" y="166688"/>
                </a:cubicBezTo>
                <a:lnTo>
                  <a:pt x="47625" y="166688"/>
                </a:lnTo>
                <a:cubicBezTo>
                  <a:pt x="34491" y="166688"/>
                  <a:pt x="23813" y="156009"/>
                  <a:pt x="23813" y="142875"/>
                </a:cubicBezTo>
                <a:lnTo>
                  <a:pt x="23813" y="125016"/>
                </a:lnTo>
                <a:lnTo>
                  <a:pt x="8930" y="125016"/>
                </a:lnTo>
                <a:cubicBezTo>
                  <a:pt x="3981" y="125016"/>
                  <a:pt x="0" y="121034"/>
                  <a:pt x="0" y="116086"/>
                </a:cubicBezTo>
                <a:cubicBezTo>
                  <a:pt x="0" y="111137"/>
                  <a:pt x="3981" y="107156"/>
                  <a:pt x="8930" y="107156"/>
                </a:cubicBezTo>
                <a:lnTo>
                  <a:pt x="50602" y="107156"/>
                </a:lnTo>
                <a:cubicBezTo>
                  <a:pt x="55550" y="107156"/>
                  <a:pt x="59531" y="103175"/>
                  <a:pt x="59531" y="98227"/>
                </a:cubicBezTo>
                <a:cubicBezTo>
                  <a:pt x="59531" y="93278"/>
                  <a:pt x="55550" y="89297"/>
                  <a:pt x="50602" y="89297"/>
                </a:cubicBezTo>
                <a:lnTo>
                  <a:pt x="8930" y="89297"/>
                </a:lnTo>
                <a:cubicBezTo>
                  <a:pt x="3981" y="89297"/>
                  <a:pt x="0" y="85316"/>
                  <a:pt x="0" y="80367"/>
                </a:cubicBezTo>
                <a:cubicBezTo>
                  <a:pt x="0" y="75419"/>
                  <a:pt x="3981" y="71438"/>
                  <a:pt x="8930" y="71438"/>
                </a:cubicBezTo>
                <a:lnTo>
                  <a:pt x="74414" y="71438"/>
                </a:lnTo>
                <a:cubicBezTo>
                  <a:pt x="79363" y="71438"/>
                  <a:pt x="83344" y="67456"/>
                  <a:pt x="83344" y="62508"/>
                </a:cubicBezTo>
                <a:cubicBezTo>
                  <a:pt x="83344" y="57559"/>
                  <a:pt x="79363" y="53578"/>
                  <a:pt x="74414" y="53578"/>
                </a:cubicBezTo>
                <a:lnTo>
                  <a:pt x="8930" y="53578"/>
                </a:lnTo>
                <a:cubicBezTo>
                  <a:pt x="3981" y="53578"/>
                  <a:pt x="0" y="49597"/>
                  <a:pt x="0" y="44648"/>
                </a:cubicBezTo>
                <a:cubicBezTo>
                  <a:pt x="0" y="39700"/>
                  <a:pt x="3981" y="35719"/>
                  <a:pt x="8930" y="35719"/>
                </a:cubicBezTo>
                <a:lnTo>
                  <a:pt x="23812" y="35719"/>
                </a:lnTo>
                <a:close/>
                <a:moveTo>
                  <a:pt x="214313" y="107156"/>
                </a:moveTo>
                <a:lnTo>
                  <a:pt x="214313" y="88292"/>
                </a:lnTo>
                <a:lnTo>
                  <a:pt x="197458" y="71438"/>
                </a:lnTo>
                <a:lnTo>
                  <a:pt x="178594" y="71438"/>
                </a:lnTo>
                <a:lnTo>
                  <a:pt x="178594" y="107156"/>
                </a:lnTo>
                <a:lnTo>
                  <a:pt x="214313" y="107156"/>
                </a:lnTo>
                <a:close/>
                <a:moveTo>
                  <a:pt x="95250" y="157758"/>
                </a:moveTo>
                <a:cubicBezTo>
                  <a:pt x="95250" y="149544"/>
                  <a:pt x="88581" y="142875"/>
                  <a:pt x="80367" y="142875"/>
                </a:cubicBezTo>
                <a:cubicBezTo>
                  <a:pt x="72153" y="142875"/>
                  <a:pt x="65484" y="149544"/>
                  <a:pt x="65484" y="157758"/>
                </a:cubicBezTo>
                <a:cubicBezTo>
                  <a:pt x="65484" y="165972"/>
                  <a:pt x="72153" y="172641"/>
                  <a:pt x="80367" y="172641"/>
                </a:cubicBezTo>
                <a:cubicBezTo>
                  <a:pt x="88581" y="172641"/>
                  <a:pt x="95250" y="165972"/>
                  <a:pt x="95250" y="157758"/>
                </a:cubicBezTo>
                <a:close/>
                <a:moveTo>
                  <a:pt x="181570" y="172641"/>
                </a:moveTo>
                <a:cubicBezTo>
                  <a:pt x="189784" y="172641"/>
                  <a:pt x="196453" y="165972"/>
                  <a:pt x="196453" y="157758"/>
                </a:cubicBezTo>
                <a:cubicBezTo>
                  <a:pt x="196453" y="149544"/>
                  <a:pt x="189784" y="142875"/>
                  <a:pt x="181570" y="142875"/>
                </a:cubicBezTo>
                <a:cubicBezTo>
                  <a:pt x="173356" y="142875"/>
                  <a:pt x="166688" y="149544"/>
                  <a:pt x="166688" y="157758"/>
                </a:cubicBezTo>
                <a:cubicBezTo>
                  <a:pt x="166688" y="165972"/>
                  <a:pt x="173356" y="172641"/>
                  <a:pt x="181570" y="172641"/>
                </a:cubicBezTo>
                <a:close/>
              </a:path>
            </a:pathLst>
          </a:custGeom>
          <a:solidFill>
            <a:srgbClr val="58A6FF"/>
          </a:solidFill>
          <a:ln/>
        </p:spPr>
      </p:sp>
      <p:sp>
        <p:nvSpPr>
          <p:cNvPr id="52" name="Text 50"/>
          <p:cNvSpPr/>
          <p:nvPr/>
        </p:nvSpPr>
        <p:spPr>
          <a:xfrm>
            <a:off x="6956425" y="5334000"/>
            <a:ext cx="37814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6EDF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Expected Impact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6956425" y="5524500"/>
            <a:ext cx="37719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8B94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-40% port delays • +15% on-time delivery • Improved customer satisfaction</a:t>
            </a:r>
            <a:endParaRPr lang="en-US" sz="1600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AAAB5990-E3CF-7B3B-FB78-781EF172E814}"/>
              </a:ext>
            </a:extLst>
          </p:cNvPr>
          <p:cNvSpPr txBox="1"/>
          <p:nvPr/>
        </p:nvSpPr>
        <p:spPr>
          <a:xfrm>
            <a:off x="9575264" y="161925"/>
            <a:ext cx="26161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ssharma9663@gmail.com</a:t>
            </a:r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61E37BC-C97E-2DBB-B4CF-859364606B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img.freepik.com/c512d21c998e9b67952364371f9206b03990b10d.jpg">
            <a:extLst>
              <a:ext uri="{FF2B5EF4-FFF2-40B4-BE49-F238E27FC236}">
                <a16:creationId xmlns:a16="http://schemas.microsoft.com/office/drawing/2014/main" id="{86F0587C-5427-7B38-9DB2-620DCF5DBCB4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0"/>
          </a:blip>
          <a:srcRect l="160" r="160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>
            <a:extLst>
              <a:ext uri="{FF2B5EF4-FFF2-40B4-BE49-F238E27FC236}">
                <a16:creationId xmlns:a16="http://schemas.microsoft.com/office/drawing/2014/main" id="{25FE6AFE-89A7-0B52-C251-CCA3ED09C5C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0D1117">
                  <a:alpha val="95000"/>
                </a:srgbClr>
              </a:gs>
              <a:gs pos="50000">
                <a:srgbClr val="0D1117">
                  <a:alpha val="85000"/>
                </a:srgbClr>
              </a:gs>
              <a:gs pos="100000">
                <a:srgbClr val="0D1117">
                  <a:alpha val="70000"/>
                </a:srgbClr>
              </a:gs>
            </a:gsLst>
            <a:lin ang="2700000" scaled="1"/>
          </a:gradFill>
          <a:ln/>
        </p:spPr>
      </p:sp>
      <p:sp>
        <p:nvSpPr>
          <p:cNvPr id="4" name="Shape 1">
            <a:extLst>
              <a:ext uri="{FF2B5EF4-FFF2-40B4-BE49-F238E27FC236}">
                <a16:creationId xmlns:a16="http://schemas.microsoft.com/office/drawing/2014/main" id="{53741CEA-25CB-DD4E-5CFD-5594DCB2C807}"/>
              </a:ext>
            </a:extLst>
          </p:cNvPr>
          <p:cNvSpPr/>
          <p:nvPr/>
        </p:nvSpPr>
        <p:spPr>
          <a:xfrm>
            <a:off x="365881" y="117868"/>
            <a:ext cx="2854476" cy="332619"/>
          </a:xfrm>
          <a:custGeom>
            <a:avLst/>
            <a:gdLst/>
            <a:ahLst/>
            <a:cxnLst/>
            <a:rect l="l" t="t" r="r" b="b"/>
            <a:pathLst>
              <a:path w="2854476" h="332619">
                <a:moveTo>
                  <a:pt x="166310" y="0"/>
                </a:moveTo>
                <a:lnTo>
                  <a:pt x="2688167" y="0"/>
                </a:lnTo>
                <a:cubicBezTo>
                  <a:pt x="2780017" y="0"/>
                  <a:pt x="2854476" y="74459"/>
                  <a:pt x="2854476" y="166310"/>
                </a:cubicBezTo>
                <a:lnTo>
                  <a:pt x="2854476" y="166310"/>
                </a:lnTo>
                <a:cubicBezTo>
                  <a:pt x="2854476" y="258160"/>
                  <a:pt x="2780017" y="332619"/>
                  <a:pt x="2688167" y="332619"/>
                </a:cubicBezTo>
                <a:lnTo>
                  <a:pt x="166310" y="332619"/>
                </a:lnTo>
                <a:cubicBezTo>
                  <a:pt x="74459" y="332619"/>
                  <a:pt x="0" y="258160"/>
                  <a:pt x="0" y="166310"/>
                </a:cubicBezTo>
                <a:lnTo>
                  <a:pt x="0" y="166310"/>
                </a:lnTo>
                <a:cubicBezTo>
                  <a:pt x="0" y="74459"/>
                  <a:pt x="74459" y="0"/>
                  <a:pt x="166310" y="0"/>
                </a:cubicBezTo>
                <a:close/>
              </a:path>
            </a:pathLst>
          </a:custGeom>
          <a:solidFill>
            <a:srgbClr val="58A6FF">
              <a:alpha val="10196"/>
            </a:srgbClr>
          </a:solidFill>
          <a:ln w="8467">
            <a:solidFill>
              <a:srgbClr val="58A6FF">
                <a:alpha val="30196"/>
              </a:srgbClr>
            </a:solidFill>
            <a:prstDash val="solid"/>
          </a:ln>
        </p:spPr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3F9A098B-7309-D154-EA39-E1BC255D64DB}"/>
              </a:ext>
            </a:extLst>
          </p:cNvPr>
          <p:cNvSpPr/>
          <p:nvPr/>
        </p:nvSpPr>
        <p:spPr>
          <a:xfrm>
            <a:off x="550333" y="247895"/>
            <a:ext cx="72571" cy="72571"/>
          </a:xfrm>
          <a:custGeom>
            <a:avLst/>
            <a:gdLst/>
            <a:ahLst/>
            <a:cxnLst/>
            <a:rect l="l" t="t" r="r" b="b"/>
            <a:pathLst>
              <a:path w="72571" h="72571">
                <a:moveTo>
                  <a:pt x="36286" y="0"/>
                </a:moveTo>
                <a:lnTo>
                  <a:pt x="36286" y="0"/>
                </a:lnTo>
                <a:cubicBezTo>
                  <a:pt x="56312" y="0"/>
                  <a:pt x="72571" y="16259"/>
                  <a:pt x="72571" y="36286"/>
                </a:cubicBezTo>
                <a:lnTo>
                  <a:pt x="72571" y="36286"/>
                </a:lnTo>
                <a:cubicBezTo>
                  <a:pt x="72571" y="56312"/>
                  <a:pt x="56312" y="72571"/>
                  <a:pt x="36286" y="72571"/>
                </a:cubicBezTo>
                <a:lnTo>
                  <a:pt x="36286" y="72571"/>
                </a:lnTo>
                <a:cubicBezTo>
                  <a:pt x="16259" y="72571"/>
                  <a:pt x="0" y="56312"/>
                  <a:pt x="0" y="36286"/>
                </a:cubicBezTo>
                <a:lnTo>
                  <a:pt x="0" y="36286"/>
                </a:lnTo>
                <a:cubicBezTo>
                  <a:pt x="0" y="16259"/>
                  <a:pt x="16259" y="0"/>
                  <a:pt x="36286" y="0"/>
                </a:cubicBezTo>
                <a:close/>
              </a:path>
            </a:pathLst>
          </a:custGeom>
          <a:solidFill>
            <a:srgbClr val="00D9FF"/>
          </a:solidFill>
          <a:ln/>
        </p:spPr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FF145108-A318-2A90-040D-D8B240CA3C87}"/>
              </a:ext>
            </a:extLst>
          </p:cNvPr>
          <p:cNvSpPr/>
          <p:nvPr/>
        </p:nvSpPr>
        <p:spPr>
          <a:xfrm>
            <a:off x="731762" y="193466"/>
            <a:ext cx="2367643" cy="181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0" kern="0" spc="200" dirty="0">
                <a:solidFill>
                  <a:srgbClr val="58A6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Transformation Journey</a:t>
            </a:r>
            <a:endParaRPr lang="en-US" sz="160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3CC07447-EF44-1677-80C5-CD87DED43C00}"/>
              </a:ext>
            </a:extLst>
          </p:cNvPr>
          <p:cNvSpPr/>
          <p:nvPr/>
        </p:nvSpPr>
        <p:spPr>
          <a:xfrm>
            <a:off x="362857" y="778632"/>
            <a:ext cx="11738429" cy="680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286" b="1" dirty="0">
                <a:solidFill>
                  <a:srgbClr val="E6EDF3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The Road Ahead</a:t>
            </a:r>
            <a:endParaRPr lang="en-US" sz="1600" dirty="0"/>
          </a:p>
        </p:txBody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7ADB90AB-B8C0-15B7-6313-2E9484D7D424}"/>
              </a:ext>
            </a:extLst>
          </p:cNvPr>
          <p:cNvSpPr/>
          <p:nvPr/>
        </p:nvSpPr>
        <p:spPr>
          <a:xfrm>
            <a:off x="362857" y="1676704"/>
            <a:ext cx="1451429" cy="36286"/>
          </a:xfrm>
          <a:custGeom>
            <a:avLst/>
            <a:gdLst/>
            <a:ahLst/>
            <a:cxnLst/>
            <a:rect l="l" t="t" r="r" b="b"/>
            <a:pathLst>
              <a:path w="1451429" h="36286">
                <a:moveTo>
                  <a:pt x="18143" y="0"/>
                </a:moveTo>
                <a:lnTo>
                  <a:pt x="1433286" y="0"/>
                </a:lnTo>
                <a:cubicBezTo>
                  <a:pt x="1443306" y="0"/>
                  <a:pt x="1451429" y="8123"/>
                  <a:pt x="1451429" y="18143"/>
                </a:cubicBezTo>
                <a:lnTo>
                  <a:pt x="1451429" y="18143"/>
                </a:lnTo>
                <a:cubicBezTo>
                  <a:pt x="1451429" y="28163"/>
                  <a:pt x="1443306" y="36286"/>
                  <a:pt x="1433286" y="36286"/>
                </a:cubicBezTo>
                <a:lnTo>
                  <a:pt x="18143" y="36286"/>
                </a:lnTo>
                <a:cubicBezTo>
                  <a:pt x="8130" y="36286"/>
                  <a:pt x="0" y="28156"/>
                  <a:pt x="0" y="18143"/>
                </a:cubicBezTo>
                <a:lnTo>
                  <a:pt x="0" y="18143"/>
                </a:lnTo>
                <a:cubicBezTo>
                  <a:pt x="0" y="8130"/>
                  <a:pt x="8130" y="0"/>
                  <a:pt x="18143" y="0"/>
                </a:cubicBezTo>
                <a:close/>
              </a:path>
            </a:pathLst>
          </a:custGeom>
          <a:gradFill flip="none" rotWithShape="1">
            <a:gsLst>
              <a:gs pos="0">
                <a:srgbClr val="58A6FF"/>
              </a:gs>
              <a:gs pos="100000">
                <a:srgbClr val="00D9FF"/>
              </a:gs>
            </a:gsLst>
            <a:lin ang="0" scaled="1"/>
          </a:gradFill>
          <a:ln/>
        </p:spPr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21721BCC-B69D-D1EC-4F96-5C67A00CB07C}"/>
              </a:ext>
            </a:extLst>
          </p:cNvPr>
          <p:cNvSpPr/>
          <p:nvPr/>
        </p:nvSpPr>
        <p:spPr>
          <a:xfrm>
            <a:off x="362857" y="1930704"/>
            <a:ext cx="11602357" cy="3265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143" dirty="0">
                <a:solidFill>
                  <a:srgbClr val="8B949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Moving from </a:t>
            </a:r>
            <a:r>
              <a:rPr lang="en-US" sz="2143" dirty="0">
                <a:solidFill>
                  <a:srgbClr val="F8514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Reactive</a:t>
            </a:r>
            <a:r>
              <a:rPr lang="en-US" sz="2143" dirty="0">
                <a:solidFill>
                  <a:srgbClr val="8B949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to </a:t>
            </a:r>
            <a:r>
              <a:rPr lang="en-US" sz="2143" dirty="0">
                <a:solidFill>
                  <a:srgbClr val="00D9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Predictive</a:t>
            </a:r>
            <a:r>
              <a:rPr lang="en-US" sz="2143" dirty="0">
                <a:solidFill>
                  <a:srgbClr val="8B949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Supply Chain</a:t>
            </a:r>
            <a:endParaRPr lang="en-US" sz="1600" dirty="0"/>
          </a:p>
        </p:txBody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6A7F7D7A-1337-1CEB-8804-DB51C0D935D1}"/>
              </a:ext>
            </a:extLst>
          </p:cNvPr>
          <p:cNvSpPr/>
          <p:nvPr/>
        </p:nvSpPr>
        <p:spPr>
          <a:xfrm>
            <a:off x="365881" y="2913442"/>
            <a:ext cx="3670905" cy="1602619"/>
          </a:xfrm>
          <a:custGeom>
            <a:avLst/>
            <a:gdLst/>
            <a:ahLst/>
            <a:cxnLst/>
            <a:rect l="l" t="t" r="r" b="b"/>
            <a:pathLst>
              <a:path w="3670905" h="1602619">
                <a:moveTo>
                  <a:pt x="145149" y="0"/>
                </a:moveTo>
                <a:lnTo>
                  <a:pt x="3525756" y="0"/>
                </a:lnTo>
                <a:cubicBezTo>
                  <a:pt x="3605919" y="0"/>
                  <a:pt x="3670905" y="64986"/>
                  <a:pt x="3670905" y="145149"/>
                </a:cubicBezTo>
                <a:lnTo>
                  <a:pt x="3670905" y="1457470"/>
                </a:lnTo>
                <a:cubicBezTo>
                  <a:pt x="3670905" y="1537634"/>
                  <a:pt x="3605919" y="1602619"/>
                  <a:pt x="3525756" y="1602619"/>
                </a:cubicBezTo>
                <a:lnTo>
                  <a:pt x="145149" y="1602619"/>
                </a:lnTo>
                <a:cubicBezTo>
                  <a:pt x="64986" y="1602619"/>
                  <a:pt x="0" y="1537634"/>
                  <a:pt x="0" y="1457470"/>
                </a:cubicBezTo>
                <a:lnTo>
                  <a:pt x="0" y="145149"/>
                </a:lnTo>
                <a:cubicBezTo>
                  <a:pt x="0" y="65039"/>
                  <a:pt x="65039" y="0"/>
                  <a:pt x="145149" y="0"/>
                </a:cubicBezTo>
                <a:close/>
              </a:path>
            </a:pathLst>
          </a:custGeom>
          <a:gradFill flip="none" rotWithShape="1">
            <a:gsLst>
              <a:gs pos="0">
                <a:srgbClr val="161B22">
                  <a:alpha val="80000"/>
                </a:srgbClr>
              </a:gs>
              <a:gs pos="100000">
                <a:srgbClr val="0D1117">
                  <a:alpha val="80000"/>
                </a:srgbClr>
              </a:gs>
            </a:gsLst>
            <a:lin ang="2700000" scaled="1"/>
          </a:gradFill>
          <a:ln w="8467">
            <a:solidFill>
              <a:srgbClr val="58A6FF">
                <a:alpha val="30196"/>
              </a:srgbClr>
            </a:solidFill>
            <a:prstDash val="solid"/>
          </a:ln>
        </p:spPr>
      </p:sp>
      <p:sp>
        <p:nvSpPr>
          <p:cNvPr id="11" name="Shape 8">
            <a:extLst>
              <a:ext uri="{FF2B5EF4-FFF2-40B4-BE49-F238E27FC236}">
                <a16:creationId xmlns:a16="http://schemas.microsoft.com/office/drawing/2014/main" id="{C86203A8-CED7-7367-0DA2-7FD57A1F0C82}"/>
              </a:ext>
            </a:extLst>
          </p:cNvPr>
          <p:cNvSpPr/>
          <p:nvPr/>
        </p:nvSpPr>
        <p:spPr>
          <a:xfrm>
            <a:off x="586619" y="3134179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108859" y="0"/>
                </a:moveTo>
                <a:lnTo>
                  <a:pt x="399141" y="0"/>
                </a:lnTo>
                <a:cubicBezTo>
                  <a:pt x="459222" y="0"/>
                  <a:pt x="508000" y="48778"/>
                  <a:pt x="508000" y="108859"/>
                </a:cubicBezTo>
                <a:lnTo>
                  <a:pt x="508000" y="399141"/>
                </a:lnTo>
                <a:cubicBezTo>
                  <a:pt x="508000" y="459222"/>
                  <a:pt x="459222" y="508000"/>
                  <a:pt x="399141" y="508000"/>
                </a:cubicBezTo>
                <a:lnTo>
                  <a:pt x="108859" y="508000"/>
                </a:lnTo>
                <a:cubicBezTo>
                  <a:pt x="48778" y="508000"/>
                  <a:pt x="0" y="459222"/>
                  <a:pt x="0" y="399141"/>
                </a:cubicBezTo>
                <a:lnTo>
                  <a:pt x="0" y="108859"/>
                </a:lnTo>
                <a:cubicBezTo>
                  <a:pt x="0" y="48778"/>
                  <a:pt x="48778" y="0"/>
                  <a:pt x="108859" y="0"/>
                </a:cubicBezTo>
                <a:close/>
              </a:path>
            </a:pathLst>
          </a:custGeom>
          <a:solidFill>
            <a:srgbClr val="58A6FF">
              <a:alpha val="20000"/>
            </a:srgbClr>
          </a:solidFill>
          <a:ln/>
        </p:spPr>
      </p:sp>
      <p:sp>
        <p:nvSpPr>
          <p:cNvPr id="12" name="Shape 9">
            <a:extLst>
              <a:ext uri="{FF2B5EF4-FFF2-40B4-BE49-F238E27FC236}">
                <a16:creationId xmlns:a16="http://schemas.microsoft.com/office/drawing/2014/main" id="{8C626FA9-8E46-2E73-CE4B-22353AB8CC33}"/>
              </a:ext>
            </a:extLst>
          </p:cNvPr>
          <p:cNvSpPr/>
          <p:nvPr/>
        </p:nvSpPr>
        <p:spPr>
          <a:xfrm>
            <a:off x="731762" y="3279321"/>
            <a:ext cx="217714" cy="217714"/>
          </a:xfrm>
          <a:custGeom>
            <a:avLst/>
            <a:gdLst/>
            <a:ahLst/>
            <a:cxnLst/>
            <a:rect l="l" t="t" r="r" b="b"/>
            <a:pathLst>
              <a:path w="217714" h="217714">
                <a:moveTo>
                  <a:pt x="51027" y="23813"/>
                </a:moveTo>
                <a:cubicBezTo>
                  <a:pt x="51027" y="10673"/>
                  <a:pt x="61700" y="0"/>
                  <a:pt x="74839" y="0"/>
                </a:cubicBezTo>
                <a:lnTo>
                  <a:pt x="85045" y="0"/>
                </a:lnTo>
                <a:cubicBezTo>
                  <a:pt x="92571" y="0"/>
                  <a:pt x="98652" y="6081"/>
                  <a:pt x="98652" y="13607"/>
                </a:cubicBezTo>
                <a:lnTo>
                  <a:pt x="98652" y="204107"/>
                </a:lnTo>
                <a:cubicBezTo>
                  <a:pt x="98652" y="211634"/>
                  <a:pt x="92571" y="217714"/>
                  <a:pt x="85045" y="217714"/>
                </a:cubicBezTo>
                <a:lnTo>
                  <a:pt x="71438" y="217714"/>
                </a:lnTo>
                <a:cubicBezTo>
                  <a:pt x="58766" y="217714"/>
                  <a:pt x="48093" y="209040"/>
                  <a:pt x="45074" y="197304"/>
                </a:cubicBezTo>
                <a:cubicBezTo>
                  <a:pt x="44776" y="197304"/>
                  <a:pt x="44521" y="197304"/>
                  <a:pt x="44223" y="197304"/>
                </a:cubicBezTo>
                <a:cubicBezTo>
                  <a:pt x="25428" y="197304"/>
                  <a:pt x="10205" y="182081"/>
                  <a:pt x="10205" y="163286"/>
                </a:cubicBezTo>
                <a:cubicBezTo>
                  <a:pt x="10205" y="155632"/>
                  <a:pt x="12757" y="148573"/>
                  <a:pt x="17009" y="142875"/>
                </a:cubicBezTo>
                <a:cubicBezTo>
                  <a:pt x="8760" y="136667"/>
                  <a:pt x="3402" y="126802"/>
                  <a:pt x="3402" y="115661"/>
                </a:cubicBezTo>
                <a:cubicBezTo>
                  <a:pt x="3402" y="102521"/>
                  <a:pt x="10886" y="91083"/>
                  <a:pt x="21771" y="85427"/>
                </a:cubicBezTo>
                <a:cubicBezTo>
                  <a:pt x="18752" y="80325"/>
                  <a:pt x="17009" y="74372"/>
                  <a:pt x="17009" y="68036"/>
                </a:cubicBezTo>
                <a:cubicBezTo>
                  <a:pt x="17009" y="49241"/>
                  <a:pt x="32232" y="34018"/>
                  <a:pt x="51027" y="34018"/>
                </a:cubicBezTo>
                <a:lnTo>
                  <a:pt x="51027" y="23813"/>
                </a:lnTo>
                <a:close/>
                <a:moveTo>
                  <a:pt x="166688" y="23813"/>
                </a:moveTo>
                <a:lnTo>
                  <a:pt x="166688" y="34018"/>
                </a:lnTo>
                <a:cubicBezTo>
                  <a:pt x="185482" y="34018"/>
                  <a:pt x="200705" y="49241"/>
                  <a:pt x="200705" y="68036"/>
                </a:cubicBezTo>
                <a:cubicBezTo>
                  <a:pt x="200705" y="74414"/>
                  <a:pt x="198962" y="80367"/>
                  <a:pt x="195943" y="85427"/>
                </a:cubicBezTo>
                <a:cubicBezTo>
                  <a:pt x="206871" y="91083"/>
                  <a:pt x="214313" y="102479"/>
                  <a:pt x="214313" y="115661"/>
                </a:cubicBezTo>
                <a:cubicBezTo>
                  <a:pt x="214313" y="126802"/>
                  <a:pt x="208955" y="136667"/>
                  <a:pt x="200705" y="142875"/>
                </a:cubicBezTo>
                <a:cubicBezTo>
                  <a:pt x="204958" y="148573"/>
                  <a:pt x="207509" y="155632"/>
                  <a:pt x="207509" y="163286"/>
                </a:cubicBezTo>
                <a:cubicBezTo>
                  <a:pt x="207509" y="182081"/>
                  <a:pt x="192286" y="197304"/>
                  <a:pt x="173491" y="197304"/>
                </a:cubicBezTo>
                <a:cubicBezTo>
                  <a:pt x="173193" y="197304"/>
                  <a:pt x="172938" y="197304"/>
                  <a:pt x="172641" y="197304"/>
                </a:cubicBezTo>
                <a:cubicBezTo>
                  <a:pt x="169622" y="209040"/>
                  <a:pt x="158948" y="217714"/>
                  <a:pt x="146277" y="217714"/>
                </a:cubicBezTo>
                <a:lnTo>
                  <a:pt x="132670" y="217714"/>
                </a:lnTo>
                <a:cubicBezTo>
                  <a:pt x="125143" y="217714"/>
                  <a:pt x="119062" y="211634"/>
                  <a:pt x="119062" y="204107"/>
                </a:cubicBezTo>
                <a:lnTo>
                  <a:pt x="119062" y="13607"/>
                </a:lnTo>
                <a:cubicBezTo>
                  <a:pt x="119062" y="6081"/>
                  <a:pt x="125143" y="0"/>
                  <a:pt x="132670" y="0"/>
                </a:cubicBezTo>
                <a:lnTo>
                  <a:pt x="142875" y="0"/>
                </a:lnTo>
                <a:cubicBezTo>
                  <a:pt x="156014" y="0"/>
                  <a:pt x="166688" y="10673"/>
                  <a:pt x="166688" y="23813"/>
                </a:cubicBezTo>
                <a:close/>
              </a:path>
            </a:pathLst>
          </a:custGeom>
          <a:solidFill>
            <a:srgbClr val="58A6FF"/>
          </a:solidFill>
          <a:ln/>
        </p:spPr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6B9D8647-DCDD-344E-BB72-131BAB8C7481}"/>
              </a:ext>
            </a:extLst>
          </p:cNvPr>
          <p:cNvSpPr/>
          <p:nvPr/>
        </p:nvSpPr>
        <p:spPr>
          <a:xfrm>
            <a:off x="586619" y="3787321"/>
            <a:ext cx="332014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29" b="1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AI-Driven</a:t>
            </a:r>
            <a:endParaRPr lang="en-US" sz="1600" dirty="0"/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6F51C923-5B00-80C8-24F0-8077CC40CAE2}"/>
              </a:ext>
            </a:extLst>
          </p:cNvPr>
          <p:cNvSpPr/>
          <p:nvPr/>
        </p:nvSpPr>
        <p:spPr>
          <a:xfrm>
            <a:off x="586619" y="4113893"/>
            <a:ext cx="3292929" cy="181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0" dirty="0">
                <a:solidFill>
                  <a:srgbClr val="8B94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Intelligent automation across all supply chain touchpoints</a:t>
            </a:r>
            <a:endParaRPr lang="en-US" sz="1600" dirty="0"/>
          </a:p>
        </p:txBody>
      </p:sp>
      <p:sp>
        <p:nvSpPr>
          <p:cNvPr id="15" name="Shape 12">
            <a:extLst>
              <a:ext uri="{FF2B5EF4-FFF2-40B4-BE49-F238E27FC236}">
                <a16:creationId xmlns:a16="http://schemas.microsoft.com/office/drawing/2014/main" id="{F18BFE28-1D33-8BAD-9A39-22A0A3B4220B}"/>
              </a:ext>
            </a:extLst>
          </p:cNvPr>
          <p:cNvSpPr/>
          <p:nvPr/>
        </p:nvSpPr>
        <p:spPr>
          <a:xfrm>
            <a:off x="4260548" y="2913442"/>
            <a:ext cx="3670905" cy="1602619"/>
          </a:xfrm>
          <a:custGeom>
            <a:avLst/>
            <a:gdLst/>
            <a:ahLst/>
            <a:cxnLst/>
            <a:rect l="l" t="t" r="r" b="b"/>
            <a:pathLst>
              <a:path w="3670905" h="1602619">
                <a:moveTo>
                  <a:pt x="145149" y="0"/>
                </a:moveTo>
                <a:lnTo>
                  <a:pt x="3525756" y="0"/>
                </a:lnTo>
                <a:cubicBezTo>
                  <a:pt x="3605919" y="0"/>
                  <a:pt x="3670905" y="64986"/>
                  <a:pt x="3670905" y="145149"/>
                </a:cubicBezTo>
                <a:lnTo>
                  <a:pt x="3670905" y="1457470"/>
                </a:lnTo>
                <a:cubicBezTo>
                  <a:pt x="3670905" y="1537634"/>
                  <a:pt x="3605919" y="1602619"/>
                  <a:pt x="3525756" y="1602619"/>
                </a:cubicBezTo>
                <a:lnTo>
                  <a:pt x="145149" y="1602619"/>
                </a:lnTo>
                <a:cubicBezTo>
                  <a:pt x="64986" y="1602619"/>
                  <a:pt x="0" y="1537634"/>
                  <a:pt x="0" y="1457470"/>
                </a:cubicBezTo>
                <a:lnTo>
                  <a:pt x="0" y="145149"/>
                </a:lnTo>
                <a:cubicBezTo>
                  <a:pt x="0" y="65039"/>
                  <a:pt x="65039" y="0"/>
                  <a:pt x="145149" y="0"/>
                </a:cubicBezTo>
                <a:close/>
              </a:path>
            </a:pathLst>
          </a:custGeom>
          <a:gradFill flip="none" rotWithShape="1">
            <a:gsLst>
              <a:gs pos="0">
                <a:srgbClr val="161B22">
                  <a:alpha val="80000"/>
                </a:srgbClr>
              </a:gs>
              <a:gs pos="100000">
                <a:srgbClr val="0D1117">
                  <a:alpha val="80000"/>
                </a:srgbClr>
              </a:gs>
            </a:gsLst>
            <a:lin ang="2700000" scaled="1"/>
          </a:gradFill>
          <a:ln w="8467">
            <a:solidFill>
              <a:srgbClr val="00D9FF">
                <a:alpha val="30196"/>
              </a:srgbClr>
            </a:solidFill>
            <a:prstDash val="solid"/>
          </a:ln>
        </p:spPr>
      </p:sp>
      <p:sp>
        <p:nvSpPr>
          <p:cNvPr id="16" name="Shape 13">
            <a:extLst>
              <a:ext uri="{FF2B5EF4-FFF2-40B4-BE49-F238E27FC236}">
                <a16:creationId xmlns:a16="http://schemas.microsoft.com/office/drawing/2014/main" id="{B3DBDBA6-0204-9C15-8353-165E32222A9A}"/>
              </a:ext>
            </a:extLst>
          </p:cNvPr>
          <p:cNvSpPr/>
          <p:nvPr/>
        </p:nvSpPr>
        <p:spPr>
          <a:xfrm>
            <a:off x="4481286" y="3134179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108859" y="0"/>
                </a:moveTo>
                <a:lnTo>
                  <a:pt x="399141" y="0"/>
                </a:lnTo>
                <a:cubicBezTo>
                  <a:pt x="459222" y="0"/>
                  <a:pt x="508000" y="48778"/>
                  <a:pt x="508000" y="108859"/>
                </a:cubicBezTo>
                <a:lnTo>
                  <a:pt x="508000" y="399141"/>
                </a:lnTo>
                <a:cubicBezTo>
                  <a:pt x="508000" y="459222"/>
                  <a:pt x="459222" y="508000"/>
                  <a:pt x="399141" y="508000"/>
                </a:cubicBezTo>
                <a:lnTo>
                  <a:pt x="108859" y="508000"/>
                </a:lnTo>
                <a:cubicBezTo>
                  <a:pt x="48778" y="508000"/>
                  <a:pt x="0" y="459222"/>
                  <a:pt x="0" y="399141"/>
                </a:cubicBezTo>
                <a:lnTo>
                  <a:pt x="0" y="108859"/>
                </a:lnTo>
                <a:cubicBezTo>
                  <a:pt x="0" y="48778"/>
                  <a:pt x="48778" y="0"/>
                  <a:pt x="108859" y="0"/>
                </a:cubicBezTo>
                <a:close/>
              </a:path>
            </a:pathLst>
          </a:custGeom>
          <a:solidFill>
            <a:srgbClr val="00D9FF">
              <a:alpha val="20000"/>
            </a:srgbClr>
          </a:solidFill>
          <a:ln/>
        </p:spPr>
      </p:sp>
      <p:sp>
        <p:nvSpPr>
          <p:cNvPr id="17" name="Shape 14">
            <a:extLst>
              <a:ext uri="{FF2B5EF4-FFF2-40B4-BE49-F238E27FC236}">
                <a16:creationId xmlns:a16="http://schemas.microsoft.com/office/drawing/2014/main" id="{728A5262-D59E-AD2B-9774-98C24AE941F9}"/>
              </a:ext>
            </a:extLst>
          </p:cNvPr>
          <p:cNvSpPr/>
          <p:nvPr/>
        </p:nvSpPr>
        <p:spPr>
          <a:xfrm>
            <a:off x="4612821" y="3279321"/>
            <a:ext cx="244929" cy="217714"/>
          </a:xfrm>
          <a:custGeom>
            <a:avLst/>
            <a:gdLst/>
            <a:ahLst/>
            <a:cxnLst/>
            <a:rect l="l" t="t" r="r" b="b"/>
            <a:pathLst>
              <a:path w="244929" h="217714">
                <a:moveTo>
                  <a:pt x="105455" y="37420"/>
                </a:moveTo>
                <a:lnTo>
                  <a:pt x="139473" y="37420"/>
                </a:lnTo>
                <a:lnTo>
                  <a:pt x="139473" y="57830"/>
                </a:lnTo>
                <a:lnTo>
                  <a:pt x="105455" y="57830"/>
                </a:lnTo>
                <a:lnTo>
                  <a:pt x="105455" y="37420"/>
                </a:lnTo>
                <a:close/>
                <a:moveTo>
                  <a:pt x="102054" y="13607"/>
                </a:moveTo>
                <a:cubicBezTo>
                  <a:pt x="90785" y="13607"/>
                  <a:pt x="81643" y="22749"/>
                  <a:pt x="81643" y="34018"/>
                </a:cubicBezTo>
                <a:lnTo>
                  <a:pt x="81643" y="61232"/>
                </a:lnTo>
                <a:cubicBezTo>
                  <a:pt x="81643" y="72501"/>
                  <a:pt x="90785" y="81643"/>
                  <a:pt x="102054" y="81643"/>
                </a:cubicBezTo>
                <a:lnTo>
                  <a:pt x="108857" y="81643"/>
                </a:lnTo>
                <a:lnTo>
                  <a:pt x="108857" y="95250"/>
                </a:lnTo>
                <a:lnTo>
                  <a:pt x="13607" y="95250"/>
                </a:lnTo>
                <a:cubicBezTo>
                  <a:pt x="6081" y="95250"/>
                  <a:pt x="0" y="101331"/>
                  <a:pt x="0" y="108857"/>
                </a:cubicBezTo>
                <a:cubicBezTo>
                  <a:pt x="0" y="116384"/>
                  <a:pt x="6081" y="122464"/>
                  <a:pt x="13607" y="122464"/>
                </a:cubicBezTo>
                <a:lnTo>
                  <a:pt x="54429" y="122464"/>
                </a:lnTo>
                <a:lnTo>
                  <a:pt x="54429" y="136071"/>
                </a:lnTo>
                <a:lnTo>
                  <a:pt x="47625" y="136071"/>
                </a:lnTo>
                <a:cubicBezTo>
                  <a:pt x="36357" y="136071"/>
                  <a:pt x="27214" y="145214"/>
                  <a:pt x="27214" y="156482"/>
                </a:cubicBezTo>
                <a:lnTo>
                  <a:pt x="27214" y="183696"/>
                </a:lnTo>
                <a:cubicBezTo>
                  <a:pt x="27214" y="194965"/>
                  <a:pt x="36357" y="204107"/>
                  <a:pt x="47625" y="204107"/>
                </a:cubicBezTo>
                <a:lnTo>
                  <a:pt x="88446" y="204107"/>
                </a:lnTo>
                <a:cubicBezTo>
                  <a:pt x="99715" y="204107"/>
                  <a:pt x="108857" y="194965"/>
                  <a:pt x="108857" y="183696"/>
                </a:cubicBezTo>
                <a:lnTo>
                  <a:pt x="108857" y="156482"/>
                </a:lnTo>
                <a:cubicBezTo>
                  <a:pt x="108857" y="145214"/>
                  <a:pt x="99715" y="136071"/>
                  <a:pt x="88446" y="136071"/>
                </a:cubicBezTo>
                <a:lnTo>
                  <a:pt x="81643" y="136071"/>
                </a:lnTo>
                <a:lnTo>
                  <a:pt x="81643" y="122464"/>
                </a:lnTo>
                <a:lnTo>
                  <a:pt x="163286" y="122464"/>
                </a:lnTo>
                <a:lnTo>
                  <a:pt x="163286" y="136071"/>
                </a:lnTo>
                <a:lnTo>
                  <a:pt x="156482" y="136071"/>
                </a:lnTo>
                <a:cubicBezTo>
                  <a:pt x="145214" y="136071"/>
                  <a:pt x="136071" y="145214"/>
                  <a:pt x="136071" y="156482"/>
                </a:cubicBezTo>
                <a:lnTo>
                  <a:pt x="136071" y="183696"/>
                </a:lnTo>
                <a:cubicBezTo>
                  <a:pt x="136071" y="194965"/>
                  <a:pt x="145214" y="204107"/>
                  <a:pt x="156482" y="204107"/>
                </a:cubicBezTo>
                <a:lnTo>
                  <a:pt x="197304" y="204107"/>
                </a:lnTo>
                <a:cubicBezTo>
                  <a:pt x="208572" y="204107"/>
                  <a:pt x="217714" y="194965"/>
                  <a:pt x="217714" y="183696"/>
                </a:cubicBezTo>
                <a:lnTo>
                  <a:pt x="217714" y="156482"/>
                </a:lnTo>
                <a:cubicBezTo>
                  <a:pt x="217714" y="145214"/>
                  <a:pt x="208572" y="136071"/>
                  <a:pt x="197304" y="136071"/>
                </a:cubicBezTo>
                <a:lnTo>
                  <a:pt x="190500" y="136071"/>
                </a:lnTo>
                <a:lnTo>
                  <a:pt x="190500" y="122464"/>
                </a:lnTo>
                <a:lnTo>
                  <a:pt x="231321" y="122464"/>
                </a:lnTo>
                <a:cubicBezTo>
                  <a:pt x="238848" y="122464"/>
                  <a:pt x="244929" y="116384"/>
                  <a:pt x="244929" y="108857"/>
                </a:cubicBezTo>
                <a:cubicBezTo>
                  <a:pt x="244929" y="101331"/>
                  <a:pt x="238848" y="95250"/>
                  <a:pt x="231321" y="95250"/>
                </a:cubicBezTo>
                <a:lnTo>
                  <a:pt x="136071" y="95250"/>
                </a:lnTo>
                <a:lnTo>
                  <a:pt x="136071" y="81643"/>
                </a:lnTo>
                <a:lnTo>
                  <a:pt x="142875" y="81643"/>
                </a:lnTo>
                <a:cubicBezTo>
                  <a:pt x="154143" y="81643"/>
                  <a:pt x="163286" y="72501"/>
                  <a:pt x="163286" y="61232"/>
                </a:cubicBezTo>
                <a:lnTo>
                  <a:pt x="163286" y="34018"/>
                </a:lnTo>
                <a:cubicBezTo>
                  <a:pt x="163286" y="22749"/>
                  <a:pt x="154143" y="13607"/>
                  <a:pt x="142875" y="13607"/>
                </a:cubicBezTo>
                <a:lnTo>
                  <a:pt x="102054" y="13607"/>
                </a:lnTo>
                <a:close/>
                <a:moveTo>
                  <a:pt x="190500" y="159884"/>
                </a:moveTo>
                <a:lnTo>
                  <a:pt x="193902" y="159884"/>
                </a:lnTo>
                <a:lnTo>
                  <a:pt x="193902" y="180295"/>
                </a:lnTo>
                <a:lnTo>
                  <a:pt x="159884" y="180295"/>
                </a:lnTo>
                <a:lnTo>
                  <a:pt x="159884" y="159884"/>
                </a:lnTo>
                <a:lnTo>
                  <a:pt x="190500" y="159884"/>
                </a:lnTo>
                <a:close/>
                <a:moveTo>
                  <a:pt x="81643" y="159884"/>
                </a:moveTo>
                <a:lnTo>
                  <a:pt x="85045" y="159884"/>
                </a:lnTo>
                <a:lnTo>
                  <a:pt x="85045" y="180295"/>
                </a:lnTo>
                <a:lnTo>
                  <a:pt x="51027" y="180295"/>
                </a:lnTo>
                <a:lnTo>
                  <a:pt x="51027" y="159884"/>
                </a:lnTo>
                <a:lnTo>
                  <a:pt x="81643" y="159884"/>
                </a:lnTo>
                <a:close/>
              </a:path>
            </a:pathLst>
          </a:custGeom>
          <a:solidFill>
            <a:srgbClr val="00D9FF"/>
          </a:solidFill>
          <a:ln/>
        </p:spPr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5533224C-D34A-36A8-9212-228FF5BB0282}"/>
              </a:ext>
            </a:extLst>
          </p:cNvPr>
          <p:cNvSpPr/>
          <p:nvPr/>
        </p:nvSpPr>
        <p:spPr>
          <a:xfrm>
            <a:off x="4481286" y="3787321"/>
            <a:ext cx="332014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29" b="1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Connected</a:t>
            </a:r>
            <a:endParaRPr lang="en-US" sz="1600" dirty="0"/>
          </a:p>
        </p:txBody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3B82DEE9-9B87-BB32-CFE4-C33FCB245C22}"/>
              </a:ext>
            </a:extLst>
          </p:cNvPr>
          <p:cNvSpPr/>
          <p:nvPr/>
        </p:nvSpPr>
        <p:spPr>
          <a:xfrm>
            <a:off x="4481286" y="4113893"/>
            <a:ext cx="3292929" cy="181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0" dirty="0">
                <a:solidFill>
                  <a:srgbClr val="8B94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End-to-end visibility and real-time decision making</a:t>
            </a:r>
            <a:endParaRPr lang="en-US" sz="1600" dirty="0"/>
          </a:p>
        </p:txBody>
      </p:sp>
      <p:sp>
        <p:nvSpPr>
          <p:cNvPr id="20" name="Shape 17">
            <a:extLst>
              <a:ext uri="{FF2B5EF4-FFF2-40B4-BE49-F238E27FC236}">
                <a16:creationId xmlns:a16="http://schemas.microsoft.com/office/drawing/2014/main" id="{220B002A-5B7B-252C-8DE6-93E9BC08BE15}"/>
              </a:ext>
            </a:extLst>
          </p:cNvPr>
          <p:cNvSpPr/>
          <p:nvPr/>
        </p:nvSpPr>
        <p:spPr>
          <a:xfrm>
            <a:off x="8155214" y="2913442"/>
            <a:ext cx="3670905" cy="1602619"/>
          </a:xfrm>
          <a:custGeom>
            <a:avLst/>
            <a:gdLst/>
            <a:ahLst/>
            <a:cxnLst/>
            <a:rect l="l" t="t" r="r" b="b"/>
            <a:pathLst>
              <a:path w="3670905" h="1602619">
                <a:moveTo>
                  <a:pt x="145149" y="0"/>
                </a:moveTo>
                <a:lnTo>
                  <a:pt x="3525756" y="0"/>
                </a:lnTo>
                <a:cubicBezTo>
                  <a:pt x="3605919" y="0"/>
                  <a:pt x="3670905" y="64986"/>
                  <a:pt x="3670905" y="145149"/>
                </a:cubicBezTo>
                <a:lnTo>
                  <a:pt x="3670905" y="1457470"/>
                </a:lnTo>
                <a:cubicBezTo>
                  <a:pt x="3670905" y="1537634"/>
                  <a:pt x="3605919" y="1602619"/>
                  <a:pt x="3525756" y="1602619"/>
                </a:cubicBezTo>
                <a:lnTo>
                  <a:pt x="145149" y="1602619"/>
                </a:lnTo>
                <a:cubicBezTo>
                  <a:pt x="64986" y="1602619"/>
                  <a:pt x="0" y="1537634"/>
                  <a:pt x="0" y="1457470"/>
                </a:cubicBezTo>
                <a:lnTo>
                  <a:pt x="0" y="145149"/>
                </a:lnTo>
                <a:cubicBezTo>
                  <a:pt x="0" y="65039"/>
                  <a:pt x="65039" y="0"/>
                  <a:pt x="145149" y="0"/>
                </a:cubicBezTo>
                <a:close/>
              </a:path>
            </a:pathLst>
          </a:custGeom>
          <a:gradFill flip="none" rotWithShape="1">
            <a:gsLst>
              <a:gs pos="0">
                <a:srgbClr val="161B22">
                  <a:alpha val="80000"/>
                </a:srgbClr>
              </a:gs>
              <a:gs pos="100000">
                <a:srgbClr val="0D1117">
                  <a:alpha val="80000"/>
                </a:srgbClr>
              </a:gs>
            </a:gsLst>
            <a:lin ang="2700000" scaled="1"/>
          </a:gradFill>
          <a:ln w="8467">
            <a:solidFill>
              <a:srgbClr val="58A6FF">
                <a:alpha val="30196"/>
              </a:srgbClr>
            </a:solidFill>
            <a:prstDash val="solid"/>
          </a:ln>
        </p:spPr>
      </p:sp>
      <p:sp>
        <p:nvSpPr>
          <p:cNvPr id="21" name="Shape 18">
            <a:extLst>
              <a:ext uri="{FF2B5EF4-FFF2-40B4-BE49-F238E27FC236}">
                <a16:creationId xmlns:a16="http://schemas.microsoft.com/office/drawing/2014/main" id="{E68CC15C-4E78-1F39-B3FB-37CF9A80F19A}"/>
              </a:ext>
            </a:extLst>
          </p:cNvPr>
          <p:cNvSpPr/>
          <p:nvPr/>
        </p:nvSpPr>
        <p:spPr>
          <a:xfrm>
            <a:off x="8375953" y="3134179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108859" y="0"/>
                </a:moveTo>
                <a:lnTo>
                  <a:pt x="399141" y="0"/>
                </a:lnTo>
                <a:cubicBezTo>
                  <a:pt x="459222" y="0"/>
                  <a:pt x="508000" y="48778"/>
                  <a:pt x="508000" y="108859"/>
                </a:cubicBezTo>
                <a:lnTo>
                  <a:pt x="508000" y="399141"/>
                </a:lnTo>
                <a:cubicBezTo>
                  <a:pt x="508000" y="459222"/>
                  <a:pt x="459222" y="508000"/>
                  <a:pt x="399141" y="508000"/>
                </a:cubicBezTo>
                <a:lnTo>
                  <a:pt x="108859" y="508000"/>
                </a:lnTo>
                <a:cubicBezTo>
                  <a:pt x="48778" y="508000"/>
                  <a:pt x="0" y="459222"/>
                  <a:pt x="0" y="399141"/>
                </a:cubicBezTo>
                <a:lnTo>
                  <a:pt x="0" y="108859"/>
                </a:lnTo>
                <a:cubicBezTo>
                  <a:pt x="0" y="48778"/>
                  <a:pt x="48778" y="0"/>
                  <a:pt x="108859" y="0"/>
                </a:cubicBezTo>
                <a:close/>
              </a:path>
            </a:pathLst>
          </a:custGeom>
          <a:solidFill>
            <a:srgbClr val="58A6FF">
              <a:alpha val="20000"/>
            </a:srgbClr>
          </a:solidFill>
          <a:ln/>
        </p:spPr>
      </p:sp>
      <p:sp>
        <p:nvSpPr>
          <p:cNvPr id="22" name="Shape 19">
            <a:extLst>
              <a:ext uri="{FF2B5EF4-FFF2-40B4-BE49-F238E27FC236}">
                <a16:creationId xmlns:a16="http://schemas.microsoft.com/office/drawing/2014/main" id="{66BF6CCA-7874-50EF-ABDF-6DB58CFF2016}"/>
              </a:ext>
            </a:extLst>
          </p:cNvPr>
          <p:cNvSpPr/>
          <p:nvPr/>
        </p:nvSpPr>
        <p:spPr>
          <a:xfrm>
            <a:off x="8521096" y="3279321"/>
            <a:ext cx="217714" cy="217714"/>
          </a:xfrm>
          <a:custGeom>
            <a:avLst/>
            <a:gdLst/>
            <a:ahLst/>
            <a:cxnLst/>
            <a:rect l="l" t="t" r="r" b="b"/>
            <a:pathLst>
              <a:path w="217714" h="217714">
                <a:moveTo>
                  <a:pt x="54429" y="136071"/>
                </a:moveTo>
                <a:lnTo>
                  <a:pt x="10418" y="136071"/>
                </a:lnTo>
                <a:cubicBezTo>
                  <a:pt x="-170" y="136071"/>
                  <a:pt x="-6676" y="124548"/>
                  <a:pt x="-1233" y="115448"/>
                </a:cubicBezTo>
                <a:lnTo>
                  <a:pt x="21261" y="77943"/>
                </a:lnTo>
                <a:cubicBezTo>
                  <a:pt x="24961" y="71778"/>
                  <a:pt x="31594" y="68036"/>
                  <a:pt x="38780" y="68036"/>
                </a:cubicBezTo>
                <a:lnTo>
                  <a:pt x="79177" y="68036"/>
                </a:lnTo>
                <a:cubicBezTo>
                  <a:pt x="111536" y="13224"/>
                  <a:pt x="159799" y="10460"/>
                  <a:pt x="192073" y="15180"/>
                </a:cubicBezTo>
                <a:cubicBezTo>
                  <a:pt x="197516" y="15988"/>
                  <a:pt x="201768" y="20241"/>
                  <a:pt x="202534" y="25641"/>
                </a:cubicBezTo>
                <a:cubicBezTo>
                  <a:pt x="207254" y="57915"/>
                  <a:pt x="204490" y="106178"/>
                  <a:pt x="149679" y="138538"/>
                </a:cubicBezTo>
                <a:lnTo>
                  <a:pt x="149679" y="178934"/>
                </a:lnTo>
                <a:cubicBezTo>
                  <a:pt x="149679" y="186120"/>
                  <a:pt x="145937" y="192754"/>
                  <a:pt x="139771" y="196453"/>
                </a:cubicBezTo>
                <a:lnTo>
                  <a:pt x="102266" y="218947"/>
                </a:lnTo>
                <a:cubicBezTo>
                  <a:pt x="93209" y="224390"/>
                  <a:pt x="81643" y="217842"/>
                  <a:pt x="81643" y="207296"/>
                </a:cubicBezTo>
                <a:lnTo>
                  <a:pt x="81643" y="163286"/>
                </a:lnTo>
                <a:cubicBezTo>
                  <a:pt x="81643" y="148275"/>
                  <a:pt x="69439" y="136071"/>
                  <a:pt x="54429" y="136071"/>
                </a:cubicBezTo>
                <a:lnTo>
                  <a:pt x="54386" y="136071"/>
                </a:lnTo>
                <a:close/>
                <a:moveTo>
                  <a:pt x="170089" y="68036"/>
                </a:moveTo>
                <a:cubicBezTo>
                  <a:pt x="170089" y="56771"/>
                  <a:pt x="160944" y="47625"/>
                  <a:pt x="149679" y="47625"/>
                </a:cubicBezTo>
                <a:cubicBezTo>
                  <a:pt x="138414" y="47625"/>
                  <a:pt x="129268" y="56771"/>
                  <a:pt x="129268" y="68036"/>
                </a:cubicBezTo>
                <a:cubicBezTo>
                  <a:pt x="129268" y="79301"/>
                  <a:pt x="138414" y="88446"/>
                  <a:pt x="149679" y="88446"/>
                </a:cubicBezTo>
                <a:cubicBezTo>
                  <a:pt x="160944" y="88446"/>
                  <a:pt x="170089" y="79301"/>
                  <a:pt x="170089" y="68036"/>
                </a:cubicBezTo>
                <a:close/>
              </a:path>
            </a:pathLst>
          </a:custGeom>
          <a:solidFill>
            <a:srgbClr val="58A6FF"/>
          </a:solidFill>
          <a:ln/>
        </p:spPr>
      </p:sp>
      <p:sp>
        <p:nvSpPr>
          <p:cNvPr id="23" name="Text 20">
            <a:extLst>
              <a:ext uri="{FF2B5EF4-FFF2-40B4-BE49-F238E27FC236}">
                <a16:creationId xmlns:a16="http://schemas.microsoft.com/office/drawing/2014/main" id="{93EE4DEB-A8C9-9BF1-7FF3-DAEC02E0575F}"/>
              </a:ext>
            </a:extLst>
          </p:cNvPr>
          <p:cNvSpPr/>
          <p:nvPr/>
        </p:nvSpPr>
        <p:spPr>
          <a:xfrm>
            <a:off x="8375953" y="3787321"/>
            <a:ext cx="332014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29" b="1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Agile</a:t>
            </a:r>
            <a:endParaRPr lang="en-US" sz="1600" dirty="0"/>
          </a:p>
        </p:txBody>
      </p:sp>
      <p:sp>
        <p:nvSpPr>
          <p:cNvPr id="24" name="Text 21">
            <a:extLst>
              <a:ext uri="{FF2B5EF4-FFF2-40B4-BE49-F238E27FC236}">
                <a16:creationId xmlns:a16="http://schemas.microsoft.com/office/drawing/2014/main" id="{935E4DED-5DD5-2153-2DB9-46FAFACCE036}"/>
              </a:ext>
            </a:extLst>
          </p:cNvPr>
          <p:cNvSpPr/>
          <p:nvPr/>
        </p:nvSpPr>
        <p:spPr>
          <a:xfrm>
            <a:off x="8375953" y="4113893"/>
            <a:ext cx="3292929" cy="181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0" dirty="0">
                <a:solidFill>
                  <a:srgbClr val="8B94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Rapid adaptation to market dynamics and disruptions</a:t>
            </a:r>
            <a:endParaRPr lang="en-US" sz="1600" dirty="0"/>
          </a:p>
        </p:txBody>
      </p:sp>
      <p:sp>
        <p:nvSpPr>
          <p:cNvPr id="25" name="Shape 22">
            <a:extLst>
              <a:ext uri="{FF2B5EF4-FFF2-40B4-BE49-F238E27FC236}">
                <a16:creationId xmlns:a16="http://schemas.microsoft.com/office/drawing/2014/main" id="{26CFB6A8-E453-FCDF-134D-88D19A84437F}"/>
              </a:ext>
            </a:extLst>
          </p:cNvPr>
          <p:cNvSpPr/>
          <p:nvPr/>
        </p:nvSpPr>
        <p:spPr>
          <a:xfrm>
            <a:off x="365881" y="4884967"/>
            <a:ext cx="11463262" cy="1312333"/>
          </a:xfrm>
          <a:custGeom>
            <a:avLst/>
            <a:gdLst/>
            <a:ahLst/>
            <a:cxnLst/>
            <a:rect l="l" t="t" r="r" b="b"/>
            <a:pathLst>
              <a:path w="11463262" h="1312333">
                <a:moveTo>
                  <a:pt x="145144" y="0"/>
                </a:moveTo>
                <a:lnTo>
                  <a:pt x="11318118" y="0"/>
                </a:lnTo>
                <a:cubicBezTo>
                  <a:pt x="11398279" y="0"/>
                  <a:pt x="11463262" y="64983"/>
                  <a:pt x="11463262" y="145144"/>
                </a:cubicBezTo>
                <a:lnTo>
                  <a:pt x="11463262" y="1167189"/>
                </a:lnTo>
                <a:cubicBezTo>
                  <a:pt x="11463262" y="1247350"/>
                  <a:pt x="11398279" y="1312333"/>
                  <a:pt x="11318118" y="1312333"/>
                </a:cubicBezTo>
                <a:lnTo>
                  <a:pt x="145144" y="1312333"/>
                </a:lnTo>
                <a:cubicBezTo>
                  <a:pt x="65037" y="1312333"/>
                  <a:pt x="0" y="1247296"/>
                  <a:pt x="0" y="1167189"/>
                </a:cubicBezTo>
                <a:lnTo>
                  <a:pt x="0" y="145144"/>
                </a:lnTo>
                <a:cubicBezTo>
                  <a:pt x="0" y="64983"/>
                  <a:pt x="64983" y="0"/>
                  <a:pt x="145144" y="0"/>
                </a:cubicBezTo>
                <a:close/>
              </a:path>
            </a:pathLst>
          </a:custGeom>
          <a:gradFill flip="none" rotWithShape="1">
            <a:gsLst>
              <a:gs pos="0">
                <a:srgbClr val="58A6FF">
                  <a:alpha val="10000"/>
                </a:srgbClr>
              </a:gs>
              <a:gs pos="50000">
                <a:srgbClr val="00D9FF">
                  <a:alpha val="10000"/>
                </a:srgbClr>
              </a:gs>
              <a:gs pos="100000">
                <a:srgbClr val="58A6FF">
                  <a:alpha val="10000"/>
                </a:srgbClr>
              </a:gs>
            </a:gsLst>
            <a:lin ang="0" scaled="1"/>
          </a:gradFill>
          <a:ln w="8467">
            <a:solidFill>
              <a:srgbClr val="58A6FF">
                <a:alpha val="30196"/>
              </a:srgbClr>
            </a:solidFill>
            <a:prstDash val="solid"/>
          </a:ln>
        </p:spPr>
      </p:sp>
      <p:sp>
        <p:nvSpPr>
          <p:cNvPr id="26" name="Shape 23">
            <a:extLst>
              <a:ext uri="{FF2B5EF4-FFF2-40B4-BE49-F238E27FC236}">
                <a16:creationId xmlns:a16="http://schemas.microsoft.com/office/drawing/2014/main" id="{9B6936E8-971A-5DEF-66F5-AA8BA8C8350B}"/>
              </a:ext>
            </a:extLst>
          </p:cNvPr>
          <p:cNvSpPr/>
          <p:nvPr/>
        </p:nvSpPr>
        <p:spPr>
          <a:xfrm>
            <a:off x="659191" y="5178275"/>
            <a:ext cx="725714" cy="725714"/>
          </a:xfrm>
          <a:custGeom>
            <a:avLst/>
            <a:gdLst/>
            <a:ahLst/>
            <a:cxnLst/>
            <a:rect l="l" t="t" r="r" b="b"/>
            <a:pathLst>
              <a:path w="725714" h="725714">
                <a:moveTo>
                  <a:pt x="145143" y="0"/>
                </a:moveTo>
                <a:lnTo>
                  <a:pt x="580571" y="0"/>
                </a:lnTo>
                <a:cubicBezTo>
                  <a:pt x="660732" y="0"/>
                  <a:pt x="725714" y="64983"/>
                  <a:pt x="725714" y="145143"/>
                </a:cubicBezTo>
                <a:lnTo>
                  <a:pt x="725714" y="580571"/>
                </a:lnTo>
                <a:cubicBezTo>
                  <a:pt x="725714" y="660732"/>
                  <a:pt x="660732" y="725714"/>
                  <a:pt x="580571" y="725714"/>
                </a:cubicBezTo>
                <a:lnTo>
                  <a:pt x="145143" y="725714"/>
                </a:lnTo>
                <a:cubicBezTo>
                  <a:pt x="64983" y="725714"/>
                  <a:pt x="0" y="660732"/>
                  <a:pt x="0" y="580571"/>
                </a:cubicBezTo>
                <a:lnTo>
                  <a:pt x="0" y="145143"/>
                </a:lnTo>
                <a:cubicBezTo>
                  <a:pt x="0" y="65036"/>
                  <a:pt x="65036" y="0"/>
                  <a:pt x="145143" y="0"/>
                </a:cubicBezTo>
                <a:close/>
              </a:path>
            </a:pathLst>
          </a:custGeom>
          <a:gradFill flip="none" rotWithShape="1">
            <a:gsLst>
              <a:gs pos="0">
                <a:srgbClr val="58A6FF"/>
              </a:gs>
              <a:gs pos="100000">
                <a:srgbClr val="00D9FF"/>
              </a:gs>
            </a:gsLst>
            <a:lin ang="2700000" scaled="1"/>
          </a:gradFill>
          <a:ln/>
        </p:spPr>
      </p:sp>
      <p:sp>
        <p:nvSpPr>
          <p:cNvPr id="27" name="Shape 24">
            <a:extLst>
              <a:ext uri="{FF2B5EF4-FFF2-40B4-BE49-F238E27FC236}">
                <a16:creationId xmlns:a16="http://schemas.microsoft.com/office/drawing/2014/main" id="{B93E1E69-F2EF-536B-8414-33F4E1F16567}"/>
              </a:ext>
            </a:extLst>
          </p:cNvPr>
          <p:cNvSpPr/>
          <p:nvPr/>
        </p:nvSpPr>
        <p:spPr>
          <a:xfrm>
            <a:off x="854226" y="5405061"/>
            <a:ext cx="340179" cy="272143"/>
          </a:xfrm>
          <a:custGeom>
            <a:avLst/>
            <a:gdLst/>
            <a:ahLst/>
            <a:cxnLst/>
            <a:rect l="l" t="t" r="r" b="b"/>
            <a:pathLst>
              <a:path w="340179" h="272143">
                <a:moveTo>
                  <a:pt x="170089" y="68036"/>
                </a:moveTo>
                <a:cubicBezTo>
                  <a:pt x="179497" y="68036"/>
                  <a:pt x="187098" y="60435"/>
                  <a:pt x="187098" y="51027"/>
                </a:cubicBezTo>
                <a:cubicBezTo>
                  <a:pt x="187098" y="41619"/>
                  <a:pt x="179497" y="34018"/>
                  <a:pt x="170089" y="34018"/>
                </a:cubicBezTo>
                <a:lnTo>
                  <a:pt x="102054" y="34018"/>
                </a:lnTo>
                <a:cubicBezTo>
                  <a:pt x="92646" y="34018"/>
                  <a:pt x="85045" y="41619"/>
                  <a:pt x="85045" y="51027"/>
                </a:cubicBezTo>
                <a:cubicBezTo>
                  <a:pt x="85045" y="60435"/>
                  <a:pt x="92646" y="68036"/>
                  <a:pt x="102054" y="68036"/>
                </a:cubicBezTo>
                <a:lnTo>
                  <a:pt x="119062" y="68036"/>
                </a:lnTo>
                <a:lnTo>
                  <a:pt x="119062" y="85045"/>
                </a:lnTo>
                <a:lnTo>
                  <a:pt x="25513" y="85045"/>
                </a:lnTo>
                <a:cubicBezTo>
                  <a:pt x="11428" y="85045"/>
                  <a:pt x="0" y="96473"/>
                  <a:pt x="0" y="110558"/>
                </a:cubicBezTo>
                <a:lnTo>
                  <a:pt x="0" y="145001"/>
                </a:lnTo>
                <a:cubicBezTo>
                  <a:pt x="0" y="155100"/>
                  <a:pt x="5953" y="164242"/>
                  <a:pt x="15149" y="168335"/>
                </a:cubicBezTo>
                <a:lnTo>
                  <a:pt x="51027" y="184281"/>
                </a:lnTo>
                <a:lnTo>
                  <a:pt x="51027" y="195603"/>
                </a:lnTo>
                <a:cubicBezTo>
                  <a:pt x="51027" y="209688"/>
                  <a:pt x="62455" y="221116"/>
                  <a:pt x="76540" y="221116"/>
                </a:cubicBezTo>
                <a:lnTo>
                  <a:pt x="214259" y="221116"/>
                </a:lnTo>
                <a:cubicBezTo>
                  <a:pt x="224039" y="221116"/>
                  <a:pt x="233288" y="216917"/>
                  <a:pt x="239773" y="209582"/>
                </a:cubicBezTo>
                <a:lnTo>
                  <a:pt x="336724" y="99768"/>
                </a:lnTo>
                <a:cubicBezTo>
                  <a:pt x="343261" y="92380"/>
                  <a:pt x="336564" y="80952"/>
                  <a:pt x="326943" y="83025"/>
                </a:cubicBezTo>
                <a:lnTo>
                  <a:pt x="238125" y="102054"/>
                </a:lnTo>
                <a:lnTo>
                  <a:pt x="211283" y="88659"/>
                </a:lnTo>
                <a:cubicBezTo>
                  <a:pt x="206552" y="86320"/>
                  <a:pt x="201343" y="85045"/>
                  <a:pt x="196081" y="85045"/>
                </a:cubicBezTo>
                <a:lnTo>
                  <a:pt x="153080" y="85045"/>
                </a:lnTo>
                <a:lnTo>
                  <a:pt x="153080" y="68036"/>
                </a:lnTo>
                <a:lnTo>
                  <a:pt x="170089" y="68036"/>
                </a:lnTo>
                <a:close/>
                <a:moveTo>
                  <a:pt x="51027" y="110558"/>
                </a:moveTo>
                <a:lnTo>
                  <a:pt x="51027" y="156323"/>
                </a:lnTo>
                <a:lnTo>
                  <a:pt x="25513" y="145001"/>
                </a:lnTo>
                <a:lnTo>
                  <a:pt x="25513" y="110558"/>
                </a:lnTo>
                <a:lnTo>
                  <a:pt x="51027" y="110558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8" name="Text 25">
            <a:extLst>
              <a:ext uri="{FF2B5EF4-FFF2-40B4-BE49-F238E27FC236}">
                <a16:creationId xmlns:a16="http://schemas.microsoft.com/office/drawing/2014/main" id="{759A4194-F9CF-F804-2339-A3E9873C839F}"/>
              </a:ext>
            </a:extLst>
          </p:cNvPr>
          <p:cNvSpPr/>
          <p:nvPr/>
        </p:nvSpPr>
        <p:spPr>
          <a:xfrm>
            <a:off x="1602619" y="5214561"/>
            <a:ext cx="10069286" cy="3265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143" b="1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"Data is the new oil, and Samsung is the refinery."</a:t>
            </a:r>
            <a:endParaRPr lang="en-US" sz="1600" dirty="0"/>
          </a:p>
        </p:txBody>
      </p:sp>
      <p:sp>
        <p:nvSpPr>
          <p:cNvPr id="29" name="Text 26">
            <a:extLst>
              <a:ext uri="{FF2B5EF4-FFF2-40B4-BE49-F238E27FC236}">
                <a16:creationId xmlns:a16="http://schemas.microsoft.com/office/drawing/2014/main" id="{BA308590-E007-B644-4D47-CC592222AC73}"/>
              </a:ext>
            </a:extLst>
          </p:cNvPr>
          <p:cNvSpPr/>
          <p:nvPr/>
        </p:nvSpPr>
        <p:spPr>
          <a:xfrm>
            <a:off x="1602619" y="5613704"/>
            <a:ext cx="1001485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86" dirty="0">
                <a:solidFill>
                  <a:srgbClr val="8B94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Transforming raw data into strategic advantage, powering the future of global operations.</a:t>
            </a:r>
            <a:endParaRPr lang="en-US" sz="1600" dirty="0"/>
          </a:p>
        </p:txBody>
      </p:sp>
      <p:sp>
        <p:nvSpPr>
          <p:cNvPr id="30" name="Shape 27">
            <a:extLst>
              <a:ext uri="{FF2B5EF4-FFF2-40B4-BE49-F238E27FC236}">
                <a16:creationId xmlns:a16="http://schemas.microsoft.com/office/drawing/2014/main" id="{7B979B58-19D0-8BE2-9504-0337FAFDA1A4}"/>
              </a:ext>
            </a:extLst>
          </p:cNvPr>
          <p:cNvSpPr/>
          <p:nvPr/>
        </p:nvSpPr>
        <p:spPr>
          <a:xfrm>
            <a:off x="362857" y="6389007"/>
            <a:ext cx="435429" cy="435429"/>
          </a:xfrm>
          <a:custGeom>
            <a:avLst/>
            <a:gdLst/>
            <a:ahLst/>
            <a:cxnLst/>
            <a:rect l="l" t="t" r="r" b="b"/>
            <a:pathLst>
              <a:path w="435429" h="435429">
                <a:moveTo>
                  <a:pt x="108857" y="0"/>
                </a:moveTo>
                <a:lnTo>
                  <a:pt x="326571" y="0"/>
                </a:lnTo>
                <a:cubicBezTo>
                  <a:pt x="386692" y="0"/>
                  <a:pt x="435429" y="48737"/>
                  <a:pt x="435429" y="108857"/>
                </a:cubicBezTo>
                <a:lnTo>
                  <a:pt x="435429" y="326571"/>
                </a:lnTo>
                <a:cubicBezTo>
                  <a:pt x="435429" y="386692"/>
                  <a:pt x="386692" y="435429"/>
                  <a:pt x="326571" y="435429"/>
                </a:cubicBezTo>
                <a:lnTo>
                  <a:pt x="108857" y="435429"/>
                </a:lnTo>
                <a:cubicBezTo>
                  <a:pt x="48737" y="435429"/>
                  <a:pt x="0" y="386692"/>
                  <a:pt x="0" y="326571"/>
                </a:cubicBezTo>
                <a:lnTo>
                  <a:pt x="0" y="108857"/>
                </a:lnTo>
                <a:cubicBezTo>
                  <a:pt x="0" y="48777"/>
                  <a:pt x="48777" y="0"/>
                  <a:pt x="108857" y="0"/>
                </a:cubicBezTo>
                <a:close/>
              </a:path>
            </a:pathLst>
          </a:custGeom>
          <a:solidFill>
            <a:srgbClr val="58A6FF">
              <a:alpha val="20000"/>
            </a:srgbClr>
          </a:solidFill>
          <a:ln/>
        </p:spPr>
      </p:sp>
      <p:sp>
        <p:nvSpPr>
          <p:cNvPr id="31" name="Shape 28">
            <a:extLst>
              <a:ext uri="{FF2B5EF4-FFF2-40B4-BE49-F238E27FC236}">
                <a16:creationId xmlns:a16="http://schemas.microsoft.com/office/drawing/2014/main" id="{E4A2E5ED-56E8-C04C-6267-B8A962103528}"/>
              </a:ext>
            </a:extLst>
          </p:cNvPr>
          <p:cNvSpPr/>
          <p:nvPr/>
        </p:nvSpPr>
        <p:spPr>
          <a:xfrm>
            <a:off x="489857" y="6516007"/>
            <a:ext cx="181429" cy="181429"/>
          </a:xfrm>
          <a:custGeom>
            <a:avLst/>
            <a:gdLst/>
            <a:ahLst/>
            <a:cxnLst/>
            <a:rect l="l" t="t" r="r" b="b"/>
            <a:pathLst>
              <a:path w="181429" h="181429">
                <a:moveTo>
                  <a:pt x="17009" y="22679"/>
                </a:moveTo>
                <a:cubicBezTo>
                  <a:pt x="7619" y="22679"/>
                  <a:pt x="0" y="30297"/>
                  <a:pt x="0" y="39688"/>
                </a:cubicBezTo>
                <a:cubicBezTo>
                  <a:pt x="0" y="45038"/>
                  <a:pt x="2516" y="50070"/>
                  <a:pt x="6804" y="53295"/>
                </a:cubicBezTo>
                <a:lnTo>
                  <a:pt x="80509" y="108574"/>
                </a:lnTo>
                <a:cubicBezTo>
                  <a:pt x="86568" y="113109"/>
                  <a:pt x="94860" y="113109"/>
                  <a:pt x="100920" y="108574"/>
                </a:cubicBezTo>
                <a:lnTo>
                  <a:pt x="174625" y="53295"/>
                </a:lnTo>
                <a:cubicBezTo>
                  <a:pt x="178913" y="50070"/>
                  <a:pt x="181429" y="45038"/>
                  <a:pt x="181429" y="39687"/>
                </a:cubicBezTo>
                <a:cubicBezTo>
                  <a:pt x="181429" y="30297"/>
                  <a:pt x="173810" y="22679"/>
                  <a:pt x="164420" y="22679"/>
                </a:cubicBezTo>
                <a:lnTo>
                  <a:pt x="17009" y="22679"/>
                </a:lnTo>
                <a:close/>
                <a:moveTo>
                  <a:pt x="0" y="69453"/>
                </a:moveTo>
                <a:lnTo>
                  <a:pt x="0" y="136071"/>
                </a:lnTo>
                <a:cubicBezTo>
                  <a:pt x="0" y="148580"/>
                  <a:pt x="10170" y="158750"/>
                  <a:pt x="22679" y="158750"/>
                </a:cubicBezTo>
                <a:lnTo>
                  <a:pt x="158750" y="158750"/>
                </a:lnTo>
                <a:cubicBezTo>
                  <a:pt x="171259" y="158750"/>
                  <a:pt x="181429" y="148580"/>
                  <a:pt x="181429" y="136071"/>
                </a:cubicBezTo>
                <a:lnTo>
                  <a:pt x="181429" y="69453"/>
                </a:lnTo>
                <a:lnTo>
                  <a:pt x="111125" y="122181"/>
                </a:lnTo>
                <a:cubicBezTo>
                  <a:pt x="99042" y="131252"/>
                  <a:pt x="82387" y="131252"/>
                  <a:pt x="70304" y="122181"/>
                </a:cubicBezTo>
                <a:lnTo>
                  <a:pt x="0" y="69453"/>
                </a:lnTo>
                <a:close/>
              </a:path>
            </a:pathLst>
          </a:custGeom>
          <a:solidFill>
            <a:srgbClr val="58A6FF"/>
          </a:solidFill>
          <a:ln/>
        </p:spPr>
      </p:sp>
      <p:sp>
        <p:nvSpPr>
          <p:cNvPr id="32" name="Text 29">
            <a:extLst>
              <a:ext uri="{FF2B5EF4-FFF2-40B4-BE49-F238E27FC236}">
                <a16:creationId xmlns:a16="http://schemas.microsoft.com/office/drawing/2014/main" id="{2E134492-C377-7BE2-0545-EE26E28A5F4D}"/>
              </a:ext>
            </a:extLst>
          </p:cNvPr>
          <p:cNvSpPr/>
          <p:nvPr/>
        </p:nvSpPr>
        <p:spPr>
          <a:xfrm>
            <a:off x="943429" y="6407150"/>
            <a:ext cx="1823357" cy="181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0" dirty="0">
                <a:solidFill>
                  <a:srgbClr val="8B94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Questions?</a:t>
            </a:r>
            <a:endParaRPr lang="en-US" sz="1600" dirty="0"/>
          </a:p>
        </p:txBody>
      </p:sp>
      <p:sp>
        <p:nvSpPr>
          <p:cNvPr id="33" name="Text 30">
            <a:extLst>
              <a:ext uri="{FF2B5EF4-FFF2-40B4-BE49-F238E27FC236}">
                <a16:creationId xmlns:a16="http://schemas.microsoft.com/office/drawing/2014/main" id="{B1C56105-0DC4-C5E6-7D36-4189094D65CE}"/>
              </a:ext>
            </a:extLst>
          </p:cNvPr>
          <p:cNvSpPr/>
          <p:nvPr/>
        </p:nvSpPr>
        <p:spPr>
          <a:xfrm>
            <a:off x="943429" y="6588579"/>
            <a:ext cx="1832429" cy="217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43" b="1" dirty="0">
                <a:solidFill>
                  <a:srgbClr val="E6EDF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supply.chain@samsung.com</a:t>
            </a:r>
            <a:endParaRPr lang="en-US" sz="1600" dirty="0"/>
          </a:p>
        </p:txBody>
      </p:sp>
      <p:sp>
        <p:nvSpPr>
          <p:cNvPr id="34" name="Text 31">
            <a:extLst>
              <a:ext uri="{FF2B5EF4-FFF2-40B4-BE49-F238E27FC236}">
                <a16:creationId xmlns:a16="http://schemas.microsoft.com/office/drawing/2014/main" id="{6C679B92-2D4F-E4D0-7264-3B7F61CF69C1}"/>
              </a:ext>
            </a:extLst>
          </p:cNvPr>
          <p:cNvSpPr/>
          <p:nvPr/>
        </p:nvSpPr>
        <p:spPr>
          <a:xfrm>
            <a:off x="9872833" y="6348367"/>
            <a:ext cx="1959429" cy="181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000" dirty="0">
                <a:solidFill>
                  <a:srgbClr val="8B94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Samsung Electronics</a:t>
            </a:r>
            <a:endParaRPr lang="en-US" sz="1600" dirty="0"/>
          </a:p>
        </p:txBody>
      </p:sp>
      <p:sp>
        <p:nvSpPr>
          <p:cNvPr id="35" name="Text 32">
            <a:extLst>
              <a:ext uri="{FF2B5EF4-FFF2-40B4-BE49-F238E27FC236}">
                <a16:creationId xmlns:a16="http://schemas.microsoft.com/office/drawing/2014/main" id="{3FCA64B3-4FDE-100A-955B-9A27E4B8DD73}"/>
              </a:ext>
            </a:extLst>
          </p:cNvPr>
          <p:cNvSpPr/>
          <p:nvPr/>
        </p:nvSpPr>
        <p:spPr>
          <a:xfrm>
            <a:off x="9854690" y="6529796"/>
            <a:ext cx="1977571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286" b="1" dirty="0">
                <a:solidFill>
                  <a:srgbClr val="58A6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Global Operations Division</a:t>
            </a:r>
            <a:endParaRPr lang="en-US" sz="1600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2E4280C-E385-27E2-1B15-3D48605EC918}"/>
              </a:ext>
            </a:extLst>
          </p:cNvPr>
          <p:cNvSpPr txBox="1"/>
          <p:nvPr/>
        </p:nvSpPr>
        <p:spPr>
          <a:xfrm>
            <a:off x="9575264" y="161925"/>
            <a:ext cx="26161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ssharma9663@gmail.com</a:t>
            </a:r>
          </a:p>
        </p:txBody>
      </p:sp>
    </p:spTree>
    <p:extLst>
      <p:ext uri="{BB962C8B-B14F-4D97-AF65-F5344CB8AC3E}">
        <p14:creationId xmlns:p14="http://schemas.microsoft.com/office/powerpoint/2010/main" val="2489280912"/>
      </p:ext>
    </p:extLst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img.freepik.com/c512d21c998e9b67952364371f9206b03990b10d.jpg"/>
          <p:cNvPicPr>
            <a:picLocks noChangeAspect="1"/>
          </p:cNvPicPr>
          <p:nvPr/>
        </p:nvPicPr>
        <p:blipFill>
          <a:blip r:embed="rId3">
            <a:alphaModFix amt="20000"/>
          </a:blip>
          <a:srcRect l="160" r="160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7" name="Text 4"/>
          <p:cNvSpPr/>
          <p:nvPr/>
        </p:nvSpPr>
        <p:spPr>
          <a:xfrm>
            <a:off x="4272823" y="2525305"/>
            <a:ext cx="3782423" cy="1152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6000" b="1" dirty="0">
                <a:solidFill>
                  <a:srgbClr val="E6EDF3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Thank You</a:t>
            </a:r>
            <a:endParaRPr lang="en-US" sz="2800" dirty="0"/>
          </a:p>
        </p:txBody>
      </p:sp>
      <p:sp>
        <p:nvSpPr>
          <p:cNvPr id="8" name="Shape 5"/>
          <p:cNvSpPr/>
          <p:nvPr/>
        </p:nvSpPr>
        <p:spPr>
          <a:xfrm>
            <a:off x="5438319" y="3536679"/>
            <a:ext cx="1622881" cy="45719"/>
          </a:xfrm>
          <a:custGeom>
            <a:avLst/>
            <a:gdLst/>
            <a:ahLst/>
            <a:cxnLst/>
            <a:rect l="l" t="t" r="r" b="b"/>
            <a:pathLst>
              <a:path w="1451429" h="36286">
                <a:moveTo>
                  <a:pt x="18143" y="0"/>
                </a:moveTo>
                <a:lnTo>
                  <a:pt x="1433286" y="0"/>
                </a:lnTo>
                <a:cubicBezTo>
                  <a:pt x="1443306" y="0"/>
                  <a:pt x="1451429" y="8123"/>
                  <a:pt x="1451429" y="18143"/>
                </a:cubicBezTo>
                <a:lnTo>
                  <a:pt x="1451429" y="18143"/>
                </a:lnTo>
                <a:cubicBezTo>
                  <a:pt x="1451429" y="28163"/>
                  <a:pt x="1443306" y="36286"/>
                  <a:pt x="1433286" y="36286"/>
                </a:cubicBezTo>
                <a:lnTo>
                  <a:pt x="18143" y="36286"/>
                </a:lnTo>
                <a:cubicBezTo>
                  <a:pt x="8130" y="36286"/>
                  <a:pt x="0" y="28156"/>
                  <a:pt x="0" y="18143"/>
                </a:cubicBezTo>
                <a:lnTo>
                  <a:pt x="0" y="18143"/>
                </a:lnTo>
                <a:cubicBezTo>
                  <a:pt x="0" y="8130"/>
                  <a:pt x="8130" y="0"/>
                  <a:pt x="18143" y="0"/>
                </a:cubicBezTo>
                <a:close/>
              </a:path>
            </a:pathLst>
          </a:custGeom>
          <a:gradFill flip="none" rotWithShape="1">
            <a:gsLst>
              <a:gs pos="0">
                <a:srgbClr val="58A6FF"/>
              </a:gs>
              <a:gs pos="100000">
                <a:srgbClr val="00D9FF"/>
              </a:gs>
            </a:gsLst>
            <a:lin ang="0" scaled="1"/>
          </a:gradFill>
          <a:ln/>
        </p:spPr>
      </p:sp>
      <p:sp>
        <p:nvSpPr>
          <p:cNvPr id="9" name="Text 6"/>
          <p:cNvSpPr/>
          <p:nvPr/>
        </p:nvSpPr>
        <p:spPr>
          <a:xfrm>
            <a:off x="362857" y="1930704"/>
            <a:ext cx="11602357" cy="3265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30" name="Shape 27"/>
          <p:cNvSpPr/>
          <p:nvPr/>
        </p:nvSpPr>
        <p:spPr>
          <a:xfrm>
            <a:off x="362857" y="6277247"/>
            <a:ext cx="435429" cy="435429"/>
          </a:xfrm>
          <a:custGeom>
            <a:avLst/>
            <a:gdLst/>
            <a:ahLst/>
            <a:cxnLst/>
            <a:rect l="l" t="t" r="r" b="b"/>
            <a:pathLst>
              <a:path w="435429" h="435429">
                <a:moveTo>
                  <a:pt x="108857" y="0"/>
                </a:moveTo>
                <a:lnTo>
                  <a:pt x="326571" y="0"/>
                </a:lnTo>
                <a:cubicBezTo>
                  <a:pt x="386692" y="0"/>
                  <a:pt x="435429" y="48737"/>
                  <a:pt x="435429" y="108857"/>
                </a:cubicBezTo>
                <a:lnTo>
                  <a:pt x="435429" y="326571"/>
                </a:lnTo>
                <a:cubicBezTo>
                  <a:pt x="435429" y="386692"/>
                  <a:pt x="386692" y="435429"/>
                  <a:pt x="326571" y="435429"/>
                </a:cubicBezTo>
                <a:lnTo>
                  <a:pt x="108857" y="435429"/>
                </a:lnTo>
                <a:cubicBezTo>
                  <a:pt x="48737" y="435429"/>
                  <a:pt x="0" y="386692"/>
                  <a:pt x="0" y="326571"/>
                </a:cubicBezTo>
                <a:lnTo>
                  <a:pt x="0" y="108857"/>
                </a:lnTo>
                <a:cubicBezTo>
                  <a:pt x="0" y="48777"/>
                  <a:pt x="48777" y="0"/>
                  <a:pt x="108857" y="0"/>
                </a:cubicBezTo>
                <a:close/>
              </a:path>
            </a:pathLst>
          </a:custGeom>
          <a:solidFill>
            <a:srgbClr val="58A6FF">
              <a:alpha val="20000"/>
            </a:srgbClr>
          </a:solidFill>
          <a:ln/>
        </p:spPr>
      </p:sp>
      <p:sp>
        <p:nvSpPr>
          <p:cNvPr id="31" name="Shape 28"/>
          <p:cNvSpPr/>
          <p:nvPr/>
        </p:nvSpPr>
        <p:spPr>
          <a:xfrm>
            <a:off x="489857" y="6424567"/>
            <a:ext cx="181429" cy="181429"/>
          </a:xfrm>
          <a:custGeom>
            <a:avLst/>
            <a:gdLst/>
            <a:ahLst/>
            <a:cxnLst/>
            <a:rect l="l" t="t" r="r" b="b"/>
            <a:pathLst>
              <a:path w="181429" h="181429">
                <a:moveTo>
                  <a:pt x="17009" y="22679"/>
                </a:moveTo>
                <a:cubicBezTo>
                  <a:pt x="7619" y="22679"/>
                  <a:pt x="0" y="30297"/>
                  <a:pt x="0" y="39688"/>
                </a:cubicBezTo>
                <a:cubicBezTo>
                  <a:pt x="0" y="45038"/>
                  <a:pt x="2516" y="50070"/>
                  <a:pt x="6804" y="53295"/>
                </a:cubicBezTo>
                <a:lnTo>
                  <a:pt x="80509" y="108574"/>
                </a:lnTo>
                <a:cubicBezTo>
                  <a:pt x="86568" y="113109"/>
                  <a:pt x="94860" y="113109"/>
                  <a:pt x="100920" y="108574"/>
                </a:cubicBezTo>
                <a:lnTo>
                  <a:pt x="174625" y="53295"/>
                </a:lnTo>
                <a:cubicBezTo>
                  <a:pt x="178913" y="50070"/>
                  <a:pt x="181429" y="45038"/>
                  <a:pt x="181429" y="39687"/>
                </a:cubicBezTo>
                <a:cubicBezTo>
                  <a:pt x="181429" y="30297"/>
                  <a:pt x="173810" y="22679"/>
                  <a:pt x="164420" y="22679"/>
                </a:cubicBezTo>
                <a:lnTo>
                  <a:pt x="17009" y="22679"/>
                </a:lnTo>
                <a:close/>
                <a:moveTo>
                  <a:pt x="0" y="69453"/>
                </a:moveTo>
                <a:lnTo>
                  <a:pt x="0" y="136071"/>
                </a:lnTo>
                <a:cubicBezTo>
                  <a:pt x="0" y="148580"/>
                  <a:pt x="10170" y="158750"/>
                  <a:pt x="22679" y="158750"/>
                </a:cubicBezTo>
                <a:lnTo>
                  <a:pt x="158750" y="158750"/>
                </a:lnTo>
                <a:cubicBezTo>
                  <a:pt x="171259" y="158750"/>
                  <a:pt x="181429" y="148580"/>
                  <a:pt x="181429" y="136071"/>
                </a:cubicBezTo>
                <a:lnTo>
                  <a:pt x="181429" y="69453"/>
                </a:lnTo>
                <a:lnTo>
                  <a:pt x="111125" y="122181"/>
                </a:lnTo>
                <a:cubicBezTo>
                  <a:pt x="99042" y="131252"/>
                  <a:pt x="82387" y="131252"/>
                  <a:pt x="70304" y="122181"/>
                </a:cubicBezTo>
                <a:lnTo>
                  <a:pt x="0" y="69453"/>
                </a:lnTo>
                <a:close/>
              </a:path>
            </a:pathLst>
          </a:custGeom>
          <a:solidFill>
            <a:srgbClr val="58A6FF"/>
          </a:solidFill>
          <a:ln/>
        </p:spPr>
      </p:sp>
      <p:sp>
        <p:nvSpPr>
          <p:cNvPr id="32" name="Text 29"/>
          <p:cNvSpPr/>
          <p:nvPr/>
        </p:nvSpPr>
        <p:spPr>
          <a:xfrm>
            <a:off x="841829" y="6315710"/>
            <a:ext cx="1823357" cy="181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0" dirty="0">
                <a:solidFill>
                  <a:srgbClr val="8B94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Questions?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9872833" y="6348367"/>
            <a:ext cx="1959429" cy="181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000" dirty="0">
                <a:solidFill>
                  <a:srgbClr val="8B94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Samsung Electronics</a:t>
            </a:r>
            <a:endParaRPr lang="en-US" sz="1600" dirty="0"/>
          </a:p>
        </p:txBody>
      </p:sp>
      <p:sp>
        <p:nvSpPr>
          <p:cNvPr id="35" name="Text 32"/>
          <p:cNvSpPr/>
          <p:nvPr/>
        </p:nvSpPr>
        <p:spPr>
          <a:xfrm>
            <a:off x="9854690" y="6529796"/>
            <a:ext cx="1977571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286" b="1" dirty="0">
                <a:solidFill>
                  <a:srgbClr val="58A6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Global Operations Division</a:t>
            </a:r>
            <a:endParaRPr lang="en-US" sz="1600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F9E25A7-68C5-3848-0F65-4426156430C0}"/>
              </a:ext>
            </a:extLst>
          </p:cNvPr>
          <p:cNvSpPr txBox="1"/>
          <p:nvPr/>
        </p:nvSpPr>
        <p:spPr>
          <a:xfrm>
            <a:off x="9201309" y="62075"/>
            <a:ext cx="29906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4"/>
                </a:solidFill>
                <a:latin typeface="Aptos" panose="020B0004020202020204" pitchFamily="34" charset="0"/>
              </a:rPr>
              <a:t>Credit by : SAGAR SHARMA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45483A4-656D-2899-87EC-E0557ECF7E8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248975" y="-8933"/>
            <a:ext cx="2329942" cy="1552688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23" name="Picture 22">
            <a:hlinkClick r:id="rId6"/>
            <a:extLst>
              <a:ext uri="{FF2B5EF4-FFF2-40B4-BE49-F238E27FC236}">
                <a16:creationId xmlns:a16="http://schemas.microsoft.com/office/drawing/2014/main" id="{D512B1F6-C78D-9AB8-34A6-A4BFF0EBEF2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10800000" flipV="1">
            <a:off x="7844934" y="1715926"/>
            <a:ext cx="420624" cy="42062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21" name="Picture 20">
            <a:hlinkClick r:id="rId8"/>
            <a:extLst>
              <a:ext uri="{FF2B5EF4-FFF2-40B4-BE49-F238E27FC236}">
                <a16:creationId xmlns:a16="http://schemas.microsoft.com/office/drawing/2014/main" id="{C36E8CA5-D042-F08B-620B-75CF25CA5D1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047240" y="2256127"/>
            <a:ext cx="419122" cy="41912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40ECDCA-F118-1820-221E-BCE56FCF9709}"/>
              </a:ext>
            </a:extLst>
          </p:cNvPr>
          <p:cNvSpPr txBox="1"/>
          <p:nvPr/>
        </p:nvSpPr>
        <p:spPr>
          <a:xfrm>
            <a:off x="5275268" y="246741"/>
            <a:ext cx="160364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accent2"/>
                </a:solidFill>
              </a:rPr>
              <a:t>Let’s Connect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44F8C82-3852-2DEF-D88C-D3854C76BB31}"/>
              </a:ext>
            </a:extLst>
          </p:cNvPr>
          <p:cNvSpPr txBox="1"/>
          <p:nvPr/>
        </p:nvSpPr>
        <p:spPr>
          <a:xfrm>
            <a:off x="767806" y="6432368"/>
            <a:ext cx="211218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chemeClr val="accent2"/>
                </a:solidFill>
              </a:rPr>
              <a:t>ssharma9663@gmail.com</a:t>
            </a:r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89</TotalTime>
  <Words>821</Words>
  <Application>Microsoft Office PowerPoint</Application>
  <PresentationFormat>Widescreen</PresentationFormat>
  <Paragraphs>223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Aptos</vt:lpstr>
      <vt:lpstr>Liter</vt:lpstr>
      <vt:lpstr>Arial</vt:lpstr>
      <vt:lpstr>Hedvig Letters Sans</vt:lpstr>
      <vt:lpstr>Quattrocento Sans</vt:lpstr>
      <vt:lpstr>Custom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Samsung Supply Chain 2026: Operational Intelligence</dc:title>
  <dc:subject>Samsung Supply Chain 2026: Operational Intelligence</dc:subject>
  <dc:creator>Kimi</dc:creator>
  <cp:lastModifiedBy>sagar sharma</cp:lastModifiedBy>
  <cp:revision>7</cp:revision>
  <dcterms:created xsi:type="dcterms:W3CDTF">2026-02-17T18:12:32Z</dcterms:created>
  <dcterms:modified xsi:type="dcterms:W3CDTF">2026-02-18T15:37:29Z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{"Label":"Samsung Supply Chain 2026: Operational Intelligence","ContentProducer":"001191110108MACG2KBH8F10000","ProduceID":"19c6ccb9-d342-8d79-8000-000047459cf2","ReservedCode1":"","ContentPropagator":"001191110108MACG2KBH8F20000","PropagateID":"19c6ccb9-d342-8d79-8000-000047459cf2","ReservedCode2":""}</vt:lpwstr>
  </property>
</Properties>
</file>